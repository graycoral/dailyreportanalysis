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d182860ef14906" /><Relationship Type="http://schemas.openxmlformats.org/officeDocument/2006/relationships/extended-properties" Target="/docProps/app.xml" Id="R4443810d22de4f36" /><Relationship Type="http://schemas.openxmlformats.org/officeDocument/2006/relationships/officeDocument" Target="/ppt/presentation.xml" Id="Rfeaf480549fa44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771324c4f8429e"/>
  </p:sldMasterIdLst>
  <p:notesMasterIdLst>
    <p:notesMasterId xmlns:r="http://schemas.openxmlformats.org/officeDocument/2006/relationships" r:id="Rcdb0bc39c0324fd2"/>
  </p:notesMasterIdLst>
  <p:sldIdLst>
    <p:sldId xmlns:r="http://schemas.openxmlformats.org/officeDocument/2006/relationships" id="256" r:id="R32646e7cfb1943a0"/>
    <p:sldId xmlns:r="http://schemas.openxmlformats.org/officeDocument/2006/relationships" id="257" r:id="R05d30bd52a254a49"/>
    <p:sldId xmlns:r="http://schemas.openxmlformats.org/officeDocument/2006/relationships" id="258" r:id="R3e67454dc03b4229"/>
    <p:sldId xmlns:r="http://schemas.openxmlformats.org/officeDocument/2006/relationships" id="259" r:id="Rf87e61b6cac24433"/>
    <p:sldId xmlns:r="http://schemas.openxmlformats.org/officeDocument/2006/relationships" id="260" r:id="R1d1123aa2a4c4c1d"/>
    <p:sldId xmlns:r="http://schemas.openxmlformats.org/officeDocument/2006/relationships" id="261" r:id="Rd382e461734c4bc0"/>
    <p:sldId xmlns:r="http://schemas.openxmlformats.org/officeDocument/2006/relationships" id="262" r:id="Rbd44759c3a8a4d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30bd10722445a9" /><Relationship Type="http://schemas.openxmlformats.org/officeDocument/2006/relationships/slideMaster" Target="/ppt/slideMasters/slideMaster1.xml" Id="R4a771324c4f8429e" /><Relationship Type="http://schemas.openxmlformats.org/officeDocument/2006/relationships/notesMaster" Target="/ppt/notesMasters/notesMaster1.xml" Id="Rcdb0bc39c0324fd2" /><Relationship Type="http://schemas.openxmlformats.org/officeDocument/2006/relationships/presProps" Target="/ppt/presProps.xml" Id="Re41aab25e3cd4436" /><Relationship Type="http://schemas.openxmlformats.org/officeDocument/2006/relationships/tableStyles" Target="/ppt/tableStyles.xml" Id="R8f08debdaa204063" /><Relationship Type="http://schemas.openxmlformats.org/officeDocument/2006/relationships/slide" Target="/ppt/slides/slide1.xml" Id="R32646e7cfb1943a0" /><Relationship Type="http://schemas.openxmlformats.org/officeDocument/2006/relationships/slide" Target="/ppt/slides/slide2.xml" Id="R05d30bd52a254a49" /><Relationship Type="http://schemas.openxmlformats.org/officeDocument/2006/relationships/slide" Target="/ppt/slides/slide3.xml" Id="R3e67454dc03b4229" /><Relationship Type="http://schemas.openxmlformats.org/officeDocument/2006/relationships/slide" Target="/ppt/slides/slide4.xml" Id="Rf87e61b6cac24433" /><Relationship Type="http://schemas.openxmlformats.org/officeDocument/2006/relationships/slide" Target="/ppt/slides/slide5.xml" Id="R1d1123aa2a4c4c1d" /><Relationship Type="http://schemas.openxmlformats.org/officeDocument/2006/relationships/slide" Target="/ppt/slides/slide6.xml" Id="Rd382e461734c4bc0" /><Relationship Type="http://schemas.openxmlformats.org/officeDocument/2006/relationships/slide" Target="/ppt/slides/slide7.xml" Id="Rbd44759c3a8a4d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14646b0c6246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b53f9e65ea48a5" /><Relationship Type="http://schemas.openxmlformats.org/officeDocument/2006/relationships/notesMaster" Target="/ppt/notesMasters/notesMaster1.xml" Id="R2411602cbfaa41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10d720948a426b" /><Relationship Type="http://schemas.openxmlformats.org/officeDocument/2006/relationships/notesMaster" Target="/ppt/notesMasters/notesMaster1.xml" Id="Rf1e7b034398d46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7f7c9cfd324553" /><Relationship Type="http://schemas.openxmlformats.org/officeDocument/2006/relationships/notesMaster" Target="/ppt/notesMasters/notesMaster1.xml" Id="Re59bdf1a837540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75e67810ce4417" /><Relationship Type="http://schemas.openxmlformats.org/officeDocument/2006/relationships/notesMaster" Target="/ppt/notesMasters/notesMaster1.xml" Id="R1346a6acf1614e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3fc3624f6b4a2e" /><Relationship Type="http://schemas.openxmlformats.org/officeDocument/2006/relationships/notesMaster" Target="/ppt/notesMasters/notesMaster1.xml" Id="R0e732fad749a46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7976a1fba747cd" /><Relationship Type="http://schemas.openxmlformats.org/officeDocument/2006/relationships/notesMaster" Target="/ppt/notesMasters/notesMaster1.xml" Id="Rf71c42e9c8c043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8cabe8870441a1" /><Relationship Type="http://schemas.openxmlformats.org/officeDocument/2006/relationships/notesMaster" Target="/ppt/notesMasters/notesMaster1.xml" Id="R713c800843c04c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https://ir.mobileye.com/news-events/events-presentations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https://ng.investing.com/news/stock-market-news/mobileye-at-evercores-9th-annual-adas-av--ai-forum-growth-and-autonomy-93CH-2714698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https://ng.investing.com/news/stock-market-news/mobileye-at-evercores-9th-annual-adas-av--ai-forum-growth-and-autonomy-93CH-2714698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https://www.axios.com/local/philadelphia/2026/09/29/waymo-robotaxi-philadelphia-autonomous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Mobileye: https://ng.investing.com/news/stock-market-news/mobileye-at-evercores-9th-annual-adas-av--ai-forum-growth-and-autonomy-93CH-2714698</a:t>
            </a:r>
          </a:p>
          <a:p xmlns:a="http://schemas.openxmlformats.org/drawingml/2006/main">
            <a:r>
              <a:t>Avride: https://www.avride.ai/</a:t>
            </a:r>
          </a:p>
          <a:p xmlns:a="http://schemas.openxmlformats.org/drawingml/2006/main">
            <a:r>
              <a:t>Bolt: https://bolt.eu/en/blog/category/autonomous-solutions/</a:t>
            </a:r>
          </a:p>
          <a:p xmlns:a="http://schemas.openxmlformats.org/drawingml/2006/main">
            <a:r>
              <a:t>Kakao: https://www.kakaomobility.com/newsroom/news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https://maymobility.com/posts/type/company-news/</a:t>
            </a:r>
          </a:p>
          <a:p xmlns:a="http://schemas.openxmlformats.org/drawingml/2006/main">
            <a:r>
              <a:t>https://www.sec.gov/Archives/edgar/data/2111542/000121390026100367/ea030470201ex99-1.htm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 source URLs and scope notes appear in accompanying Markdown.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71d817f4d140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ac1d7375f54260" /><Relationship Type="http://schemas.openxmlformats.org/officeDocument/2006/relationships/slideLayout" Target="/ppt/slideLayouts/slideLayout1.xml" Id="Rf542c08499b84b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42c08499b84b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beca2983ff4d45" /><Relationship Type="http://schemas.openxmlformats.org/officeDocument/2006/relationships/notesSlide" Target="/ppt/notesSlides/notesSlide1.xml" Id="R8cff8a94dbb04d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6d0fd40c6448d" /><Relationship Type="http://schemas.openxmlformats.org/officeDocument/2006/relationships/notesSlide" Target="/ppt/notesSlides/notesSlide2.xml" Id="R2cdf57a4f6a849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01ee2e42543b7" /><Relationship Type="http://schemas.openxmlformats.org/officeDocument/2006/relationships/notesSlide" Target="/ppt/notesSlides/notesSlide3.xml" Id="R57c41f9b870448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2309f7c2a40ac" /><Relationship Type="http://schemas.openxmlformats.org/officeDocument/2006/relationships/notesSlide" Target="/ppt/notesSlides/notesSlide4.xml" Id="R5f8ed234626940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c58fbd1bb47e9" /><Relationship Type="http://schemas.openxmlformats.org/officeDocument/2006/relationships/notesSlide" Target="/ppt/notesSlides/notesSlide5.xml" Id="R29765b98b5614c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9766e85044634" /><Relationship Type="http://schemas.openxmlformats.org/officeDocument/2006/relationships/notesSlide" Target="/ppt/notesSlides/notesSlide6.xml" Id="R981b6bcd6cb54e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a85ccd25b4638" /><Relationship Type="http://schemas.openxmlformats.org/officeDocument/2006/relationships/notesSlide" Target="/ppt/notesSlides/notesSlide7.xml" Id="Rb5e0c3f697f34a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0E731-00D1-4C81-8F45-9355ED38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572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27CA27-4C58-4A05-8A03-680ED1DB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66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3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자율주행 데일리 리포트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5597AE-35AE-4474-B386-2F726847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62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Mobileye 로보택시 시험·차량 계획 구체화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5CF549-3F6C-468E-9BD1-F454BD0B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rPr>
              <a:t>2026-09-30</a:t>
            </a:r>
          </a:p>
        </p:txBody>
      </p:sp>
    </p:spTree>
    <p:extLst>
      <p:ext uri="{BB962C8B-B14F-4D97-AF65-F5344CB8AC3E}">
        <p14:creationId xmlns:p14="http://schemas.microsoft.com/office/powerpoint/2010/main" val="16197278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3A0FE-295E-4678-9D17-58CE082B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1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8DB5B0-08D8-42F3-8FD8-C14E2571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429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Mobileye: 현재 시험과 계획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B95A17-667B-4678-9143-1D6C919A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43050"/>
            <a:ext cx="1076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CEF031-2149-451D-B790-F18C67A1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071562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[신규] Orlando·Hamburg: MOIA ID. Buzz 제한 이용자 시험, 안전운전자 탑승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[신규] LA Santa Monica·West Hollywood: 소수 차량 시험 중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Orlando 무인 시험은 향후 예상 단계, 현재 개시 확인 없음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2027년 독립 로보택시 미국 한 도시 100~200대는 목표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E043C-28F5-4789-908D-423526C9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198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2026-09-30  |  상세 링크: MD 첨부</a:t>
            </a:r>
          </a:p>
        </p:txBody>
      </p:sp>
    </p:spTree>
    <p:extLst>
      <p:ext uri="{BB962C8B-B14F-4D97-AF65-F5344CB8AC3E}">
        <p14:creationId xmlns:p14="http://schemas.microsoft.com/office/powerpoint/2010/main" val="15665266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791386-A1A1-4E27-91B2-C95D2A12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1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C85BB-ADD1-40C4-80C3-3D0535F0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429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Mobileye: 자체 차량·공급망 구상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E90D9-F365-46FD-97CC-86701C31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43050"/>
            <a:ext cx="1076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CCC94-435F-4ABB-9196-A5809A02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071562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8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[신규] OEM 차량을 별도 시설에서 AV용으로 개조해 보유·판매·임대 검토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8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필요 사양: 중복 제동·조향, 마이크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8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자율주행 시스템 재료비 1만달러 미만은 목표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8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현대차는 설계 변경에 적극적인 업체로 언급, 공급 계약 확정 발표 없음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00DA9-E43B-42A2-9E9F-23550344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198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2026-09-30  |  상세 링크: MD 첨부</a:t>
            </a:r>
          </a:p>
        </p:txBody>
      </p:sp>
    </p:spTree>
    <p:extLst>
      <p:ext uri="{BB962C8B-B14F-4D97-AF65-F5344CB8AC3E}">
        <p14:creationId xmlns:p14="http://schemas.microsoft.com/office/powerpoint/2010/main" val="2713329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E7CA5A-CF07-415B-8137-9A6C0109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1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E7EA2A-6443-44B8-AD8C-56D7F7D3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429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Waymo Philadelphia: 시험 15만 마일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CC45E5-83F2-4DD3-A72B-203DB6A2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43050"/>
            <a:ext cx="1076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5731E-59B4-40BA-943E-C49A1822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071562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20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[신규] Waymo 대변인: 자율주행 누적 15만 마일 이상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20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차량에 전문 인력 탑승, 일반인 호출 아직 불가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20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Ojai 밴 시험 최근 추가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20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무인 운행 허가 및 승객 서비스 개시 확인 없음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A22F3D-62DC-4227-9AFF-789A46F6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198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2026-09-30  |  상세 링크: MD 첨부</a:t>
            </a:r>
          </a:p>
        </p:txBody>
      </p:sp>
    </p:spTree>
    <p:extLst>
      <p:ext uri="{BB962C8B-B14F-4D97-AF65-F5344CB8AC3E}">
        <p14:creationId xmlns:p14="http://schemas.microsoft.com/office/powerpoint/2010/main" val="12084935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2EFA7-FB61-49FE-B849-E602F378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1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8A5C2C-1C19-4707-B2F8-10D9D8CE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429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지정 6개 기업의 레벨 4 점검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5ABF2B-C185-4A12-BC50-CF456744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43050"/>
            <a:ext cx="1076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17A3ED-83F0-4331-8137-0E4DADA6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071562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8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Mobileye: Orlando·Hamburg·LA 시험 및 자체 로보택시 계획 [신규]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8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Uber, Avride, Bolt: 신규 확인 사항 없음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8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카카오모빌리티, 쏘카: 신규 확인 사항 없음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8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현재 무인 운행·허가·차량 규모의 신규 변화를 확인한 기업은 없음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1DD11-6F1E-4F45-A1CE-D4A2EBC3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198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2026-09-30  |  상세 링크: MD 첨부</a:t>
            </a:r>
          </a:p>
        </p:txBody>
      </p:sp>
    </p:spTree>
    <p:extLst>
      <p:ext uri="{BB962C8B-B14F-4D97-AF65-F5344CB8AC3E}">
        <p14:creationId xmlns:p14="http://schemas.microsoft.com/office/powerpoint/2010/main" val="20012255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8C3E8-1610-47DE-A78C-09A18D4B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1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7F6BE-204F-498A-BF72-1CA85832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429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May Mobility 심층 조사 [중복]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2B4D2-B231-402A-B929-7BFF65FF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43050"/>
            <a:ext cx="1076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FED18A-5266-4C7E-A9D9-B071F034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071562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신규 확인 사항 없음 (이전 보고: 9/21, 9/23~25, 9/28~29)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미국 상용 지역: Atlanta, Grand Rapids, Eden Prairie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누적 55만 회·110만 마일·driver-out 배치 3회는 회사 발표 수치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Atlanta 출범 당시 안전요원 탑승, 현재 지역별 상태·차량 수 미확인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Arlington Uber 서비스 Q4 2026 또는 Q1 2027 목표, SPAC 종결 미완료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3988C8-BDA2-477C-B1DC-439AE32D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198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2026-09-30  |  상세 링크: MD 첨부</a:t>
            </a:r>
          </a:p>
        </p:txBody>
      </p:sp>
    </p:spTree>
    <p:extLst>
      <p:ext uri="{BB962C8B-B14F-4D97-AF65-F5344CB8AC3E}">
        <p14:creationId xmlns:p14="http://schemas.microsoft.com/office/powerpoint/2010/main" val="662849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B80DF-7E41-40A2-830F-18C103BB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19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8657C3-CEDC-488A-97E7-D2F1A77A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429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출처와 제작 상태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3B8BEE-1EE8-4F23-A57A-BF51819D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43050"/>
            <a:ext cx="1076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653DB1-3716-4D5F-AD97-A3ADC656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071562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Mobileye: 9/29 Evercore 발언록 및 공식 행사 일정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Waymo: 9/29 Axios Philadelphia, 회사 대변인 발언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May Mobility: 회사 뉴스 및 SEC 제출 거래 발표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Slidev 직접 변환 실패: 실행 환경에 Slidev 패키지 없음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이 PPTX는 동일한 핵심 내용을 별도 도구로 제작한 대체 출력물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FEB6D6-55FE-4F72-B1DB-963B3B8B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198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2026-09-30  |  상세 링크: MD 첨부</a:t>
            </a:r>
          </a:p>
        </p:txBody>
      </p:sp>
    </p:spTree>
    <p:extLst>
      <p:ext uri="{BB962C8B-B14F-4D97-AF65-F5344CB8AC3E}">
        <p14:creationId xmlns:p14="http://schemas.microsoft.com/office/powerpoint/2010/main" val="1466234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2026-09-29T22:38:23.8750000Z</dcterms:created>
  <dcterms:modified xsi:type="dcterms:W3CDTF">2026-09-29T22:38:23.8750000Z</dcterms:modified>
</coreProperties>
</file>