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397bedccdb4457" /><Relationship Type="http://schemas.openxmlformats.org/officeDocument/2006/relationships/extended-properties" Target="/docProps/app.xml" Id="R100646f9fee243e5" /><Relationship Type="http://schemas.openxmlformats.org/officeDocument/2006/relationships/officeDocument" Target="/ppt/presentation.xml" Id="R0404670e4183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ae9f0505c04cf2"/>
  </p:sldMasterIdLst>
  <p:notesMasterIdLst>
    <p:notesMasterId xmlns:r="http://schemas.openxmlformats.org/officeDocument/2006/relationships" r:id="Re1c474a073334010"/>
  </p:notesMasterIdLst>
  <p:sldIdLst>
    <p:sldId xmlns:r="http://schemas.openxmlformats.org/officeDocument/2006/relationships" id="256" r:id="R6bb2ba89faf24b0b"/>
    <p:sldId xmlns:r="http://schemas.openxmlformats.org/officeDocument/2006/relationships" id="257" r:id="R7ff3b46be4764b76"/>
    <p:sldId xmlns:r="http://schemas.openxmlformats.org/officeDocument/2006/relationships" id="258" r:id="R6beb5223fbb448d7"/>
    <p:sldId xmlns:r="http://schemas.openxmlformats.org/officeDocument/2006/relationships" id="259" r:id="R20e44e197dc147b6"/>
    <p:sldId xmlns:r="http://schemas.openxmlformats.org/officeDocument/2006/relationships" id="260" r:id="R6d90bfac39004d85"/>
    <p:sldId xmlns:r="http://schemas.openxmlformats.org/officeDocument/2006/relationships" id="261" r:id="Rb1f9646379fd41b7"/>
    <p:sldId xmlns:r="http://schemas.openxmlformats.org/officeDocument/2006/relationships" id="262" r:id="R9b701310d99f4b7c"/>
    <p:sldId xmlns:r="http://schemas.openxmlformats.org/officeDocument/2006/relationships" id="263" r:id="R10db1eb5504042e3"/>
    <p:sldId xmlns:r="http://schemas.openxmlformats.org/officeDocument/2006/relationships" id="264" r:id="R3b4659de543b439f"/>
    <p:sldId xmlns:r="http://schemas.openxmlformats.org/officeDocument/2006/relationships" id="265" r:id="R68a08b3960ac42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a13d2c38fe445e" /><Relationship Type="http://schemas.openxmlformats.org/officeDocument/2006/relationships/slideMaster" Target="/ppt/slideMasters/slideMaster1.xml" Id="Rd0ae9f0505c04cf2" /><Relationship Type="http://schemas.openxmlformats.org/officeDocument/2006/relationships/notesMaster" Target="/ppt/notesMasters/notesMaster1.xml" Id="Re1c474a073334010" /><Relationship Type="http://schemas.openxmlformats.org/officeDocument/2006/relationships/presProps" Target="/ppt/presProps.xml" Id="Rb274540f224d4c0c" /><Relationship Type="http://schemas.openxmlformats.org/officeDocument/2006/relationships/tableStyles" Target="/ppt/tableStyles.xml" Id="R10d7f9f88bb5418e" /><Relationship Type="http://schemas.openxmlformats.org/officeDocument/2006/relationships/slide" Target="/ppt/slides/slide1.xml" Id="R6bb2ba89faf24b0b" /><Relationship Type="http://schemas.openxmlformats.org/officeDocument/2006/relationships/slide" Target="/ppt/slides/slide2.xml" Id="R7ff3b46be4764b76" /><Relationship Type="http://schemas.openxmlformats.org/officeDocument/2006/relationships/slide" Target="/ppt/slides/slide3.xml" Id="R6beb5223fbb448d7" /><Relationship Type="http://schemas.openxmlformats.org/officeDocument/2006/relationships/slide" Target="/ppt/slides/slide4.xml" Id="R20e44e197dc147b6" /><Relationship Type="http://schemas.openxmlformats.org/officeDocument/2006/relationships/slide" Target="/ppt/slides/slide5.xml" Id="R6d90bfac39004d85" /><Relationship Type="http://schemas.openxmlformats.org/officeDocument/2006/relationships/slide" Target="/ppt/slides/slide6.xml" Id="Rb1f9646379fd41b7" /><Relationship Type="http://schemas.openxmlformats.org/officeDocument/2006/relationships/slide" Target="/ppt/slides/slide7.xml" Id="R9b701310d99f4b7c" /><Relationship Type="http://schemas.openxmlformats.org/officeDocument/2006/relationships/slide" Target="/ppt/slides/slide8.xml" Id="R10db1eb5504042e3" /><Relationship Type="http://schemas.openxmlformats.org/officeDocument/2006/relationships/slide" Target="/ppt/slides/slide9.xml" Id="R3b4659de543b439f" /><Relationship Type="http://schemas.openxmlformats.org/officeDocument/2006/relationships/slide" Target="/ppt/slides/slide10.xml" Id="R68a08b3960ac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270bb8fa7b4d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b7f01f636346a0" /><Relationship Type="http://schemas.openxmlformats.org/officeDocument/2006/relationships/notesMaster" Target="/ppt/notesMasters/notesMaster1.xml" Id="Rbdaec6473f3f4d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b18814038e461f" /><Relationship Type="http://schemas.openxmlformats.org/officeDocument/2006/relationships/notesMaster" Target="/ppt/notesMasters/notesMaster1.xml" Id="R8dc862b84d8040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fad7531b294406" /><Relationship Type="http://schemas.openxmlformats.org/officeDocument/2006/relationships/notesMaster" Target="/ppt/notesMasters/notesMaster1.xml" Id="Rb6a17ace91b842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a5386072a5480a" /><Relationship Type="http://schemas.openxmlformats.org/officeDocument/2006/relationships/notesMaster" Target="/ppt/notesMasters/notesMaster1.xml" Id="R6df286bd36534c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2c01b0cc864232" /><Relationship Type="http://schemas.openxmlformats.org/officeDocument/2006/relationships/notesMaster" Target="/ppt/notesMasters/notesMaster1.xml" Id="R23fd717d612c4b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7d06b8df2a45c4" /><Relationship Type="http://schemas.openxmlformats.org/officeDocument/2006/relationships/notesMaster" Target="/ppt/notesMasters/notesMaster1.xml" Id="Rdbcba70dda9c45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108193b73742ad" /><Relationship Type="http://schemas.openxmlformats.org/officeDocument/2006/relationships/notesMaster" Target="/ppt/notesMasters/notesMaster1.xml" Id="Rd5585c333de147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52b1bce7294bfa" /><Relationship Type="http://schemas.openxmlformats.org/officeDocument/2006/relationships/notesMaster" Target="/ppt/notesMasters/notesMaster1.xml" Id="Rbb95151140c642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5e7d00bb9147b6" /><Relationship Type="http://schemas.openxmlformats.org/officeDocument/2006/relationships/notesMaster" Target="/ppt/notesMasters/notesMaster1.xml" Id="R69eae65833e248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b87e2951f44571" /><Relationship Type="http://schemas.openxmlformats.org/officeDocument/2006/relationships/notesMaster" Target="/ppt/notesMasters/notesMaster1.xml" Id="Ra7dd8d2b00744a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[신규] NHTSA defect petition DP26010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NHTSA: https://static.nhtsa.gov/odi/inv/2026/INOA-DP26010-19159.pdf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[신규] 정식 조사 전 결함청원 검토 단계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NHTSA: https://static.nhtsa.gov/odi/inv/2026/INOA-DP26010-19159.pdf</a:t>
            </a:r>
          </a:p>
          <a:p xmlns:a="http://schemas.openxmlformats.org/drawingml/2006/main">
            <a:r>
              <a:t>Electrek: https://electrek.co/2026/10/12/nhtsa-tesla-robotaxi-school-zone-speeding-petition/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NHTSA DP26010 and NHTSA Cybercab AQ: https://www.nhtsa.gov/press-releases/investigation-tesla-cybercab-self-certification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Uber, Avride, Bolt, Mobileye, Kakao Mobility, Socar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https://www.uber.com/us/en/newsroom/autonomous/ | https://www.avride.ai/ | https://bolt.eu/en/blog/category/autonomous-solutions/ | https://www.mobileye.com/news/ | https://www.kakaomobility.com/newsroom | https://www.socarcorp.kr/blog/772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[중복·추가 확인] 이전 보고 2026-10-12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May Mobility: https://maymobility.com/posts/type/company-news/</a:t>
            </a:r>
          </a:p>
          <a:p xmlns:a="http://schemas.openxmlformats.org/drawingml/2006/main">
            <a:r>
              <a:t>Lyft Atlanta: https://www.lyft.com/blog/posts/lyft-and-may-mobility-launch-autonomous-vehicles-in-atlanta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 press release: https://www.sec.gov/Archives/edgar/data/2111542/000121390026100367/ea030470201ex99-1.htm</a:t>
            </a:r>
          </a:p>
          <a:p xmlns:a="http://schemas.openxmlformats.org/drawingml/2006/main">
            <a:r>
              <a:t>SEC investor presentation: https://www.sec.gov/Archives/edgar/data/2111542/000121390026100367/ea030470201ex99-2.htm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297da9afa48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bedd1f2ae4e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4f09ec6374d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c8652fa7244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eb44d173849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ff3bf61af49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29DFB8-DC9F-48E9-A637-53D1AD4B47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B3477E-1113-49A2-95C4-E512A8C163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A71DB8-C7AD-441C-B0A6-CDB1134E9A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59A981-F602-40A4-BDA0-80DE3E75D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6D0B43-7ACF-47B6-AF8E-CD47ADAEB0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ADDE4C-2B56-4160-942D-EE9C723D6F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EAC5C2-D011-4D61-A14E-28C2A64B97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7D09E2-3AC1-4083-A03C-6405DF9D87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6F2AD-A231-4999-B526-AF6ED333CF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282FAE-C284-467B-BFB6-53DFF2527B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de5a6736d6451b" /><Relationship Type="http://schemas.openxmlformats.org/officeDocument/2006/relationships/slideLayout" Target="/ppt/slideLayouts/slideLayout1.xml" Id="Re584e46f1c1a4a1b" /><Relationship Type="http://schemas.openxmlformats.org/officeDocument/2006/relationships/slideLayout" Target="/ppt/slideLayouts/slideLayout2.xml" Id="Rde70ba9e1f9b474a" /><Relationship Type="http://schemas.openxmlformats.org/officeDocument/2006/relationships/slideLayout" Target="/ppt/slideLayouts/slideLayout3.xml" Id="R077b188d4186414a" /><Relationship Type="http://schemas.openxmlformats.org/officeDocument/2006/relationships/slideLayout" Target="/ppt/slideLayouts/slideLayout4.xml" Id="R3f234ebadfa5463a" /><Relationship Type="http://schemas.openxmlformats.org/officeDocument/2006/relationships/slideLayout" Target="/ppt/slideLayouts/slideLayout5.xml" Id="R3ffb79c563ed41ec" /><Relationship Type="http://schemas.openxmlformats.org/officeDocument/2006/relationships/slideLayout" Target="/ppt/slideLayouts/slideLayout6.xml" Id="R3725bd3681d64d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84e46f1c1a4a1b"/>
    <p:sldLayoutId xmlns:r="http://schemas.openxmlformats.org/officeDocument/2006/relationships" id="2147483650" r:id="Rde70ba9e1f9b474a"/>
    <p:sldLayoutId xmlns:r="http://schemas.openxmlformats.org/officeDocument/2006/relationships" id="2147483651" r:id="R077b188d4186414a"/>
    <p:sldLayoutId xmlns:r="http://schemas.openxmlformats.org/officeDocument/2006/relationships" id="2147483652" r:id="R3f234ebadfa5463a"/>
    <p:sldLayoutId xmlns:r="http://schemas.openxmlformats.org/officeDocument/2006/relationships" id="2147483653" r:id="R3ffb79c563ed41ec"/>
    <p:sldLayoutId xmlns:r="http://schemas.openxmlformats.org/officeDocument/2006/relationships" id="2147483654" r:id="R3725bd3681d64d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7348dccd84c3c" /><Relationship Type="http://schemas.openxmlformats.org/officeDocument/2006/relationships/notesSlide" Target="/ppt/notesSlides/notesSlide1.xml" Id="R03a171e3679749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819ad2e08449f" /><Relationship Type="http://schemas.openxmlformats.org/officeDocument/2006/relationships/notesSlide" Target="/ppt/notesSlides/notesSlide2.xml" Id="R0524abd8294646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2f637f48e94980" /><Relationship Type="http://schemas.openxmlformats.org/officeDocument/2006/relationships/notesSlide" Target="/ppt/notesSlides/notesSlide3.xml" Id="R35413d24a98649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44f3de44d4bf1" /><Relationship Type="http://schemas.openxmlformats.org/officeDocument/2006/relationships/notesSlide" Target="/ppt/notesSlides/notesSlide4.xml" Id="R35357786ff8c48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3de445bc54482" /><Relationship Type="http://schemas.openxmlformats.org/officeDocument/2006/relationships/notesSlide" Target="/ppt/notesSlides/notesSlide5.xml" Id="Rd0145536305343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0b99f92f24e7c" /><Relationship Type="http://schemas.openxmlformats.org/officeDocument/2006/relationships/notesSlide" Target="/ppt/notesSlides/notesSlide6.xml" Id="R6946f53029c54b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b60dc64374254" /><Relationship Type="http://schemas.openxmlformats.org/officeDocument/2006/relationships/notesSlide" Target="/ppt/notesSlides/notesSlide7.xml" Id="Rec48fafad4414d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81675e7df641b3" /><Relationship Type="http://schemas.openxmlformats.org/officeDocument/2006/relationships/notesSlide" Target="/ppt/notesSlides/notesSlide8.xml" Id="Raa8931f325d842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1d0694c274797" /><Relationship Type="http://schemas.openxmlformats.org/officeDocument/2006/relationships/notesSlide" Target="/ppt/notesSlides/notesSlide9.xml" Id="R7b97fc95911d4e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32977ebd094d79" /><Relationship Type="http://schemas.openxmlformats.org/officeDocument/2006/relationships/notesSlide" Target="/ppt/notesSlides/notesSlide10.xml" Id="Rb3685061d70b47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60C25-CCCE-4FF3-867B-2B1E1742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2F051-592E-4848-9DBC-DD4A0A75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BAC8D-65F0-4243-9117-93CB90D2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0968A-CF83-4CB3-8FB6-B683502E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Tesla robotaxi school-zone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24FFA-236A-4F57-A684-27C2145F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>
            <a:def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2026-10-13</a:t>
            </a:r>
          </a:p>
        </p:txBody>
      </p:sp>
    </p:spTree>
    <p:extLst>
      <p:ext uri="{BB962C8B-B14F-4D97-AF65-F5344CB8AC3E}">
        <p14:creationId xmlns:p14="http://schemas.microsoft.com/office/powerpoint/2010/main" val="1116512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AEEBC-D66C-4E07-9F4B-A17E5E65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F6F23-EC41-4D77-B609-5D67DB6C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EF58A-0252-4A69-8F91-55DD3F40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0CDCC-FBD0-4E3F-AD02-F968063B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REGULATORY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1E661-5DD2-44F3-B7F8-CAF372A7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rPr>
              <a:t>DP26010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C54E7-75C0-4F1D-B483-D1B0D3C3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NHTSA defect petition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80522-E6AD-487A-AE07-2850BAB9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ODI opened the file on October 9 after receiving the petition on September 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allegation concerns school-zone speed limits with Tesla ADS engaged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file covers 2026 Model Y and Cybercab robotaxis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This is not a defect finding, recall or formal defect investigation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3B792-D7EC-4874-82EF-F70A597C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2026-10-13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1757827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CD4B1-EF85-4204-8897-3FD2531C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96550-7E84-4917-A55F-2D6B3D5F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81E2A-88E6-4DE3-B3D9-925F5A62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Tesla robotaxi safety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FD112-11E7-49CB-94CC-3B7EB203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The agency is deciding whether to open a formal investigation</a:t>
            </a:r>
          </a:p>
        </p:txBody>
      </p:sp>
    </p:spTree>
    <p:extLst>
      <p:ext uri="{BB962C8B-B14F-4D97-AF65-F5344CB8AC3E}">
        <p14:creationId xmlns:p14="http://schemas.microsoft.com/office/powerpoint/2010/main" val="243187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BFE5A-047B-4B0E-9318-941DF482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436CE-7644-41A5-8E0F-E492183A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Scope of DP26010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69C36-ADF1-476C-9DFD-878779D2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FB0CD-2FB9-4B0B-A10E-53E2A6FD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ALLEGATION AND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33865-35AC-49C9-BF58-BEAD50EA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C45151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C4515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C45151"/>
                </a:solidFill>
                <a:latin typeface="Bitstream Charter"/>
                <a:ea typeface="Bitstream Charter"/>
                <a:cs typeface="Bitstream Charter"/>
              </a:rPr>
              <a:t>~1,000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F088A-9229-49A0-BF53-D5E6A6C0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vehicles in NHTSA's estimated population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B0733-BFA8-4E47-B6FC-85DD7560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petitioner submitted three links to video footage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opening resume lists four incidents in the file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file lists zero crashes, injuries and fatalities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estimate does not establish the active passenger fleet 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FCACD-046E-485A-BD29-C08E69BA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2026-10-13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1434598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7BB60-CB86-4BD6-AC74-DD6DF0D2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96D94-5CB4-4777-8611-1C1B35BB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Regulatory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4B195-2762-47E0-BBDF-1132ED16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C2170-3681-4DED-82AD-C0E0685C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PROCESS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16F4C-E350-46AE-986A-C8D4C893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9CD4C-EED1-480C-B8D8-DAC2FB02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defect findings or recalls in DP26010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8B72B-10F4-45F1-BF26-DA47149F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ODI will grant or deny the petition after evaluating the allegation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No defect finding appears in the opening resume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case is separate from the Cybercab FMVSS self-certification 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four incidents are not the service's complete safety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D4881-9581-48E3-BFAF-259785A9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2026-10-13   DAILY REPORT   5</a:t>
            </a:r>
          </a:p>
        </p:txBody>
      </p:sp>
    </p:spTree>
    <p:extLst>
      <p:ext uri="{BB962C8B-B14F-4D97-AF65-F5344CB8AC3E}">
        <p14:creationId xmlns:p14="http://schemas.microsoft.com/office/powerpoint/2010/main" val="1809505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F65D1-C055-464D-8C03-FC8691BD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FE68E-09BA-4856-80D3-B62F9EDD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037E3-2FDE-42FD-AA23-3E06A81A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L4 watchlist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054C6-2344-442C-A6DE-F4506121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No new execution change across the six designated companies</a:t>
            </a:r>
          </a:p>
        </p:txBody>
      </p:sp>
    </p:spTree>
    <p:extLst>
      <p:ext uri="{BB962C8B-B14F-4D97-AF65-F5344CB8AC3E}">
        <p14:creationId xmlns:p14="http://schemas.microsoft.com/office/powerpoint/2010/main" val="1299290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1A4F2-C52E-4606-A200-331CAA8A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9C03B-7445-4598-8314-58F2D452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Six-company L4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78DF6-849B-4AB1-9C2A-C3D35DCD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54BF0-54F2-43F2-B59F-74B69C0F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CONFIRMED OPERATIONS, PERMITS AND FLEET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D9E81-F69B-4D50-90C7-E118949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E647D-8D0D-4032-8B2B-BDCA6E4B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companies with a new confirmed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DBFC7-5B18-4276-ABB2-0988B0BB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Uber and Avride: no new launch, driver-out or fleet change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Bolt and Mobileye: no new test, permit or commercial deployment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Kakao Mobility and Socar: no new L4 service or safety-operator change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Repeated plans and L2/L3 assistance updates remain excluded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D3140-A73A-4EE8-91EC-B9E40F8F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2026-10-13   DAILY REPORT   7</a:t>
            </a:r>
          </a:p>
        </p:txBody>
      </p:sp>
    </p:spTree>
    <p:extLst>
      <p:ext uri="{BB962C8B-B14F-4D97-AF65-F5344CB8AC3E}">
        <p14:creationId xmlns:p14="http://schemas.microsoft.com/office/powerpoint/2010/main" val="18180668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5758E-00B1-43DA-B65B-F5A56443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F37E4-59B8-4C7D-BDCB-438942D2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C7DB2-7217-4886-97E3-5FFCC353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May Mobility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3B5D1-CA24-4D44-93E2-9EE024D3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Duplicate baseline with additional SEC schedule confirmation</a:t>
            </a:r>
          </a:p>
        </p:txBody>
      </p:sp>
    </p:spTree>
    <p:extLst>
      <p:ext uri="{BB962C8B-B14F-4D97-AF65-F5344CB8AC3E}">
        <p14:creationId xmlns:p14="http://schemas.microsoft.com/office/powerpoint/2010/main" val="1018112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FED5A-0B1E-4A19-A713-8859AF4C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37E07-2188-482A-A17D-FBB5C50A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operating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D944C-0470-44F6-BD57-84786BB7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55E13-43A3-47BC-A73A-6DCBC750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DUPLICATE: NO NEW OPERATING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CBF0B-DE52-43E2-ABF4-30A734A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B7951-C039-4D60-853D-F915DB8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confirmed U.S. commercial locations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E2D65-57C2-486F-8853-6CAD4B8F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Commercial service remains confirmed in Atlanta, Grand Rapids and Eden Prairie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Atlanta launched with an onboard safety operator; removal remains unconfirmed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company reports 550K+ rides and 1.1M+ miles cumulatively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Arlington launch, local fleet size and driver-out status remain unconfirmed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20D71-AED2-4F79-9077-15C63BA8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2026-10-13   DAILY REPORT   9</a:t>
            </a:r>
          </a:p>
        </p:txBody>
      </p:sp>
    </p:spTree>
    <p:extLst>
      <p:ext uri="{BB962C8B-B14F-4D97-AF65-F5344CB8AC3E}">
        <p14:creationId xmlns:p14="http://schemas.microsoft.com/office/powerpoint/2010/main" val="20256261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8AE7E-76F6-4C94-89D4-84095E54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AC24D-1518-435C-9A07-AF21C132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SPAC 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92215-F8A3-401C-AA90-462A8E90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3B7A2-8678-4D1C-8E91-A7ABDFC8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 WITH ADDITIONAL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A1C83-8006-4219-8075-51EA5213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rPr>
              <a:t>Q1 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6A782-0E13-48FE-9442-4EDA41F7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target in the SEC investor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842A3-FB4C-488F-9EF6-922AD5E2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filed press release says closing is expected by year-end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investor presentation instead targets Q1 2027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public documents do not support one firm closing 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No closing, shareholder approval or Nasdaq listing is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D34AD-6623-4E87-B83D-25746BFD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2026-10-13   DAILY REPORT   10</a:t>
            </a:r>
          </a:p>
        </p:txBody>
      </p:sp>
    </p:spTree>
    <p:extLst>
      <p:ext uri="{BB962C8B-B14F-4D97-AF65-F5344CB8AC3E}">
        <p14:creationId xmlns:p14="http://schemas.microsoft.com/office/powerpoint/2010/main" val="1984079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2026-10-12T22:32:06.2530000Z</dcterms:created>
  <dcterms:modified xsi:type="dcterms:W3CDTF">2026-10-12T22:32:06.2530000Z</dcterms:modified>
</coreProperties>
</file>