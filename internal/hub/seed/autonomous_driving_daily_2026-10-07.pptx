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046274989433c" /><Relationship Type="http://schemas.openxmlformats.org/officeDocument/2006/relationships/extended-properties" Target="/docProps/app.xml" Id="R354e8debcb194d7e" /><Relationship Type="http://schemas.openxmlformats.org/officeDocument/2006/relationships/officeDocument" Target="/ppt/presentation.xml" Id="Re9babfe2d56d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13bcd33d64363"/>
  </p:sldMasterIdLst>
  <p:notesMasterIdLst>
    <p:notesMasterId xmlns:r="http://schemas.openxmlformats.org/officeDocument/2006/relationships" r:id="R8995ca0f585543b4"/>
  </p:notesMasterIdLst>
  <p:sldIdLst>
    <p:sldId xmlns:r="http://schemas.openxmlformats.org/officeDocument/2006/relationships" id="256" r:id="Rdb4c0f1de2624971"/>
    <p:sldId xmlns:r="http://schemas.openxmlformats.org/officeDocument/2006/relationships" id="257" r:id="R858f10a861364535"/>
    <p:sldId xmlns:r="http://schemas.openxmlformats.org/officeDocument/2006/relationships" id="258" r:id="Ra3d470850c764b69"/>
    <p:sldId xmlns:r="http://schemas.openxmlformats.org/officeDocument/2006/relationships" id="259" r:id="R78a2ff34e6b24f63"/>
    <p:sldId xmlns:r="http://schemas.openxmlformats.org/officeDocument/2006/relationships" id="260" r:id="R7b7645da40e84e6c"/>
    <p:sldId xmlns:r="http://schemas.openxmlformats.org/officeDocument/2006/relationships" id="261" r:id="R21dd539ad7f34c73"/>
    <p:sldId xmlns:r="http://schemas.openxmlformats.org/officeDocument/2006/relationships" id="262" r:id="R66a3832b20bd4dca"/>
    <p:sldId xmlns:r="http://schemas.openxmlformats.org/officeDocument/2006/relationships" id="263" r:id="R2dc57bf3b05046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fdaac936f4541" /><Relationship Type="http://schemas.openxmlformats.org/officeDocument/2006/relationships/slideMaster" Target="/ppt/slideMasters/slideMaster1.xml" Id="Ra0713bcd33d64363" /><Relationship Type="http://schemas.openxmlformats.org/officeDocument/2006/relationships/notesMaster" Target="/ppt/notesMasters/notesMaster1.xml" Id="R8995ca0f585543b4" /><Relationship Type="http://schemas.openxmlformats.org/officeDocument/2006/relationships/presProps" Target="/ppt/presProps.xml" Id="R263c054c6034495f" /><Relationship Type="http://schemas.openxmlformats.org/officeDocument/2006/relationships/tableStyles" Target="/ppt/tableStyles.xml" Id="R0b2e2a2b32e648d0" /><Relationship Type="http://schemas.openxmlformats.org/officeDocument/2006/relationships/slide" Target="/ppt/slides/slide1.xml" Id="Rdb4c0f1de2624971" /><Relationship Type="http://schemas.openxmlformats.org/officeDocument/2006/relationships/slide" Target="/ppt/slides/slide2.xml" Id="R858f10a861364535" /><Relationship Type="http://schemas.openxmlformats.org/officeDocument/2006/relationships/slide" Target="/ppt/slides/slide3.xml" Id="Ra3d470850c764b69" /><Relationship Type="http://schemas.openxmlformats.org/officeDocument/2006/relationships/slide" Target="/ppt/slides/slide4.xml" Id="R78a2ff34e6b24f63" /><Relationship Type="http://schemas.openxmlformats.org/officeDocument/2006/relationships/slide" Target="/ppt/slides/slide5.xml" Id="R7b7645da40e84e6c" /><Relationship Type="http://schemas.openxmlformats.org/officeDocument/2006/relationships/slide" Target="/ppt/slides/slide6.xml" Id="R21dd539ad7f34c73" /><Relationship Type="http://schemas.openxmlformats.org/officeDocument/2006/relationships/slide" Target="/ppt/slides/slide7.xml" Id="R66a3832b20bd4dca" /><Relationship Type="http://schemas.openxmlformats.org/officeDocument/2006/relationships/slide" Target="/ppt/slides/slide8.xml" Id="R2dc57bf3b05046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9e299efd0443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c0228027a140c8" /><Relationship Type="http://schemas.openxmlformats.org/officeDocument/2006/relationships/notesMaster" Target="/ppt/notesMasters/notesMaster1.xml" Id="Rade2390a46c746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decc4975146a4" /><Relationship Type="http://schemas.openxmlformats.org/officeDocument/2006/relationships/notesMaster" Target="/ppt/notesMasters/notesMaster1.xml" Id="Rca1f529b293c4b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4e859cf18470f" /><Relationship Type="http://schemas.openxmlformats.org/officeDocument/2006/relationships/notesMaster" Target="/ppt/notesMasters/notesMaster1.xml" Id="Rfccc63ff46c5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290924501497b" /><Relationship Type="http://schemas.openxmlformats.org/officeDocument/2006/relationships/notesMaster" Target="/ppt/notesMasters/notesMaster1.xml" Id="Rdea4e125be9b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136a4750344bb" /><Relationship Type="http://schemas.openxmlformats.org/officeDocument/2006/relationships/notesMaster" Target="/ppt/notesMasters/notesMaster1.xml" Id="R7a813f4edf4848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8f4bfe91240b2" /><Relationship Type="http://schemas.openxmlformats.org/officeDocument/2006/relationships/notesMaster" Target="/ppt/notesMasters/notesMaster1.xml" Id="Radac859bb1404d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3185e4eb594c32" /><Relationship Type="http://schemas.openxmlformats.org/officeDocument/2006/relationships/notesMaster" Target="/ppt/notesMasters/notesMaster1.xml" Id="R7b0fdec659c9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49a88870e84264" /><Relationship Type="http://schemas.openxmlformats.org/officeDocument/2006/relationships/notesMaster" Target="/ppt/notesMasters/notesMaster1.xml" Id="Re024e2aebd2140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EASE Logistics, 2026-10-06: https://easelogistics.com/articles/einride-and-ease-logistics-are-now-live-with-driverless-electric-trucks-moving-freight-daily-on-ohio-roads/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EASE Logistics: https://easelogistics.com/articles/einride-and-ease-logistics-are-now-live-with-driverless-electric-trucks-moving-freight-daily-on-ohio-roads/</a:t>
            </a:r>
          </a:p>
          <a:p xmlns:a="http://schemas.openxmlformats.org/drawingml/2006/main">
            <a:r>
              <a:t>Einride initial announcement: https://www.einride.tech/press/3302743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차내 안전요원 없음, 원격 운영자 모니터링</a:t>
            </a:r>
          </a:p>
          <a:p xmlns:a="http://schemas.openxmlformats.org/drawingml/2006/main">
            <a:r>
              <a:t>EASE Logistics: https://easelogistics.com/articles/einride-and-ease-logistics-are-now-live-with-driverless-electric-trucks-moving-freight-daily-on-ohio-roads/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Waymo, 2026-10-06: https://waymo.com/blog/shorts/silver-ojai/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Kodiak, 2026-10-06: https://kodiak.ai/news/autonomy-readiness-96-driverless-long-haul-launch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Uber, Avride, Bolt, Mobileye, 카카오모빌리티, 쏘카: 신규 확인 사항 없음</a:t>
            </a:r>
          </a:p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 이전 보고 2026-10-06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 이전 보고 2026-10-06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SEC transcript: https://www.sec.gov/Archives/edgar/data/2111542/000121390026101013/ea030470211-425_acphold.htm</a:t>
            </a:r>
          </a:p>
          <a:p xmlns:a="http://schemas.openxmlformats.org/drawingml/2006/main">
            <a:r>
              <a:t>May Mobility news: https://maymobility.com/posts/type/company-news/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75cee17934f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d0ef6169f4d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4b285e1794c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147a8db5a4a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7ead27a8e41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b80f8575246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4F61A2-1BFB-4538-8276-845AFFB3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2E2F2A-64CD-4BD5-8F21-2C4120DEB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5A96C7A-4820-444D-968F-C07C8313D7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97EF5EE-0C0F-4FE7-8AE9-76366F8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8DA1A2-BBC4-4F25-9334-7F326D7D8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C9BC72-5DB3-421A-B60E-FA3E98B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39FA7F-1689-4413-9771-6AD6447DB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708661-4FB3-47F9-813D-56FF79C67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3FDFD65-214C-476A-BBA1-786C3B34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7580A1-20A7-4C30-B3FE-27601229A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ADFA28-12F0-4D0D-8EB3-2DE354466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665516-9605-463D-ADAE-34EED72674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CF2DCB-0DBE-4E8F-BB83-93C0D5F1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8958A2-0FB0-4640-B43F-D4082E9F7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FD5532-8219-4028-A431-0AE363FC3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68fec05e7949b1" /><Relationship Type="http://schemas.openxmlformats.org/officeDocument/2006/relationships/slideLayout" Target="/ppt/slideLayouts/slideLayout1.xml" Id="R710ae4b9daee49e8" /><Relationship Type="http://schemas.openxmlformats.org/officeDocument/2006/relationships/slideLayout" Target="/ppt/slideLayouts/slideLayout2.xml" Id="R38e46678d98b47b3" /><Relationship Type="http://schemas.openxmlformats.org/officeDocument/2006/relationships/slideLayout" Target="/ppt/slideLayouts/slideLayout3.xml" Id="Ra49a153538084cd1" /><Relationship Type="http://schemas.openxmlformats.org/officeDocument/2006/relationships/slideLayout" Target="/ppt/slideLayouts/slideLayout4.xml" Id="R68dceb3aba6843ad" /><Relationship Type="http://schemas.openxmlformats.org/officeDocument/2006/relationships/slideLayout" Target="/ppt/slideLayouts/slideLayout5.xml" Id="R4deb1c137fba47f3" /><Relationship Type="http://schemas.openxmlformats.org/officeDocument/2006/relationships/slideLayout" Target="/ppt/slideLayouts/slideLayout6.xml" Id="R77dca7ab63b24b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ae4b9daee49e8"/>
    <p:sldLayoutId xmlns:r="http://schemas.openxmlformats.org/officeDocument/2006/relationships" id="2147483650" r:id="R38e46678d98b47b3"/>
    <p:sldLayoutId xmlns:r="http://schemas.openxmlformats.org/officeDocument/2006/relationships" id="2147483651" r:id="Ra49a153538084cd1"/>
    <p:sldLayoutId xmlns:r="http://schemas.openxmlformats.org/officeDocument/2006/relationships" id="2147483652" r:id="R68dceb3aba6843ad"/>
    <p:sldLayoutId xmlns:r="http://schemas.openxmlformats.org/officeDocument/2006/relationships" id="2147483653" r:id="R4deb1c137fba47f3"/>
    <p:sldLayoutId xmlns:r="http://schemas.openxmlformats.org/officeDocument/2006/relationships" id="2147483654" r:id="R77dca7ab63b24b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f74541f924534" /><Relationship Type="http://schemas.openxmlformats.org/officeDocument/2006/relationships/notesSlide" Target="/ppt/notesSlides/notesSlide1.xml" Id="Rf4ae2960dabf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5fb306ea04621" /><Relationship Type="http://schemas.openxmlformats.org/officeDocument/2006/relationships/notesSlide" Target="/ppt/notesSlides/notesSlide2.xml" Id="R82e118b6d03d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9259e310e463f" /><Relationship Type="http://schemas.openxmlformats.org/officeDocument/2006/relationships/notesSlide" Target="/ppt/notesSlides/notesSlide3.xml" Id="Re1efcf9352df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d8c1585e0447b" /><Relationship Type="http://schemas.openxmlformats.org/officeDocument/2006/relationships/notesSlide" Target="/ppt/notesSlides/notesSlide4.xml" Id="R7969a7ca0418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9eb565eac42e8" /><Relationship Type="http://schemas.openxmlformats.org/officeDocument/2006/relationships/notesSlide" Target="/ppt/notesSlides/notesSlide5.xml" Id="Rd637404375654b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5b1bf514c4f55" /><Relationship Type="http://schemas.openxmlformats.org/officeDocument/2006/relationships/notesSlide" Target="/ppt/notesSlides/notesSlide6.xml" Id="Rc92b3b339649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33eeecb364d8a" /><Relationship Type="http://schemas.openxmlformats.org/officeDocument/2006/relationships/notesSlide" Target="/ppt/notesSlides/notesSlide7.xml" Id="Rce65e28f6a8441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e8ab208fd43be" /><Relationship Type="http://schemas.openxmlformats.org/officeDocument/2006/relationships/notesSlide" Target="/ppt/notesSlides/notesSlide8.xml" Id="Re1927306afd1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BB024-D29E-4F98-9594-39DCB812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53A44-7F61-4CA3-9635-03E2888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8CCB-ECA5-4C2C-A564-3DD62D7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C6B89-E4A2-45B9-B127-A13183E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Einride starts daily driverless freight in Ohio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4C38-BC19-49AB-9247-518CDFCA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2026-10-07</a:t>
            </a:r>
          </a:p>
        </p:txBody>
      </p:sp>
    </p:spTree>
    <p:extLst>
      <p:ext uri="{BB962C8B-B14F-4D97-AF65-F5344CB8AC3E}">
        <p14:creationId xmlns:p14="http://schemas.microsoft.com/office/powerpoint/2010/main" val="1863491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9354A-8BC9-4029-9657-68185687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62237-1EC2-4A4F-8246-9EF17EE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Einride begins daily driverless freight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416AF-05B7-4CC8-9645-09B2A82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D90A-6C5E-48C2-9632-AD81829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PLAN MOVES INTO DAILY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A66FA-EC00-4E41-8288-23AF487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 trucks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BFB0-84F7-4171-B971-EB54CBFA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cab-less L4 electric trucks in Marysville, Ohio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0AFED-8BA5-43B7-81DB-746F471F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trucks carry freight on scheduled routes between two EASE warehouses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Operations cover EASE property and local public roads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deployment has generated operating data since September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May proof-of-concept plan has moved into repeat freight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B2DF0-8A90-4374-8008-219799D1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748250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67BC-7585-4F71-84D1-F44D6CB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5F41A-A60F-4F5C-8FAA-E30120C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No onboard driver or safety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0C1B5-A5CD-41F5-A74C-DF8D5A09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57E9D-D492-4638-A218-38A84F26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DRIVER-OUT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CA31-3FDA-4356-B501-38F5E88B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0 onboard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EEC76-BD86-4E24-B56C-E729C008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 remote operator monitors each truck off-site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206E2-630F-47FA-BB48-8931C18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purpose-built vehicles have no cab and carry no onboard human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 remote operator monitors each truck and can intervene when needed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route forms part of the $8.8 million Truck Automation Corridor Project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Route distance, intervention rate, loads and uptime remain undisclosed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C7300-16D5-40BD-B5FB-58BDC1B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51650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A6D4B-F261-41F9-BA83-A62975F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94481-3462-447A-91F3-9E4FEA60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starts testing a new Ojai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A8829-6DE0-4EB4-B6AD-CA9E197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7211F-3972-48E4-918B-D6398575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PRODUCTION RAMP AND ROAD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668F5-7487-4C7C-9A1D-AFB8203B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Testing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D390C-E00F-48E8-A43B-44522E18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passenger service remains a coming-weeks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1BCC4-5D2D-4AE1-A0B4-848116C2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silver Ojai is ramping production at Waymo's Mesa integration plant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Road testing has started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Rides in San Francisco, Los Angeles and Las Vegas are planned within weeks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update changes the vehicle specification, not the disclosed autonomy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5AF4D-B9D7-4AEA-B344-3BD7932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847762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42AC7-1957-4FB5-93C6-C58CEC6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CE67-DC6C-4667-A00B-34CCE9A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Kodiak long-haul safety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F6B26-1AC3-4C7C-A246-D5E4289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C2780-F0A6-483A-A82B-EA2A09A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SELF-REPORTED COMPLETENESS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F5818-C71B-446D-9A92-4316FB1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96%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5231F-A4F4-41D8-9D34-EBEE9C71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ARM at end-September, up from 93% in August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BDF01-9E53-4354-A3AD-105677A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ARM measures materially complete claims and evidence in Kodiak's safety case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It does not measure crash performance or regulatory approval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Risk assessment, launch vehicle verification and high-speed safety work remain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Year-end long-haul driver-out service remains a plan, not a launched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2B44-BB73-4364-8AE9-8A7EF555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64025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6FB8B-C218-49A2-B063-B0AD5957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2F9FC-ECB7-43FB-BC2F-0F7E887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L4 check: six requested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21D8-DEA8-44E2-936A-69849A9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01312-A24F-42AF-AA3D-A47B7DEF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11B6C-8E26-4818-A0AE-CCBF994D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31A34-D41E-4C70-BF1B-6B70952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operating or permit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D4DE5-9DBC-4511-B5C6-2F6B4B0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 and Avride: no new driver-out, permit, geofence or fleet update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Bolt and Mobileye: no new test launch or commercial execution change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Kakao Mobility: no new safety-operator removal or service expansion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Socar: no new L4 permit, service or vehicle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90D05-7D42-46F4-944B-47423F0A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1345686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79391-BB32-410B-A0D2-1E7353F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B4810-F80A-4A95-8C5A-181FC84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9FC52-D841-4B08-BC20-E20523EC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15F21-E95B-4248-B9D8-89086DAC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F2AF7-F7F8-4077-A404-19B759A0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CF8FF-F841-4D6E-A77E-A4815724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commercial rides claimed cumulatively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95D9-61E1-49D1-9533-7F43486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U.S. commercial locations remain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an onboard safety operator; no removal update was found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remains a target, not a confirmed launch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driver-out transition, fleet expansion or site opening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5CE36-AA9A-4E63-BAAA-F4F5AE9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769893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A4627-7C25-4381-B6B8-DF774BD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63312-A596-4178-8B69-A5F0BD8C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technology and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D8EF9-4CDB-48B2-A762-71A1BB3B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43765-5CDF-43DC-B12E-849345C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3CE8-9658-4462-8CDB-B608C0BD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F6D82-44F4-4C97-8A3A-4938FCD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proposed enterprise value; deal not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B7105-0908-4B54-9BA7-8A0D9E5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current stack uses lidar, radar and cameras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says MPDM evaluates about 1,000 potential scenarios each second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proposed deal includes up to $337M gross proceeds and a $120M PIPE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SPAC closing or direct Hyundai relationship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5BB32-6AA4-42C1-8E4C-5B2E7CC3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2026-10-07   DAILY REPORT   8</a:t>
            </a:r>
          </a:p>
        </p:txBody>
      </p:sp>
    </p:spTree>
    <p:extLst>
      <p:ext uri="{BB962C8B-B14F-4D97-AF65-F5344CB8AC3E}">
        <p14:creationId xmlns:p14="http://schemas.microsoft.com/office/powerpoint/2010/main" val="46083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2026-10-06T22:39:07.3870000Z</dcterms:created>
  <dcterms:modified xsi:type="dcterms:W3CDTF">2026-10-06T22:39:07.3870000Z</dcterms:modified>
</coreProperties>
</file>