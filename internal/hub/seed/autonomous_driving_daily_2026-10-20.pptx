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mgov.net/uploadedFiles/Departments/Clerk/a20261013_Completed.pdf" TargetMode="External"/><Relationship Id="rId2" Type="http://schemas.openxmlformats.org/officeDocument/2006/relationships/hyperlink" Target="https://www.smdp.com/santa-monica-moves-toward-deal-to-park-zoox-robotaxis-at-main-library/" TargetMode="External"/><Relationship Id="rId3" Type="http://schemas.openxmlformats.org/officeDocument/2006/relationships/hyperlink" Target="https://www.notateslaapp.com/news/4844/tesla-extends-robotaxi-hours-again-now-until-midnight" TargetMode="External"/><Relationship Id="rId4" Type="http://schemas.openxmlformats.org/officeDocument/2006/relationships/hyperlink" Target="https://driveteslacanada.ca/news/tesla-cybercab-midnight-operating-hours-austin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sla.com/support/robotaxi" TargetMode="External"/><Relationship Id="rId2" Type="http://schemas.openxmlformats.org/officeDocument/2006/relationships/hyperlink" Target="https://www.uber.com/us/en/newsroom/" TargetMode="External"/><Relationship Id="rId3" Type="http://schemas.openxmlformats.org/officeDocument/2006/relationships/hyperlink" Target="https://www.avride.ai/" TargetMode="External"/><Relationship Id="rId4" Type="http://schemas.openxmlformats.org/officeDocument/2006/relationships/hyperlink" Target="https://bolt.eu/en/blog/category/autonomous-solutions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obileye.com/news/" TargetMode="External"/><Relationship Id="rId2" Type="http://schemas.openxmlformats.org/officeDocument/2006/relationships/hyperlink" Target="https://www.kakaomobility.com/newsroom/news" TargetMode="External"/><Relationship Id="rId3" Type="http://schemas.openxmlformats.org/officeDocument/2006/relationships/hyperlink" Target="https://www.socarcorp.kr/blog" TargetMode="External"/><Relationship Id="rId4" Type="http://schemas.openxmlformats.org/officeDocument/2006/relationships/hyperlink" Target="https://maymobility.com/posts/type/company-new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2111542/000121390026100367/ea030470201ex99-1.htm" TargetMode="External"/><Relationship Id="rId2" Type="http://schemas.openxmlformats.org/officeDocument/2006/relationships/hyperlink" Target="https://www.ntt-mobility.com/news/20260812/newsrelease-260812/" TargetMode="External"/><Relationship Id="rId3" Type="http://schemas.openxmlformats.org/officeDocument/2006/relationships/hyperlink" Target="https://maymobility.com/first-responders/frip-atlanta-georgia" TargetMode="External"/><Relationship Id="rId4" Type="http://schemas.openxmlformats.org/officeDocument/2006/relationships/hyperlink" Target="https://maymobility.com/posts/may-mobility-launches-new-av-architecture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2111542/000121390026100367/ea030470201ex99-2.htm" TargetMode="External"/><Relationship Id="rId2" Type="http://schemas.openxmlformats.org/officeDocument/2006/relationships/hyperlink" Target="https://www.sec.gov/Archives/edgar/data/2111542/000121390026100367/ea030470201ex99-2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857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6019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2026-10-20 · Zoox 산타모니카 주차 협상 승인·Tesla Austin 자정 운행 확대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[신규·협상 승인] Zoox: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산타모니카 시의회가 10월 13일 주차 거점 협상·라이선스 추진을 승인했다. 10월 19일 보도에서 최대 150대 규모가 제시됐다.[R1][R2]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37438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[신규·운영시간 보도] Tesla: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10월 17일 Austin 자정까지 운행 확대 보도. 공식 지원 페이지는 지역별 시간이 다르다고 안내한다.[R3][R4][R5]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Zoox 계약·배치 완료와 Tesla의 안전요원 변경·24시간 운행 달성은 확인하지 못했다.[R2][R3][R4][R5]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39381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Uber·Avride·Bolt·Mobileye·카카오모빌리티·쏘카 모두 신규 확인 사항 없음.[R6][R7][R8][R9][R10][R11]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9100" y="38909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89096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[중복] · 이전 보고 2026-10-19: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확인 사항 없음. 실제 지역·안전요원·SPAC 일정을 재점검했다.[R12][R13][R14][R15][R17]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150" y="4614863"/>
            <a:ext cx="77057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기준: </a:t>
            </a:r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2026-10-20 한국시간 아침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이전 발송본과 대조해 동일 사건·수치의 재보도를 제외했다.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381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신규 업데이트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30099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[신규] 주차 거점 추진과 운행시간 확대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Zoox·미국 Santa Monica: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결정일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2026-10-13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후속 보도일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2026-10-19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시의회가 주차 라이선스 추진을 승인했고, 보도는 최대 150대의 대기·보관안을 설명했다.[R1][R2]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38409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협상·시설 사용 준비다. 조건 합의 후 계약할 권한이며 실제 체결·차량 입고·유상 승객 운행 개시는 미확인이다.[R1][R2]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33551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Tesla·미국 Austin: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보도일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2026-10-17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두 전문 매체가 앱 알림을 근거로 자정까지 이용시간 확대를 전했다. 정확한 첫 시행일은 공개자료로 확정하지 못했다.[R3][R4]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23836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기존 서비스의 운영시간 변경 보도다. 신규 지역·추가 차량·24시간 운영 달성이나 안전요원 제거로 확대 해석하지 않는다.[R3][R4][R5]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150" y="3957638"/>
            <a:ext cx="68865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보고에 없던 사실을 신규 확인으로 편입했다. 보도일과 실제 결정·시행일을 구분한다.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7622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기업/지역별 상세 내용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26289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Zoox 시설 협상 / Tesla 이용시간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9100" y="1262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262063"/>
            <a:ext cx="836466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Zoox 거점 후보: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Main Library 지하·지상 주차장과 Downtown Expo 남쪽 Kiss-and-Ride 부지를 검토한다. 시의회 승인 후에도 기술 요건·공간 적합성 검토가 남아 있다.[R2]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9100" y="191928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19287"/>
            <a:ext cx="834523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범위: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보도는 최대 1년의 주차 파일럿을 설명하며, 충전소는 별도 장소에 구축 중이라고 전한다. 150대는 수용 제안값이지 현재 운행 차량 수가 아니다.[R2]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9100" y="257651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6512"/>
            <a:ext cx="824807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Tesla 확인 수준: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매체가 인용한 앱 알림은 자정 종료를 안내한다. 공식 지원 페이지에는 고정 시간표 대신 지역별 운영시간 차이가 명시돼 있다.[R3][R4][R5]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9100" y="323373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33737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이번 자료만으로 각 차량의 안전요원 유무·원격 개입 방식 변화·새 L4 허가 발급은 확인할 수 없다.[R2][R5]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150" y="3957638"/>
            <a:ext cx="56769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사용 권한, 도로 운행 허가, 승객 서비스 개시는 별개 단계로 구분한다.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4003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 L4 점검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38150" y="1196727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8150" y="1574304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38150" y="1951881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8150" y="2329458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8150" y="2707035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8150" y="3084612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8150" y="3462189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8150" y="3628876"/>
            <a:ext cx="858812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무인·안전요원, 허가, 지역·차량 규모, L4 적용 및 제휴 실행을 점검했다. 일반 사업·L2/3 소식과 동일 사건 재보도는 제외했다.</a:t>
            </a:r>
            <a:endParaRPr lang="en-US" sz="1500" dirty="0"/>
          </a:p>
        </p:txBody>
      </p:sp>
      <p:graphicFrame>
        <p:nvGraphicFramePr>
          <p:cNvPr id="904" name="Editable source table"/>
          <p:cNvGraphicFramePr/>
          <p:nvPr/>
        </p:nvGraphicFramePr>
        <p:xfrm>
          <a:off x="438150" y="823912"/>
          <a:ext cx="8458200" cy="2643039"/>
        </p:xfrm>
        <a:graphic>
          <a:graphicData uri="http://schemas.openxmlformats.org/drawingml/2006/main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이전 보고 이후 확인 결과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점검 출처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Uber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 [R6]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Avride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홈페이지 [R7]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Bolt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Autonomous solutions [R8]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Mobileye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News [R9]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카카오모빌리티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 [R10]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쏘카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블로그 [R11]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2026-10-19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195262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실제 서비스 지역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354949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상용: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9월 16일 SEC 발표는 Atlanta, Eden Prairie, Grand Rapids(Minnesota)를 명시한다. 오늘 신규 개시한 지역은 아니다.[R13]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830637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Arlington·Uber: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2026년 4분기~2027년 1분기 개시 목표다. 이번 점검에서 실제 개시 달성을 추가 확인하지 못했다.[R12][R13]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8813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1313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SEC는 9월 실증 개시를 기재한다. NTT의 실증 설계는 2026년 9월 11일~2027년 3월 19일 평일 운행, 차량 3대·승하차 5곳이다.[R13][R14]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538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538"/>
            <a:ext cx="62674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대수·노선은 오늘 실제 가동 대수나 운전석 무인 전환 실적과 구분한다.[R14]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2026-10-19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345757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안전요원·무인 수준 / 기술·ODD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Atlanta: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공식 긴급대응 지침은 Midtown Toyota Sienna의 운전석 Safety Operator 탑승을 명시한다.[R15]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839381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NTT 안내는 향후 승무원 없는 L4 운행을 상정한 실증이다. 현재 무인 상용 허가 달성을 뜻하지 않는다.[R14]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8813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1313"/>
            <a:ext cx="82577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5세대 기술: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딥러닝·예측 월드 모델·추론 엔진의 차량 내 결합은 회사 발표 내용이다. 지역별 허가·안전요원 제거 실적과 구분한다.[R16]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538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538"/>
            <a:ext cx="82577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속도·기상·도로별 ODD 전체와 추가 안전요원 철수는 이번 공개자료 점검에서 확인하지 못했다.[R12][R14][R15][R16]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30765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40290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2026-10-19 · 신규 확인 사항 없음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150" y="1243013"/>
            <a:ext cx="3829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차량·운영 실적 / ④ 투자·SPAC 일정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66862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실적: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9월 16일 기준 상업 승차 55만 회 초과·110만 마일·driver-out 배치 3건이다. 현재 모든 지역이 무인이라는 뜻은 아니다.[R13]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9100" y="222408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4088"/>
            <a:ext cx="8296656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AaaS: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파트너가 차량 소유·차고 운영·유지보수를, May Mobility가 자율주행 기술을 담당하는 모델을 제시한다.[R13]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9100" y="288131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1313"/>
            <a:ext cx="82296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 발표값: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기업가치 약 14억 달러·최대 조달 3억3,700만 달러·PIPE 1억2,000만 달러이며 환매·종결 조건의 영향을 받는다.[R13]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9100" y="35385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538"/>
            <a:ext cx="830637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종결 목표: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보도자료는 2026년 말, 투자자 자료는 2027년 1분기다. 합병·상장 완료는 추가 확인하지 못했다.[R12][R13][R17]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9100" y="41957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195762"/>
            <a:ext cx="53530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현대자동차:</a:t>
            </a:r>
            <a:pPr algn="l" indent="0" marL="0">
              <a:buNone/>
            </a:pPr>
            <a:r>
              <a:rPr lang="en-US" sz="150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직접 계약·차량 적용 근거는 확인되지 않았다.[R13]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3430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규제·안전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757238"/>
            <a:ext cx="838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없음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60972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기술·공급망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757238"/>
            <a:ext cx="838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03047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없음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096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1–4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[R1] Santa Monica 시의회, Completed Agenda, 11.A, 2026-10-13: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https://www.smgov.net/uploadedFiles/Departments/Clerk/a20261013_Completed.pdf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8011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801118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[R2] Santa Monica Daily Press, Zoox robotaxi parking agreement (축약 제목), 2026-10-19: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https://www.smdp.com/santa-monica-moves-toward-deal-to-park-zoox-robotaxis-at-main-library/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34017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234017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[R3] Not a Tesla App, Robotaxi hours until midnight (축약 제목), 2026-10-17: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https://www.notateslaapp.com/news/4844/tesla-extends-robotaxi-hours-again-now-until-midnight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879229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879229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[R4] Drive Tesla, Cybercab midnight hours in Austin (축약 제목), 2026-10-17: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https://driveteslacanada.ca/news/tesla-cybercab-midnight-operating-hours-austin/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096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5–8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63531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[R5] Tesla, Robotaxi Support, 게시일 미표기·2026-10-20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https://www.tesla.com/support/robotaxi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607790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607790"/>
            <a:ext cx="53911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[R6] Uber, US Latest News, 2026-10-20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https://www.uber.com/us/en/newsroom/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19535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1953518"/>
            <a:ext cx="41529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[R7] Avride, 공식 홈페이지, 2026-10-20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https://www.avride.ai/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299246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299246"/>
            <a:ext cx="679132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[R8] Bolt, Autonomous solutions, 2026-10-20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https://bolt.eu/en/blog/category/autonomous-solutions/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9144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9–12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46101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[R9] Mobileye, News, 2026-10-20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https://www.mobileye.com/news/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607790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607790"/>
            <a:ext cx="5981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[R10] 카카오모빌리티, 뉴스룸, 2026-10-20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https://www.kakaomobility.com/newsroom/news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19535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1953518"/>
            <a:ext cx="44481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[R11] 쏘카, 공식 블로그, 2026-10-20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https://www.socarcorp.kr/blog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299246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299246"/>
            <a:ext cx="66484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[R12] May Mobility, Company News, 2026-10-20 확인: </a:t>
            </a:r>
            <a:pPr algn="l" indent="0" marL="0"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https://maymobility.com/posts/type/company-news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019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13–16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386" y="126206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[R13] May Mobility·SEC, Business combination announcement, Exhibit 99.1, 2026-09-16: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https://www.sec.gov/Archives/edgar/data/2111542/000121390026100367/ea030470201ex99-1.htm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4726" y="1801118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1386" y="1801118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[R14] NTT Mobility, 나고야 자율주행·온디맨드 실증 개시 (제목 번역·축약), 2026-08-12: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https://www.ntt-mobility.com/news/20260812/newsrelease-260812/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4726" y="234017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1386" y="2340173"/>
            <a:ext cx="8304014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[R15] May Mobility, First Responder Interaction Protocol: Atlanta, 게시일 미표기·2026-10-20 확인: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https://maymobility.com/first-responders/frip-atlanta-georgia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4726" y="2879229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1386" y="2879229"/>
            <a:ext cx="837438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[R16] May Mobility, May Mobility launches New AV Architecture, 2026-05-20: 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https://maymobility.com/posts/may-mobility-launches-new-av-architecture/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15049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1019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17–17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11416" y="1252537"/>
            <a:ext cx="8303984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R17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May Mobility·SEC, Investor presentation, Exhibit 99.2, 2026-09-16: </a:t>
            </a:r>
            <a:pPr algn="l" indent="0" marL="0">
              <a:lnSpc>
                <a:spcPts val="1470"/>
              </a:lnSpc>
              <a:buNone/>
            </a:pPr>
            <a:r>
              <a:rPr lang="en-US" sz="1050" u="dash" dirty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https://www.sec.gov/Archives/edgar/data/2111542/000121390026100367/ea030470201ex99-2.htm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자율주행 데일리 리포트 2026-10-20</dc:title>
  <dc:subject>Zoox 산타모니카 주차 협상 승인·Tesla Austin 자정 운행 확대</dc:subject>
  <dc:creator>PptxGenJS</dc:creator>
  <cp:lastModifiedBy>PptxGenJS</cp:lastModifiedBy>
  <cp:revision>1</cp:revision>
  <dcterms:created xsi:type="dcterms:W3CDTF">2026-10-19T22:34:05Z</dcterms:created>
  <dcterms:modified xsi:type="dcterms:W3CDTF">2026-10-19T22:34:05Z</dcterms:modified>
</cp:coreProperties>
</file>