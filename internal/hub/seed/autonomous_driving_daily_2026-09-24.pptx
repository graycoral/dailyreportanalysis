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84b7a9602404037" /><Relationship Type="http://schemas.openxmlformats.org/officeDocument/2006/relationships/extended-properties" Target="/docProps/app.xml" Id="R25a9253fc6d54930" /><Relationship Type="http://schemas.openxmlformats.org/officeDocument/2006/relationships/officeDocument" Target="/ppt/presentation.xml" Id="Rcd510607436c46c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26f1ec139ba4ca2"/>
  </p:sldMasterIdLst>
  <p:notesMasterIdLst>
    <p:notesMasterId xmlns:r="http://schemas.openxmlformats.org/officeDocument/2006/relationships" r:id="R444ec24a14e94ff3"/>
  </p:notesMasterIdLst>
  <p:sldIdLst>
    <p:sldId xmlns:r="http://schemas.openxmlformats.org/officeDocument/2006/relationships" id="256" r:id="Rf8d0a51eac064b24"/>
    <p:sldId xmlns:r="http://schemas.openxmlformats.org/officeDocument/2006/relationships" id="257" r:id="R29fe6b80412d43e0"/>
    <p:sldId xmlns:r="http://schemas.openxmlformats.org/officeDocument/2006/relationships" id="258" r:id="R07e114d594d142c4"/>
    <p:sldId xmlns:r="http://schemas.openxmlformats.org/officeDocument/2006/relationships" id="259" r:id="R0eb42863758b4a3c"/>
    <p:sldId xmlns:r="http://schemas.openxmlformats.org/officeDocument/2006/relationships" id="260" r:id="Rfb00e40b31bb4196"/>
    <p:sldId xmlns:r="http://schemas.openxmlformats.org/officeDocument/2006/relationships" id="261" r:id="R6efee9c58c924c0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244ce12f9b243e9" /><Relationship Type="http://schemas.openxmlformats.org/officeDocument/2006/relationships/slideMaster" Target="/ppt/slideMasters/slideMaster1.xml" Id="Rf26f1ec139ba4ca2" /><Relationship Type="http://schemas.openxmlformats.org/officeDocument/2006/relationships/notesMaster" Target="/ppt/notesMasters/notesMaster1.xml" Id="R444ec24a14e94ff3" /><Relationship Type="http://schemas.openxmlformats.org/officeDocument/2006/relationships/presProps" Target="/ppt/presProps.xml" Id="R560104c45d164b8d" /><Relationship Type="http://schemas.openxmlformats.org/officeDocument/2006/relationships/tableStyles" Target="/ppt/tableStyles.xml" Id="R05b0ea3dbcc945d1" /><Relationship Type="http://schemas.openxmlformats.org/officeDocument/2006/relationships/slide" Target="/ppt/slides/slide1.xml" Id="Rf8d0a51eac064b24" /><Relationship Type="http://schemas.openxmlformats.org/officeDocument/2006/relationships/slide" Target="/ppt/slides/slide2.xml" Id="R29fe6b80412d43e0" /><Relationship Type="http://schemas.openxmlformats.org/officeDocument/2006/relationships/slide" Target="/ppt/slides/slide3.xml" Id="R07e114d594d142c4" /><Relationship Type="http://schemas.openxmlformats.org/officeDocument/2006/relationships/slide" Target="/ppt/slides/slide4.xml" Id="R0eb42863758b4a3c" /><Relationship Type="http://schemas.openxmlformats.org/officeDocument/2006/relationships/slide" Target="/ppt/slides/slide5.xml" Id="Rfb00e40b31bb4196" /><Relationship Type="http://schemas.openxmlformats.org/officeDocument/2006/relationships/slide" Target="/ppt/slides/slide6.xml" Id="R6efee9c58c924c0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e25233f06ff4d0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2d5183fca6b49dc" /><Relationship Type="http://schemas.openxmlformats.org/officeDocument/2006/relationships/notesMaster" Target="/ppt/notesMasters/notesMaster1.xml" Id="R6effc8cf0b2242b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7d79fe3aee041b9" /><Relationship Type="http://schemas.openxmlformats.org/officeDocument/2006/relationships/notesMaster" Target="/ppt/notesMasters/notesMaster1.xml" Id="R5a19c55a7a4149e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6336be88bcc470d" /><Relationship Type="http://schemas.openxmlformats.org/officeDocument/2006/relationships/notesMaster" Target="/ppt/notesMasters/notesMaster1.xml" Id="R6673f52eb5dc412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d4737afc2ff49ad" /><Relationship Type="http://schemas.openxmlformats.org/officeDocument/2006/relationships/notesMaster" Target="/ppt/notesMasters/notesMaster1.xml" Id="Rbb212719ec0143b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24151d2a39c4a49" /><Relationship Type="http://schemas.openxmlformats.org/officeDocument/2006/relationships/notesMaster" Target="/ppt/notesMasters/notesMaster1.xml" Id="Redaaccdda2e448e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16404e5a3064f96" /><Relationship Type="http://schemas.openxmlformats.org/officeDocument/2006/relationships/notesMaster" Target="/ppt/notesMasters/notesMaster1.xml" Id="R90e9a4a46394480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Primary topic source: KXAN report republished by AOL, 2026-09-23.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KXAN/AOL: https://www.aol.com/articles/tesla-operating-robotaxi-texas-expired-194029000.html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TechCrunch: https://techcrunch.com/2026/09/23/zoox-grounds-atlanta-test-fleet-after-workers-report-toxic-gas-exposure-symptoms/</a:t>
            </a:r>
          </a:p>
          <a:p xmlns:a="http://schemas.openxmlformats.org/drawingml/2006/main">
            <a:r>
              <a:t>OSHA overview: https://www.osha.gov/chemical-hazards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PrePass: https://prepass.com/press-release/prepass-and-kodiak-ai-collaborate-to-advance-safe-scalable-driverless-trucking-nationwide/</a:t>
            </a:r>
          </a:p>
          <a:p xmlns:a="http://schemas.openxmlformats.org/drawingml/2006/main">
            <a:r>
              <a:t>Kodiak background: https://kodiak.ai/news/kodiak-robotics-becomes-first-company-to-pilot-the-enhanced-inspection-program-for-autonomous-trucks-to-pre-clear-roadside-inspections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Transaction: https://maymobility.com/posts/may-mobility-first-publicly-listed-pure-play-autonomous-ride-hail-technology-company-acp-holdings-acquisition-corp/</a:t>
            </a:r>
          </a:p>
          <a:p xmlns:a="http://schemas.openxmlformats.org/drawingml/2006/main">
            <a:r>
              <a:t>Locations: https://maymobility.com/locations/</a:t>
            </a:r>
          </a:p>
          <a:p xmlns:a="http://schemas.openxmlformats.org/drawingml/2006/main">
            <a:r>
              <a:t>Technology: https://maymobility.com/technology/</a:t>
            </a:r>
          </a:p>
          <a:p xmlns:a="http://schemas.openxmlformats.org/drawingml/2006/main">
            <a:r>
              <a:t>Safety: https://maymobility.com/technology/safety/</a:t>
            </a:r>
          </a:p>
          <a:p xmlns:a="http://schemas.openxmlformats.org/drawingml/2006/main">
            <a:r>
              <a:t>Investors: https://maymobility.com/investors/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KXAN/AOL: https://www.aol.com/articles/tesla-operating-robotaxi-texas-expired-194029000.html</a:t>
            </a:r>
          </a:p>
          <a:p xmlns:a="http://schemas.openxmlformats.org/drawingml/2006/main">
            <a:r>
              <a:t>TechCrunch: https://techcrunch.com/2026/09/23/zoox-grounds-atlanta-test-fleet-after-workers-report-toxic-gas-exposure-symptoms/</a:t>
            </a:r>
          </a:p>
          <a:p xmlns:a="http://schemas.openxmlformats.org/drawingml/2006/main">
            <a:r>
              <a:t>OSHA: https://www.osha.gov/chemical-hazards</a:t>
            </a:r>
          </a:p>
          <a:p xmlns:a="http://schemas.openxmlformats.org/drawingml/2006/main">
            <a:r>
              <a:t>PrePass: https://prepass.com/press-release/prepass-and-kodiak-ai-collaborate-to-advance-safe-scalable-driverless-trucking-nationwide/</a:t>
            </a:r>
          </a:p>
          <a:p xmlns:a="http://schemas.openxmlformats.org/drawingml/2006/main">
            <a:r>
              <a:t>May Mobility: https://maymobility.com/investors/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bdd9c325db4fd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f1e0bd5ed6d4fe3" /><Relationship Type="http://schemas.openxmlformats.org/officeDocument/2006/relationships/slideLayout" Target="/ppt/slideLayouts/slideLayout1.xml" Id="R35b1c701acaf4ae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5b1c701acaf4ae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5c5374b1ce4d0f" /><Relationship Type="http://schemas.openxmlformats.org/officeDocument/2006/relationships/notesSlide" Target="/ppt/notesSlides/notesSlide1.xml" Id="R80e5f7cbf2004f1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dc3030acf5486e" /><Relationship Type="http://schemas.openxmlformats.org/officeDocument/2006/relationships/notesSlide" Target="/ppt/notesSlides/notesSlide2.xml" Id="R9a8fe4b0dce7434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606d04fcc241a8" /><Relationship Type="http://schemas.openxmlformats.org/officeDocument/2006/relationships/notesSlide" Target="/ppt/notesSlides/notesSlide3.xml" Id="R9c780aca5dc1484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c9b8ce0d3e43f8" /><Relationship Type="http://schemas.openxmlformats.org/officeDocument/2006/relationships/notesSlide" Target="/ppt/notesSlides/notesSlide4.xml" Id="R7afae2011fd74ef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edde681fd64ed7" /><Relationship Type="http://schemas.openxmlformats.org/officeDocument/2006/relationships/notesSlide" Target="/ppt/notesSlides/notesSlide5.xml" Id="R5ea3aeb228a84f2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64e942b62a42d5" /><Relationship Type="http://schemas.openxmlformats.org/officeDocument/2006/relationships/notesSlide" Target="/ppt/notesSlides/notesSlide6.xml" Id="Rebc1fe1a9b834d1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9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EB23DA-D08A-49AA-A7E6-145E8E566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C9BA"/>
          </a:solidFill>
          <a:ln xmlns:a="http://schemas.openxmlformats.org/drawingml/2006/main" w="0">
            <a:solidFill>
              <a:srgbClr val="31C9BA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0E5061-7117-4B86-80BE-13EE62436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763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GLOBAL AUTONOMOUS DRIVING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BE898D-213B-4061-AF58-40A601372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24000"/>
            <a:ext cx="9906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405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AUTONOMOUS DRIVING</a:t>
            </a:r>
          </a:p>
          <a:p xmlns:a="http://schemas.openxmlformats.org/drawingml/2006/main">
            <a:pPr>
              <a:defRPr sz="405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405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DAILY REPORT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229B9D-75B4-4704-9AF7-856C67E75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0045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D8E5E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1">
                <a:solidFill>
                  <a:srgbClr val="D8E5EE"/>
                </a:solidFill>
                <a:latin typeface="Bitstream Charter"/>
                <a:ea typeface="Bitstream Charter"/>
                <a:cs typeface="Bitstream Charter"/>
              </a:rPr>
              <a:t>Tesla Texas TNC license expires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D1DFF2-577D-43EE-8D99-A255845F3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76900"/>
            <a:ext cx="666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246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AB7C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>
                <a:solidFill>
                  <a:srgbClr val="AAB7C8"/>
                </a:solidFill>
                <a:latin typeface="Bitstream Charter"/>
                <a:ea typeface="Bitstream Charter"/>
                <a:cs typeface="Bitstream Charter"/>
              </a:rPr>
              <a:t>2026-09-24</a:t>
            </a:r>
          </a:p>
        </p:txBody>
      </p:sp>
    </p:spTree>
    <p:extLst>
      <p:ext uri="{BB962C8B-B14F-4D97-AF65-F5344CB8AC3E}">
        <p14:creationId xmlns:p14="http://schemas.microsoft.com/office/powerpoint/2010/main" val="51729246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73245A-046F-4E52-9918-674E9D065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GLOBAL AUTONOMOUS DRIVING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ECC78F-5AAE-4059-9413-50FFD2D31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839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925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rPr>
              <a:t>Tesla Texas operating-license lapse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EAE616-8906-4FF9-B457-4099A7C4D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0839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C9BA"/>
          </a:solidFill>
          <a:ln xmlns:a="http://schemas.openxmlformats.org/drawingml/2006/main" w="0">
            <a:solidFill>
              <a:srgbClr val="31C9B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30F161-C49E-4FCB-8DC6-600BABBCD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85925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NEW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5028D8-789E-4F6E-B0BD-9B04EF9C4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85925"/>
            <a:ext cx="493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B7A9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6B7A90"/>
                </a:solidFill>
                <a:latin typeface="Malgun Gothic"/>
                <a:ea typeface="Malgun Gothic"/>
                <a:cs typeface="Malgun Gothic"/>
              </a:rPr>
              <a:t>[신규]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9571A4-93BA-40BB-85E2-A979B6FCC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0"/>
            <a:ext cx="3619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333"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D9575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75" b="1">
                <a:solidFill>
                  <a:srgbClr val="D95757"/>
                </a:solidFill>
                <a:latin typeface="Bitstream Charter"/>
                <a:ea typeface="Bitstream Charter"/>
                <a:cs typeface="Bitstream Charter"/>
              </a:rPr>
              <a:t>EXPIRED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F4198B-0D85-4E39-BD65-9BE72589E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24175"/>
            <a:ext cx="3619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rPr>
              <a:t>Texas TNC license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4EFE24-B167-4430-89CF-45836633A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3905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rPr>
              <a:t>$11,250 late renewal cost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D99324-BE14-4727-B521-8B7846952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90750"/>
            <a:ext cx="638175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License expired in August 2026 while Robotaxi rides remained available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TDLR says Tesla submitted a renewal application; review is pending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TNC license governs ride-hail operations, not AV technical certification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Tesla had not responded to KXAN at publication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F3563A-4958-4188-B823-01C9CB9AB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839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rPr>
              <a:t>2026-09-24   DAILY REPORT   2</a:t>
            </a:r>
          </a:p>
        </p:txBody>
      </p:sp>
    </p:spTree>
    <p:extLst>
      <p:ext uri="{BB962C8B-B14F-4D97-AF65-F5344CB8AC3E}">
        <p14:creationId xmlns:p14="http://schemas.microsoft.com/office/powerpoint/2010/main" val="88613469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8F44E8-4E02-4356-8D06-66D9B2EC4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GLOBAL AUTONOMOUS DRIVING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836CD3-8DFB-45A0-BCCB-7CA1C1319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839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925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rPr>
              <a:t>Zoox grounds Atlanta test fleet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9C4296-ED3B-43AE-A484-0FB189FC6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0839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C9BA"/>
          </a:solidFill>
          <a:ln xmlns:a="http://schemas.openxmlformats.org/drawingml/2006/main" w="0">
            <a:solidFill>
              <a:srgbClr val="31C9B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3F3D68-36BD-4D95-A260-29A9FCD2D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85925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NEW  SAFETY INQUIRY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980AB5-CA8D-4CC8-8BFB-9267F7800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85925"/>
            <a:ext cx="493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B7A9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6B7A90"/>
                </a:solidFill>
                <a:latin typeface="Malgun Gothic"/>
                <a:ea typeface="Malgun Gothic"/>
                <a:cs typeface="Malgun Gothic"/>
              </a:rPr>
              <a:t>[신규]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B32AC6-6569-47CD-B6FD-9C2192F25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05050"/>
            <a:ext cx="3619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74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D9575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225" b="1">
                <a:solidFill>
                  <a:srgbClr val="D95757"/>
                </a:solidFill>
                <a:latin typeface="Bitstream Charter"/>
                <a:ea typeface="Bitstream Charter"/>
                <a:cs typeface="Bitstream Charter"/>
              </a:rPr>
              <a:t>Up to 40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F14804-6274-43B5-90FF-750C3EAE3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00375"/>
            <a:ext cx="3905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rPr>
              <a:t>potentially exposed workers</a:t>
            </a:r>
          </a:p>
          <a:p xmlns:a="http://schemas.openxmlformats.org/drawingml/2006/main">
            <a:pPr>
              <a:defRPr sz="16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rPr>
              <a:t>in OSHA letter reviewed by TechCrunch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EB607F-02CD-45D3-8824-39168CE9C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43125"/>
            <a:ext cx="63817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65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Workers reported odors and exposure symptoms in modified Highlander test vehicles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65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Zoox says the potentially affected count is lower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65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Atlanta test vehicles were quarantined; facility operations are limited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65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Purpose-built electric robotaxis are not affected, according to Zoox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65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Inquiry is ongoing; no final OSHA violation or penalty announced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4EEC59-DD67-46C3-BFF2-456EBEB88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839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rPr>
              <a:t>2026-09-24   DAILY REPORT   3</a:t>
            </a:r>
          </a:p>
        </p:txBody>
      </p:sp>
    </p:spTree>
    <p:extLst>
      <p:ext uri="{BB962C8B-B14F-4D97-AF65-F5344CB8AC3E}">
        <p14:creationId xmlns:p14="http://schemas.microsoft.com/office/powerpoint/2010/main" val="147903459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F5C502-CCD9-4D35-9C27-66B2AC9B8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GLOBAL AUTONOMOUS DRIVING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662D43-7475-4DD6-A889-31C248169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839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925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rPr>
              <a:t>Kodiak–PrePass enforcement link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DBDDDA-8DE5-4152-8DC6-D9B81EB94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0839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C9BA"/>
          </a:solidFill>
          <a:ln xmlns:a="http://schemas.openxmlformats.org/drawingml/2006/main" w="0">
            <a:solidFill>
              <a:srgbClr val="31C9B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6809DB-47E8-4A0E-ADB6-2BE4E2393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85925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NEW REPORT  EVENT 2026-09-21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068D25-0C5E-4840-88B7-18FC80965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85925"/>
            <a:ext cx="493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B7A9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6B7A90"/>
                </a:solidFill>
                <a:latin typeface="Malgun Gothic"/>
                <a:ea typeface="Malgun Gothic"/>
                <a:cs typeface="Malgun Gothic"/>
              </a:rPr>
              <a:t>[신규 보고]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42BC7A-E4BE-404E-97A2-22605A986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45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TX + LA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1570C0-F12E-4146-BFD6-4A46C9B08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00375"/>
            <a:ext cx="333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rPr>
              <a:t>Initial states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E50757-5B66-478E-A920-A0344451E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238375"/>
            <a:ext cx="638175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Enhanced Inspection records connect to state roadside screening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Enforcement staff can verify records, authorize bypass or issue instructions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Supports driverless trucks without driver-assisted roadside inspection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Nationwide expansion remains a plan, not a completed rollout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118D10-FC84-452D-AC8F-D1E4AF3C1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839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rPr>
              <a:t>2026-09-24   DAILY REPORT   4</a:t>
            </a:r>
          </a:p>
        </p:txBody>
      </p:sp>
    </p:spTree>
    <p:extLst>
      <p:ext uri="{BB962C8B-B14F-4D97-AF65-F5344CB8AC3E}">
        <p14:creationId xmlns:p14="http://schemas.microsoft.com/office/powerpoint/2010/main" val="107431048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3CFA20-37D4-42EA-A379-2CC7A7D78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GLOBAL AUTONOMOUS DRIVING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82B7FC-239A-4CD4-B461-1E1E0A6C9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839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925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rPr>
              <a:t>May Mobility deep dive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39AF97-0986-49A1-83F5-DCEFB9502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0839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C9BA"/>
          </a:solidFill>
          <a:ln xmlns:a="http://schemas.openxmlformats.org/drawingml/2006/main" w="0">
            <a:solidFill>
              <a:srgbClr val="31C9B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72269C-BFA3-4B8B-A413-0E5500410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85925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DUPLICATE  PRIOR REPORTS 2026-09-21, 2026-09-23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C86408-F2BD-4CA9-B7E3-2EEB4BA35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85925"/>
            <a:ext cx="493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B7A9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6B7A90"/>
                </a:solidFill>
                <a:latin typeface="Malgun Gothic"/>
                <a:ea typeface="Malgun Gothic"/>
                <a:cs typeface="Malgun Gothic"/>
              </a:rPr>
              <a:t>[중복]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9670FC-03D6-48EF-8CA9-1A6DB648A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526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rPr>
              <a:t>No new May Mobility development confirmed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931BBD-3355-4578-BA4E-7F1BDEBEF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668000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$1.4B pro forma enterprise value; $120M PIPE; transaction not closed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Three active US commercial locations: Atlanta, Grand Rapids and Eden Prairie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Company reports 550K+ commercial rides, 1.1M miles and three driver-out deployments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Atlanta launched with onboard safety operators; no new proof of full driverless conversion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MPDM simulates hundreds of futures every 200 ms, up to 10 seconds ahead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Toyota is the primary OEM partner; no direct Hyundai relationship confirmed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8016F0-9C96-46A2-8FB7-7053F80C9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839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rPr>
              <a:t>2026-09-24   DAILY REPORT   5</a:t>
            </a:r>
          </a:p>
        </p:txBody>
      </p:sp>
    </p:spTree>
    <p:extLst>
      <p:ext uri="{BB962C8B-B14F-4D97-AF65-F5344CB8AC3E}">
        <p14:creationId xmlns:p14="http://schemas.microsoft.com/office/powerpoint/2010/main" val="185618916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9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AF3D3A-3B84-4276-8DB3-C762224FA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REFERENCES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F6FA11-1C25-4BCA-94E0-C69D082B2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915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Source record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9A8692-DC5B-4FC3-BA0F-4C6E61F46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90700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01  KXAN/AOL  Tesla Texas TNC license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E48290-C80F-43B3-A7EA-F7B61D6AE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33650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02  TechCrunch  Zoox Atlanta worker exposure inquiry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6AC44F-C309-49E0-B77E-BD0B1C256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76600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03  OSHA  Chemical hazards guidance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D2FC01-A20F-4300-8D8B-0073E0C41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19550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04  PrePass and Kodiak  Enhanced Inspection integration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2B590F-E01C-4DDF-8C25-D8ACE56A0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62500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05  May Mobility  Transaction, technology, safety and locations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FFB4B6-DB1A-449D-B36B-5F35AFC3D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53125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AB7C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AAB7C8"/>
                </a:solidFill>
                <a:latin typeface="Bitstream Charter"/>
                <a:ea typeface="Bitstream Charter"/>
                <a:cs typeface="Bitstream Charter"/>
              </a:rPr>
              <a:t>Full URLs appear in the Markdown attachment and speaker notes</a:t>
            </a:r>
          </a:p>
        </p:txBody>
      </p:sp>
    </p:spTree>
    <p:extLst>
      <p:ext uri="{BB962C8B-B14F-4D97-AF65-F5344CB8AC3E}">
        <p14:creationId xmlns:p14="http://schemas.microsoft.com/office/powerpoint/2010/main" val="10204731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2026-09-23T22:41:09.0160000Z</dcterms:created>
  <dcterms:modified xsi:type="dcterms:W3CDTF">2026-09-23T22:41:09.0160000Z</dcterms:modified>
</coreProperties>
</file>