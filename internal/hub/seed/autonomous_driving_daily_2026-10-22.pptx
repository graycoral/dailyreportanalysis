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[R1] NVIDIA: https://nvidianews.nvidia.com/news/european-mobility-leaders-build-safe-vehicles-and-robotaxi-fleets-on-nvidia-hyperion</a:t>
            </a:r>
          </a:p>
          <a:p>
            <a:r>
              <a:t>[R2] Bolt: https://bolt.eu/en/blog/category/press-releases/</a:t>
            </a:r>
          </a:p>
          <a:p>
            <a:r>
              <a:t>[R3] Tesla: https://www.tesla.com/robotaxi/safety</a:t>
            </a:r>
          </a:p>
          <a:p>
            <a:r>
              <a:t>[R4] Drive Tesla: https://driveteslacanada.ca/robotaxi/tesla-robotaxi-safety-report-zero-injuries/</a:t>
            </a:r>
          </a:p>
          <a:p>
            <a:r>
              <a:t>[R5] Tesla IR: https://ir.tesla.com/press-release/tesla-releases-third-quarter-2026-financial-results</a:t>
            </a:r>
          </a:p>
          <a:p>
            <a:r>
              <a:t>[R6] Not a Tesla App: https://www.notateslaapp.com/news/4860/tesla-names-next-robotaxi-cities-shares-miles-driven-safety-data</a:t>
            </a:r>
          </a:p>
          <a:p>
            <a:r>
              <a:t>[R7] Uber: https://www.uber.com/us/en/newsroom/autonomous/</a:t>
            </a:r>
          </a:p>
          <a:p>
            <a:r>
              <a:t>[R8] Avride: https://www.avride.ai/</a:t>
            </a:r>
          </a:p>
          <a:p>
            <a:r>
              <a:t>[R9] Mobileye: https://ir.mobileye.com/news-events/news-releases</a:t>
            </a:r>
          </a:p>
          <a:p>
            <a:r>
              <a:t>[R10] 카카오모빌리티: https://www.kakaomobility.com/newsroom/news</a:t>
            </a:r>
          </a:p>
          <a:p>
            <a:r>
              <a:t>[R11] 쏘카: https://www.socarcorp.kr/blog</a:t>
            </a:r>
          </a:p>
          <a:p>
            <a:r>
              <a:t>[R12] May Mobility: https://maymobility.com/posts/type/company-news</a:t>
            </a:r>
          </a:p>
          <a:p>
            <a:r>
              <a:t>[R13] May Mobility·SEC: https://www.sec.gov/Archives/edgar/data/2111542/000121390026100367/ea030470201ex99-1.htm</a:t>
            </a:r>
          </a:p>
          <a:p>
            <a:r>
              <a:t>[R14] NTT Mobility: https://www.ntt-mobility.com/news/20260812/newsrelease-260812/</a:t>
            </a:r>
          </a:p>
          <a:p>
            <a:r>
              <a:t>[R15] May Mobility: https://maymobility.com/first-responders/frip-atlanta-georgia</a:t>
            </a:r>
          </a:p>
          <a:p>
            <a:r>
              <a:t>[R17] May Mobility·SEC: https://www.sec.gov/Archives/edgar/data/2111542/000121390026100367/ea030470201ex99-2.htm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[R1] NVIDIA: https://nvidianews.nvidia.com/news/european-mobility-leaders-build-safe-vehicles-and-robotaxi-fleets-on-nvidia-hyperion</a:t>
            </a:r>
          </a:p>
          <a:p>
            <a:r>
              <a:t>[R2] Bolt: https://bolt.eu/en/blog/category/press-releases/</a:t>
            </a:r>
          </a:p>
          <a:p>
            <a:r>
              <a:t>[R3] Tesla: https://www.tesla.com/robotaxi/safety</a:t>
            </a:r>
          </a:p>
          <a:p>
            <a:r>
              <a:t>[R4] Drive Tesla: https://driveteslacanada.ca/robotaxi/tesla-robotaxi-safety-report-zero-injuries/</a:t>
            </a:r>
          </a:p>
          <a:p>
            <a:r>
              <a:t>[R6] Not a Tesla App: https://www.notateslaapp.com/news/4860/tesla-names-next-robotaxi-cities-shares-miles-driven-safety-data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[R1] NVIDIA: https://nvidianews.nvidia.com/news/european-mobility-leaders-build-safe-vehicles-and-robotaxi-fleets-on-nvidia-hyperion</a:t>
            </a:r>
          </a:p>
          <a:p>
            <a:r>
              <a:t>[R2] Bolt: https://bolt.eu/en/blog/category/press-releases/</a:t>
            </a:r>
          </a:p>
          <a:p>
            <a:r>
              <a:t>[R3] Tesla: https://www.tesla.com/robotaxi/safety</a:t>
            </a:r>
          </a:p>
          <a:p>
            <a:r>
              <a:t>[R4] Drive Tesla: https://driveteslacanada.ca/robotaxi/tesla-robotaxi-safety-report-zero-injuries/</a:t>
            </a:r>
          </a:p>
          <a:p>
            <a:r>
              <a:t>[R6] Not a Tesla App: https://www.notateslaapp.com/news/4860/tesla-names-next-robotaxi-cities-shares-miles-driven-safety-data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[R1] NVIDIA: https://nvidianews.nvidia.com/news/european-mobility-leaders-build-safe-vehicles-and-robotaxi-fleets-on-nvidia-hyperion</a:t>
            </a:r>
          </a:p>
          <a:p>
            <a:r>
              <a:t>[R2] Bolt: https://bolt.eu/en/blog/category/press-releases/</a:t>
            </a:r>
          </a:p>
          <a:p>
            <a:r>
              <a:t>[R7] Uber: https://www.uber.com/us/en/newsroom/autonomous/</a:t>
            </a:r>
          </a:p>
          <a:p>
            <a:r>
              <a:t>[R8] Avride: https://www.avride.ai/</a:t>
            </a:r>
          </a:p>
          <a:p>
            <a:r>
              <a:t>[R9] Mobileye: https://ir.mobileye.com/news-events/news-releases</a:t>
            </a:r>
          </a:p>
          <a:p>
            <a:r>
              <a:t>[R10] 카카오모빌리티: https://www.kakaomobility.com/newsroom/news</a:t>
            </a:r>
          </a:p>
          <a:p>
            <a:r>
              <a:t>[R11] 쏘카: https://www.socarcorp.kr/blog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[R12] May Mobility: https://maymobility.com/posts/type/company-news</a:t>
            </a:r>
          </a:p>
          <a:p>
            <a:r>
              <a:t>[R13] May Mobility·SEC: https://www.sec.gov/Archives/edgar/data/2111542/000121390026100367/ea030470201ex99-1.htm</a:t>
            </a:r>
          </a:p>
          <a:p>
            <a:r>
              <a:t>[R14] NTT Mobility: https://www.ntt-mobility.com/news/20260812/newsrelease-260812/</a:t>
            </a:r>
          </a:p>
          <a:p>
            <a:r>
              <a:t>[R18] May Mobility: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[R12] May Mobility: https://maymobility.com/posts/type/company-news</a:t>
            </a:r>
          </a:p>
          <a:p>
            <a:r>
              <a:t>[R14] NTT Mobility: https://www.ntt-mobility.com/news/20260812/newsrelease-260812/</a:t>
            </a:r>
          </a:p>
          <a:p>
            <a:r>
              <a:t>[R15] May Mobility: https://maymobility.com/first-responders/frip-atlanta-georgia</a:t>
            </a:r>
          </a:p>
          <a:p>
            <a:r>
              <a:t>[R16] May Mobility: https://maymobility.com/posts/may-mobility-launches-new-av-architecture/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[R12] May Mobility: https://maymobility.com/posts/type/company-news</a:t>
            </a:r>
          </a:p>
          <a:p>
            <a:r>
              <a:t>[R13] May Mobility·SEC: https://www.sec.gov/Archives/edgar/data/2111542/000121390026100367/ea030470201ex99-1.htm</a:t>
            </a:r>
          </a:p>
          <a:p>
            <a:r>
              <a:t>[R17] May Mobility·SEC: https://www.sec.gov/Archives/edgar/data/2111542/000121390026100367/ea030470201ex99-2.htm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[R1] NVIDIA: https://nvidianews.nvidia.com/news/european-mobility-leaders-build-safe-vehicles-and-robotaxi-fleets-on-nvidia-hyperion</a:t>
            </a:r>
          </a:p>
          <a:p>
            <a:r>
              <a:t>[R3] Tesla: https://www.tesla.com/robotaxi/safety</a:t>
            </a:r>
          </a:p>
          <a:p>
            <a:r>
              <a:t>[R6] Not a Tesla App: https://www.notateslaapp.com/news/4860/tesla-names-next-robotaxi-cities-shares-miles-driven-safety-data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[R1] NVIDIA: https://nvidianews.nvidia.com/news/european-mobility-leaders-build-safe-vehicles-and-robotaxi-fleets-on-nvidia-hyperion</a:t>
            </a:r>
          </a:p>
          <a:p>
            <a:r>
              <a:t>[R7] Uber: https://www.uber.com/us/en/newsroom/autonomous/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[R1] NVIDIA: https://nvidianews.nvidia.com/news/european-mobility-leaders-build-safe-vehicles-and-robotaxi-fleets-on-nvidia-hyperion</a:t>
            </a:r>
          </a:p>
          <a:p>
            <a:r>
              <a:t>[R2] Bolt: https://bolt.eu/en/blog/category/press-releases/</a:t>
            </a:r>
          </a:p>
          <a:p>
            <a:r>
              <a:t>[R3] Tesla: https://www.tesla.com/robotaxi/safety</a:t>
            </a:r>
          </a:p>
          <a:p>
            <a:r>
              <a:t>[R4] Drive Tesla: https://driveteslacanada.ca/robotaxi/tesla-robotaxi-safety-report-zero-injuries/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[R5] Tesla IR: https://ir.tesla.com/press-release/tesla-releases-third-quarter-2026-financial-results</a:t>
            </a:r>
          </a:p>
          <a:p>
            <a:r>
              <a:t>[R6] Not a Tesla App: https://www.notateslaapp.com/news/4860/tesla-names-next-robotaxi-cities-shares-miles-driven-safety-data</a:t>
            </a:r>
          </a:p>
          <a:p>
            <a:r>
              <a:t>[R7] Uber: https://www.uber.com/us/en/newsroom/autonomous/</a:t>
            </a:r>
          </a:p>
          <a:p>
            <a:r>
              <a:t>[R8] Avride: https://www.avride.ai/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[R9] Mobileye: https://ir.mobileye.com/news-events/news-releases</a:t>
            </a:r>
          </a:p>
          <a:p>
            <a:r>
              <a:t>[R10] 카카오모빌리티: https://www.kakaomobility.com/newsroom/news</a:t>
            </a:r>
          </a:p>
          <a:p>
            <a:r>
              <a:t>[R11] 쏘카: https://www.socarcorp.kr/blog</a:t>
            </a:r>
          </a:p>
          <a:p>
            <a:r>
              <a:t>[R12] May Mobility: https://maymobility.com/posts/type/company-news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[R13] May Mobility·SEC: https://www.sec.gov/Archives/edgar/data/2111542/000121390026100367/ea030470201ex99-1.htm</a:t>
            </a:r>
          </a:p>
          <a:p>
            <a:r>
              <a:t>[R14] NTT Mobility: https://www.ntt-mobility.com/news/20260812/newsrelease-260812/</a:t>
            </a:r>
          </a:p>
          <a:p>
            <a:r>
              <a:t>[R15] May Mobility: https://maymobility.com/first-responders/frip-atlanta-georgia</a:t>
            </a:r>
          </a:p>
          <a:p>
            <a:r>
              <a:t>[R16] May Mobility: https://maymobility.com/posts/may-mobility-launches-new-av-architecture/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  <a:p>
            <a:r>
              <a:t>[R17] May Mobility·SEC: https://www.sec.gov/Archives/edgar/data/2111542/000121390026100367/ea030470201ex99-2.htm</a:t>
            </a:r>
          </a:p>
          <a:p>
            <a:r>
              <a:t>[R18] May Mobility: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mgov.net/uploadedFiles/Departments/Clerk/a20261013_Completed.pdf" TargetMode="External"/><Relationship Id="rId2" Type="http://schemas.openxmlformats.org/officeDocument/2006/relationships/hyperlink" Target="https://www.smdp.com/santa-monica-moves-toward-deal-to-park-zoox-robotaxis-at-main-library/" TargetMode="External"/><Relationship Id="rId3" Type="http://schemas.openxmlformats.org/officeDocument/2006/relationships/hyperlink" Target="https://www.notateslaapp.com/news/4844/tesla-extends-robotaxi-hours-again-now-until-midnight" TargetMode="External"/><Relationship Id="rId4" Type="http://schemas.openxmlformats.org/officeDocument/2006/relationships/hyperlink" Target="https://driveteslacanada.ca/news/tesla-cybercab-midnight-operating-hours-austin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esla.com/support/robotaxi" TargetMode="External"/><Relationship Id="rId2" Type="http://schemas.openxmlformats.org/officeDocument/2006/relationships/hyperlink" Target="https://www.uber.com/us/en/newsroom/" TargetMode="External"/><Relationship Id="rId3" Type="http://schemas.openxmlformats.org/officeDocument/2006/relationships/hyperlink" Target="https://www.avride.ai/" TargetMode="External"/><Relationship Id="rId4" Type="http://schemas.openxmlformats.org/officeDocument/2006/relationships/hyperlink" Target="https://bolt.eu/en/blog/category/autonomous-solutions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obileye.com/news/" TargetMode="External"/><Relationship Id="rId2" Type="http://schemas.openxmlformats.org/officeDocument/2006/relationships/hyperlink" Target="https://www.kakaomobility.com/newsroom/news" TargetMode="External"/><Relationship Id="rId3" Type="http://schemas.openxmlformats.org/officeDocument/2006/relationships/hyperlink" Target="https://www.socarcorp.kr/blog" TargetMode="External"/><Relationship Id="rId4" Type="http://schemas.openxmlformats.org/officeDocument/2006/relationships/hyperlink" Target="https://maymobility.com/posts/type/company-new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2111542/000121390026100367/ea030470201ex99-1.htm" TargetMode="External"/><Relationship Id="rId2" Type="http://schemas.openxmlformats.org/officeDocument/2006/relationships/hyperlink" Target="https://www.ntt-mobility.com/news/20260812/newsrelease-260812/" TargetMode="External"/><Relationship Id="rId3" Type="http://schemas.openxmlformats.org/officeDocument/2006/relationships/hyperlink" Target="https://maymobility.com/first-responders/frip-atlanta-georgia" TargetMode="External"/><Relationship Id="rId4" Type="http://schemas.openxmlformats.org/officeDocument/2006/relationships/hyperlink" Target="https://maymobility.com/posts/may-mobility-launches-new-av-architecture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2111542/000121390026100367/ea030470201ex99-2.htm" TargetMode="External"/><Relationship Id="rId2" Type="http://schemas.openxmlformats.org/officeDocument/2006/relationships/hyperlink" Target="https://www.sec.gov/Archives/edgar/data/2111542/000121390026100367/ea030470201ex99-2.ht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2026-10-22 · Bolt·NVIDIA 마드리드 L4 검증·Tesla 안전보고</a:t>
            </a:r>
            <a:endParaRPr lang="en-US" sz="1500" dirty="0"/>
          </a:p>
        </p:txBody>
      </p:sp>
      <p:sp>
        <p:nvSpPr>
          <p:cNvPr id="1030" name="Bullet marker 1-1"/>
          <p:cNvSpPr txBox="1"/>
          <p:nvPr/>
        </p:nvSpPr>
        <p:spPr>
          <a:xfrm>
            <a:off x="419100" y="116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31" name="Bullet text 1-1"/>
          <p:cNvSpPr txBox="1"/>
          <p:nvPr/>
        </p:nvSpPr>
        <p:spPr>
          <a:xfrm>
            <a:off x="685800" y="1160000"/>
            <a:ext cx="8229600" cy="49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[신규·계획] Bolt: Alpamayo Stack을 선정했고, 규제 승인을 전제로 2027년 Madrid 실도로 데이터 수집을 계획했다. [R1][R2]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32" name="Bullet marker 1-2"/>
          <p:cNvSpPr txBox="1"/>
          <p:nvPr/>
        </p:nvSpPr>
        <p:spPr>
          <a:xfrm>
            <a:off x="419100" y="1696666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33" name="Bullet text 1-2"/>
          <p:cNvSpPr txBox="1"/>
          <p:nvPr/>
        </p:nvSpPr>
        <p:spPr>
          <a:xfrm>
            <a:off x="685800" y="1696666"/>
            <a:ext cx="8229600" cy="49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[신규·공식 공개] Tesla: 안전요원 없는 운행을 집계한 첫 Robotaxi Safety Report를 공개했다. 고정 집계는 3,112,541마일이다. [R3][R4]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34" name="Bullet marker 1-3"/>
          <p:cNvSpPr txBox="1"/>
          <p:nvPr/>
        </p:nvSpPr>
        <p:spPr>
          <a:xfrm>
            <a:off x="419100" y="223333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35" name="Bullet text 1-3"/>
          <p:cNvSpPr txBox="1"/>
          <p:nvPr/>
        </p:nvSpPr>
        <p:spPr>
          <a:xfrm>
            <a:off x="685800" y="2233332"/>
            <a:ext cx="8229600" cy="49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[신규·계획] Tesla: 운전석·안전요원 없는 Cybercab의 11월 Dallas 투입 계획을 밝혔다. [R5][R6]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36" name="Bullet marker 1-4"/>
          <p:cNvSpPr txBox="1"/>
          <p:nvPr/>
        </p:nvSpPr>
        <p:spPr>
          <a:xfrm>
            <a:off x="419100" y="276999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37" name="Bullet text 1-4"/>
          <p:cNvSpPr txBox="1"/>
          <p:nvPr/>
        </p:nvSpPr>
        <p:spPr>
          <a:xfrm>
            <a:off x="685800" y="2769998"/>
            <a:ext cx="8229600" cy="49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구분: Bolt는 개발·검증 계획이며 상용·무인 개시가 아니다. Tesla 수치는 회사 자체 정의에 따른 공개치다. [R1][R3]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38" name="Bullet marker 1-5"/>
          <p:cNvSpPr txBox="1"/>
          <p:nvPr/>
        </p:nvSpPr>
        <p:spPr>
          <a:xfrm>
            <a:off x="419100" y="3306664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39" name="Bullet text 1-5"/>
          <p:cNvSpPr txBox="1"/>
          <p:nvPr/>
        </p:nvSpPr>
        <p:spPr>
          <a:xfrm>
            <a:off x="685800" y="3306664"/>
            <a:ext cx="8229600" cy="49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6개사: Uber·Bolt만 신규 확인. Avride·Mobileye·카카오모빌리티·쏘카는 신규 확인 사항 없음. [R1][R7][R8][R9][R10][R11]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40" name="Bullet marker 1-6"/>
          <p:cNvSpPr txBox="1"/>
          <p:nvPr/>
        </p:nvSpPr>
        <p:spPr>
          <a:xfrm>
            <a:off x="419100" y="384333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41" name="Bullet text 1-6"/>
          <p:cNvSpPr txBox="1"/>
          <p:nvPr/>
        </p:nvSpPr>
        <p:spPr>
          <a:xfrm>
            <a:off x="685800" y="3843330"/>
            <a:ext cx="8229600" cy="491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[중복] · 이전 보고 2026-10-21: 신규 확인 사항 없음. 서비스·안전요원·실적·SPAC을 재점검했다. [R12][R13][R14][R15][R17]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42" name="Footer 1"/>
          <p:cNvSpPr txBox="1"/>
          <p:nvPr/>
        </p:nvSpPr>
        <p:spPr>
          <a:xfrm>
            <a:off x="438150" y="4590000"/>
            <a:ext cx="8350000" cy="33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기준: 2026-10-22 한국시간 아침. 이전 발송본과 대조해 동일 사건·수치의 재보도를 제외했다.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신규 업데이트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[신규] Bolt·NVIDIA 검증 계획 / Tesla 안전 공개</a:t>
            </a:r>
            <a:endParaRPr lang="en-US" sz="1500" dirty="0"/>
          </a:p>
        </p:txBody>
      </p:sp>
      <p:sp>
        <p:nvSpPr>
          <p:cNvPr id="1060" name="Bullet marker 2-1"/>
          <p:cNvSpPr txBox="1"/>
          <p:nvPr/>
        </p:nvSpPr>
        <p:spPr>
          <a:xfrm>
            <a:off x="419100" y="122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61" name="Bullet text 2-1"/>
          <p:cNvSpPr txBox="1"/>
          <p:nvPr/>
        </p:nvSpPr>
        <p:spPr>
          <a:xfrm>
            <a:off x="685800" y="122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발표일 2026-10-21 · Bolt·NVIDIA·Madrid: Bolt는 Lucid의 향후 Hyperion 기반 차량부터 Alpamayo Stack을 적용하고, 유럽 도로용 소프트웨어를 NVIDIA와 공동 조정할 계획이다. [R1][R2]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62" name="Bullet marker 2-2"/>
          <p:cNvSpPr txBox="1"/>
          <p:nvPr/>
        </p:nvSpPr>
        <p:spPr>
          <a:xfrm>
            <a:off x="419100" y="1886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63" name="Bullet text 2-2"/>
          <p:cNvSpPr txBox="1"/>
          <p:nvPr/>
        </p:nvSpPr>
        <p:spPr>
          <a:xfrm>
            <a:off x="685800" y="1886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예정 시점: 2027년 Madrid 실도로 데이터 수집은 규제 승인 조건이다. Germany는 이후 배치 우선 지역으로 제시됐지만 상용 개시일·허가·차량 수는 공개되지 않았다. [R1]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64" name="Bullet marker 2-3"/>
          <p:cNvSpPr txBox="1"/>
          <p:nvPr/>
        </p:nvSpPr>
        <p:spPr>
          <a:xfrm>
            <a:off x="419100" y="2552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65" name="Bullet text 2-3"/>
          <p:cNvSpPr txBox="1"/>
          <p:nvPr/>
        </p:nvSpPr>
        <p:spPr>
          <a:xfrm>
            <a:off x="685800" y="2552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Tesla 공개일 2026-10-21: 공식 보고서는 안전요원이 없고 원격 지원 또는 원격 제어가 있었던 자율주행까지 집계하며, 2026년 1월 22일~10월 18일을 고정 결과 구간으로 삼는다. [R3]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66" name="Bullet marker 2-4"/>
          <p:cNvSpPr txBox="1"/>
          <p:nvPr/>
        </p:nvSpPr>
        <p:spPr>
          <a:xfrm>
            <a:off x="419100" y="3218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67" name="Bullet text 2-4"/>
          <p:cNvSpPr txBox="1"/>
          <p:nvPr/>
        </p:nvSpPr>
        <p:spPr>
          <a:xfrm>
            <a:off x="685800" y="3218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 수치: 3,112,541마일이며 Austin 2,118,015마일, Dallas 608,130마일, Houston 225,964마일 등 6개 도시를 포함한다. [R4][R6]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68" name="Bullet marker 2-5"/>
          <p:cNvSpPr txBox="1"/>
          <p:nvPr/>
        </p:nvSpPr>
        <p:spPr>
          <a:xfrm>
            <a:off x="419100" y="3884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69" name="Bullet text 2-5"/>
          <p:cNvSpPr txBox="1"/>
          <p:nvPr/>
        </p:nvSpPr>
        <p:spPr>
          <a:xfrm>
            <a:off x="685800" y="3884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한계: Tesla의 ‘부상자 0’은 Robotaxi가 최초 접촉한 충돌만 포함하고, 사람 운전자 비교는 Texas 경찰 자료 기반이다. 전체 충돌 0을 의미하지 않는다. [R3]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기업/지역별 상세 내용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Bolt·Madrid / Tesla·미국</a:t>
            </a:r>
            <a:endParaRPr lang="en-US" sz="1500" dirty="0"/>
          </a:p>
        </p:txBody>
      </p:sp>
      <p:sp>
        <p:nvSpPr>
          <p:cNvPr id="1090" name="Bullet marker 3-1"/>
          <p:cNvSpPr txBox="1"/>
          <p:nvPr/>
        </p:nvSpPr>
        <p:spPr>
          <a:xfrm>
            <a:off x="419100" y="122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91" name="Bullet text 3-1"/>
          <p:cNvSpPr txBox="1"/>
          <p:nvPr/>
        </p:nvSpPr>
        <p:spPr>
          <a:xfrm>
            <a:off x="685800" y="122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Bolt 기술 범위: Alpamayo를 Lucid부터 적용하고 여러 제조사 차량으로 넓힐 계획이다. 기존 2만5천대 Lucid 계획과 오늘의 신규 스택 선정을 구분한다. [R1][R2]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92" name="Bullet marker 3-2"/>
          <p:cNvSpPr txBox="1"/>
          <p:nvPr/>
        </p:nvSpPr>
        <p:spPr>
          <a:xfrm>
            <a:off x="419100" y="1886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93" name="Bullet text 3-2"/>
          <p:cNvSpPr txBox="1"/>
          <p:nvPr/>
        </p:nvSpPr>
        <p:spPr>
          <a:xfrm>
            <a:off x="685800" y="1886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Bolt 운영 단계: 2027년 Madrid 실도로 데이터 수집 계획이며 승객 영업이 아니다. 안전요원과 무인 전환 일정은 미공개다. [R1]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94" name="Bullet marker 3-3"/>
          <p:cNvSpPr txBox="1"/>
          <p:nvPr/>
        </p:nvSpPr>
        <p:spPr>
          <a:xfrm>
            <a:off x="419100" y="2552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95" name="Bullet text 3-3"/>
          <p:cNvSpPr txBox="1"/>
          <p:nvPr/>
        </p:nvSpPr>
        <p:spPr>
          <a:xfrm>
            <a:off x="685800" y="2552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Tesla 운행 범위: 6개 도시의 안전요원 없는 구간을 집계했다. Bay Area 안전운전자 운행은 제외했다. [R3][R6]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96" name="Bullet marker 3-4"/>
          <p:cNvSpPr txBox="1"/>
          <p:nvPr/>
        </p:nvSpPr>
        <p:spPr>
          <a:xfrm>
            <a:off x="419100" y="3218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97" name="Bullet text 3-4"/>
          <p:cNvSpPr txBox="1"/>
          <p:nvPr/>
        </p:nvSpPr>
        <p:spPr>
          <a:xfrm>
            <a:off x="685800" y="3218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Tesla Dallas: 11월 계획은 목적형 Cybercab 투입이다. 기존 Dallas Model Y 무인 서비스와 구분한다. [R6]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098" name="Bullet marker 3-5"/>
          <p:cNvSpPr txBox="1"/>
          <p:nvPr/>
        </p:nvSpPr>
        <p:spPr>
          <a:xfrm>
            <a:off x="419100" y="3884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099" name="Bullet text 3-5"/>
          <p:cNvSpPr txBox="1"/>
          <p:nvPr/>
        </p:nvSpPr>
        <p:spPr>
          <a:xfrm>
            <a:off x="685800" y="3884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예정 도시: Las Vegas·Jacksonville·Phoenix·San Antonio는 개시일과 초기 안전요원 조건이 공개되지 않았다. [R4][R6]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24003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6개사 L4 점검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38150" y="1196727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38150" y="1574304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38150" y="1951881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38150" y="2329458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38150" y="2707035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8150" y="3084612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8150" y="3462189"/>
            <a:ext cx="84582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38150" y="3628876"/>
            <a:ext cx="858812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graphicFrame>
        <p:nvGraphicFramePr>
          <p:cNvPr id="904" name="Editable source table"/>
          <p:cNvGraphicFramePr/>
          <p:nvPr/>
        </p:nvGraphicFramePr>
        <p:xfrm>
          <a:off x="438150" y="823912"/>
          <a:ext cx="8458200" cy="2643039"/>
        </p:xfrm>
        <a:graphic>
          <a:graphicData uri="http://schemas.openxmlformats.org/drawingml/2006/main/table">
            <a:tbl>
              <a:tblPr firstRow="1" bandRow="0"/>
              <a:tblGrid>
                <a:gridCol w="1966168"/>
                <a:gridCol w="2964954"/>
                <a:gridCol w="3527078"/>
              </a:tblGrid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기업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이전 보고 이후 확인 결과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점검 출처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Uber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[신규·개발] NVIDIA와 Cosmos 기반 AV 데이터 팩토리 개발. 서비스 지역·무인 단계 변화는 미확인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NVIDIA·공식 뉴스룸 [R1][R7]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Avride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홈페이지 [R8]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Bolt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[신규·계획] Alpamayo 선정, Madrid 2027 데이터 수집 계획. 상용·무인 개시 아님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Bolt·NVIDIA [R1][R2]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Mobileye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News Releases [R9]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카카오모빌리티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뉴스룸 [R10]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쏘카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신규 확인 사항 없음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l" indent="0" marL="0">
                        <a:buNone/>
                      </a:pPr>
                      <a:r>
                        <a:rPr lang="en-US" sz="1275" dirty="0">
                          <a:solidFill>
                            <a:srgbClr val="20304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공식 블로그 [R11]</a:t>
                      </a:r>
                      <a:endParaRPr lang="en-US" sz="1275" dirty="0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2026-10-21 · 신규 확인 사항 없음</a:t>
            </a:r>
            <a:endParaRPr lang="en-US" sz="1500" dirty="0"/>
          </a:p>
        </p:txBody>
      </p:sp>
      <p:sp>
        <p:nvSpPr>
          <p:cNvPr id="705" name="Subheading 5"/>
          <p:cNvSpPr txBox="1"/>
          <p:nvPr/>
        </p:nvSpPr>
        <p:spPr>
          <a:xfrm>
            <a:off x="438150" y="1243013"/>
            <a:ext cx="82000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실제 서비스 지역</a:t>
            </a:r>
            <a:endParaRPr lang="en-US" sz="1500" dirty="0"/>
          </a:p>
        </p:txBody>
      </p:sp>
      <p:sp>
        <p:nvSpPr>
          <p:cNvPr id="1150" name="Bullet marker 5-1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51" name="Bullet text 5-1"/>
          <p:cNvSpPr txBox="1"/>
          <p:nvPr/>
        </p:nvSpPr>
        <p:spPr>
          <a:xfrm>
            <a:off x="685800" y="156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 상용: 9월 16일 SEC 발표는 Atlanta, Eden Prairie, Grand Rapids(Minnesota)를 현재 상업 운영 지역으로 명시한다. 오늘 신규 개시한 지역은 아니다. [R13]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152" name="Bullet marker 5-2"/>
          <p:cNvSpPr txBox="1"/>
          <p:nvPr/>
        </p:nvSpPr>
        <p:spPr>
          <a:xfrm>
            <a:off x="419100" y="232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53" name="Bullet text 5-2"/>
          <p:cNvSpPr txBox="1"/>
          <p:nvPr/>
        </p:nvSpPr>
        <p:spPr>
          <a:xfrm>
            <a:off x="685800" y="232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Arlington·Uber: 2026년 4분기~2027년 1분기 개시 목표다. 이번 점검에서 실제 개시 달성을 추가 확인하지 못했다. [R12][R13]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154" name="Bullet marker 5-3"/>
          <p:cNvSpPr txBox="1"/>
          <p:nvPr/>
        </p:nvSpPr>
        <p:spPr>
          <a:xfrm>
            <a:off x="419100" y="308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55" name="Bullet text 5-3"/>
          <p:cNvSpPr txBox="1"/>
          <p:nvPr/>
        </p:nvSpPr>
        <p:spPr>
          <a:xfrm>
            <a:off x="685800" y="308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나고야: 2026년 9월 11일~2027년 3월 19일 평일 실증이며, 차량 3대와 승하차 지점 5곳을 운영 설계로 제시한다. [R14]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156" name="Bullet marker 5-4"/>
          <p:cNvSpPr txBox="1"/>
          <p:nvPr/>
        </p:nvSpPr>
        <p:spPr>
          <a:xfrm>
            <a:off x="419100" y="384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57" name="Bullet text 5-4"/>
          <p:cNvSpPr txBox="1"/>
          <p:nvPr/>
        </p:nvSpPr>
        <p:spPr>
          <a:xfrm>
            <a:off x="685800" y="384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e-Palette: NTT Mobility와 May Mobility는 공공도로 배치 및 향후 운전석 무인 L4를 목표로 발표했다. 오늘 실제 무인 상용 개시를 확인한 것은 아니다. [R18]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38150" y="823913"/>
            <a:ext cx="8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2026-10-21 · 신규 확인 사항 없음</a:t>
            </a:r>
            <a:endParaRPr lang="en-US" sz="1500" dirty="0"/>
          </a:p>
        </p:txBody>
      </p:sp>
      <p:sp>
        <p:nvSpPr>
          <p:cNvPr id="706" name="Subheading 6"/>
          <p:cNvSpPr txBox="1"/>
          <p:nvPr/>
        </p:nvSpPr>
        <p:spPr>
          <a:xfrm>
            <a:off x="438150" y="1243013"/>
            <a:ext cx="82000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안전요원·무인 수준 / 기술·ODD</a:t>
            </a:r>
            <a:endParaRPr lang="en-US" sz="1500" dirty="0"/>
          </a:p>
        </p:txBody>
      </p:sp>
      <p:sp>
        <p:nvSpPr>
          <p:cNvPr id="1180" name="Bullet marker 6-1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81" name="Bullet text 6-1"/>
          <p:cNvSpPr txBox="1"/>
          <p:nvPr/>
        </p:nvSpPr>
        <p:spPr>
          <a:xfrm>
            <a:off x="685800" y="156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Atlanta: 공식 긴급대응 지침은 Midtown Toyota Sienna의 운전석 Safety Operator 탑승을 명시한다. [R15]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182" name="Bullet marker 6-2"/>
          <p:cNvSpPr txBox="1"/>
          <p:nvPr/>
        </p:nvSpPr>
        <p:spPr>
          <a:xfrm>
            <a:off x="419100" y="232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83" name="Bullet text 6-2"/>
          <p:cNvSpPr txBox="1"/>
          <p:nvPr/>
        </p:nvSpPr>
        <p:spPr>
          <a:xfrm>
            <a:off x="685800" y="232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나고야: NTT 안내는 향후 승무원 없는 L4 운행을 상정한 실증이다. 현재 운전석 무인 허가·운행 달성을 뜻하지 않는다. [R14]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184" name="Bullet marker 6-3"/>
          <p:cNvSpPr txBox="1"/>
          <p:nvPr/>
        </p:nvSpPr>
        <p:spPr>
          <a:xfrm>
            <a:off x="419100" y="308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85" name="Bullet text 6-3"/>
          <p:cNvSpPr txBox="1"/>
          <p:nvPr/>
        </p:nvSpPr>
        <p:spPr>
          <a:xfrm>
            <a:off x="685800" y="308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5세대 기술: 딥러닝, 예측 월드 모델과 추론 엔진을 차량 내에서 결합한다는 회사 발표다. 지역별 허가나 안전요원 제거 실적과 구분한다. [R16]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186" name="Bullet marker 6-4"/>
          <p:cNvSpPr txBox="1"/>
          <p:nvPr/>
        </p:nvSpPr>
        <p:spPr>
          <a:xfrm>
            <a:off x="419100" y="384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187" name="Bullet text 6-4"/>
          <p:cNvSpPr txBox="1"/>
          <p:nvPr/>
        </p:nvSpPr>
        <p:spPr>
          <a:xfrm>
            <a:off x="685800" y="384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ODD 한계: 최신 속도·기상·도로별 전체 ODD와 추가 안전요원 철수는 공개자료에서 확인하지 못했다. [R12][R14][R15][R16]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May Mobility 심층 점검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823913"/>
            <a:ext cx="8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[중복] 이전 보고 2026-10-21 · 신규 확인 사항 없음</a:t>
            </a:r>
            <a:endParaRPr lang="en-US" sz="1500" dirty="0"/>
          </a:p>
        </p:txBody>
      </p:sp>
      <p:sp>
        <p:nvSpPr>
          <p:cNvPr id="707" name="Subheading 7"/>
          <p:cNvSpPr txBox="1"/>
          <p:nvPr/>
        </p:nvSpPr>
        <p:spPr>
          <a:xfrm>
            <a:off x="438150" y="1243013"/>
            <a:ext cx="82000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차량·운영 실적 / ④ 투자·SPAC 일정</a:t>
            </a:r>
            <a:endParaRPr lang="en-US" sz="1500" dirty="0"/>
          </a:p>
        </p:txBody>
      </p:sp>
      <p:sp>
        <p:nvSpPr>
          <p:cNvPr id="1210" name="Bullet marker 7-1"/>
          <p:cNvSpPr txBox="1"/>
          <p:nvPr/>
        </p:nvSpPr>
        <p:spPr>
          <a:xfrm>
            <a:off x="419100" y="156686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11" name="Bullet text 7-1"/>
          <p:cNvSpPr txBox="1"/>
          <p:nvPr/>
        </p:nvSpPr>
        <p:spPr>
          <a:xfrm>
            <a:off x="685800" y="1566862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실적: 9월 16일 기준 상업 승차 55만 회 초과, 110만 마일, driver-out 배치 3건이다. 현재 모든 지역이 무인이라는 뜻은 아니다. [R13]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12" name="Bullet marker 7-2"/>
          <p:cNvSpPr txBox="1"/>
          <p:nvPr/>
        </p:nvSpPr>
        <p:spPr>
          <a:xfrm>
            <a:off x="419100" y="2183489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13" name="Bullet text 7-2"/>
          <p:cNvSpPr txBox="1"/>
          <p:nvPr/>
        </p:nvSpPr>
        <p:spPr>
          <a:xfrm>
            <a:off x="685800" y="2183489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AaaS: 파트너가 차량 소유·차고 운영·유지보수를 맡고 May Mobility가 자율주행 기술을 제공하는 모델을 제시한다. [R13][R17]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14" name="Bullet marker 7-3"/>
          <p:cNvSpPr txBox="1"/>
          <p:nvPr/>
        </p:nvSpPr>
        <p:spPr>
          <a:xfrm>
            <a:off x="419100" y="2800116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15" name="Bullet text 7-3"/>
          <p:cNvSpPr txBox="1"/>
          <p:nvPr/>
        </p:nvSpPr>
        <p:spPr>
          <a:xfrm>
            <a:off x="685800" y="2800116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SPAC 발표값: 기업가치 약 14억 달러, 최대 조달 3억3,700만 달러, PIPE 1억2,000만 달러이며 환매·종결 조건의 영향을 받는다. [R13]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16" name="Bullet marker 7-4"/>
          <p:cNvSpPr txBox="1"/>
          <p:nvPr/>
        </p:nvSpPr>
        <p:spPr>
          <a:xfrm>
            <a:off x="419100" y="341674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17" name="Bullet text 7-4"/>
          <p:cNvSpPr txBox="1"/>
          <p:nvPr/>
        </p:nvSpPr>
        <p:spPr>
          <a:xfrm>
            <a:off x="685800" y="3416743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종결 목표: 투자자 자료는 2027년 1분기다. 합병·상장 완료는 추가 확인하지 못했다. [R12][R13][R17]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18" name="Bullet marker 7-5"/>
          <p:cNvSpPr txBox="1"/>
          <p:nvPr/>
        </p:nvSpPr>
        <p:spPr>
          <a:xfrm>
            <a:off x="419100" y="403337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19" name="Bullet text 7-5"/>
          <p:cNvSpPr txBox="1"/>
          <p:nvPr/>
        </p:nvSpPr>
        <p:spPr>
          <a:xfrm>
            <a:off x="685800" y="403337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현대자동차: 신규 직접 계약·차량 적용 근거는 확인되지 않았다. [R13]</a:t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7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규제·안전</a:t>
            </a:r>
            <a:endParaRPr lang="en-US" sz="2250" dirty="0"/>
          </a:p>
        </p:txBody>
      </p:sp>
      <p:sp>
        <p:nvSpPr>
          <p:cNvPr id="1240" name="Bullet marker 8-1"/>
          <p:cNvSpPr txBox="1"/>
          <p:nvPr/>
        </p:nvSpPr>
        <p:spPr>
          <a:xfrm>
            <a:off x="419100" y="122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41" name="Bullet text 8-1"/>
          <p:cNvSpPr txBox="1"/>
          <p:nvPr/>
        </p:nvSpPr>
        <p:spPr>
          <a:xfrm>
            <a:off x="685800" y="122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Bolt: Madrid 실도로 데이터 수집은 규제 승인 조건이다. 독일 우선 배치도 계획 단계이며 허가·무인 상용 운행 달성으로 해석하지 않는다. [R1]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42" name="Bullet marker 8-2"/>
          <p:cNvSpPr txBox="1"/>
          <p:nvPr/>
        </p:nvSpPr>
        <p:spPr>
          <a:xfrm>
            <a:off x="419100" y="198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43" name="Bullet text 8-2"/>
          <p:cNvSpPr txBox="1"/>
          <p:nvPr/>
        </p:nvSpPr>
        <p:spPr>
          <a:xfrm>
            <a:off x="685800" y="198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Tesla 집계 정의: 안전요원 없는 상태에서 ADS가 충돌 전 30초 내 작동한 모든 NHTSA SGO 보고 충돌을 포함하며, 원격 지원·원격 제어 구간도 포함한다. [R3]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44" name="Bullet marker 8-3"/>
          <p:cNvSpPr txBox="1"/>
          <p:nvPr/>
        </p:nvSpPr>
        <p:spPr>
          <a:xfrm>
            <a:off x="419100" y="274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45" name="Bullet text 8-3"/>
          <p:cNvSpPr txBox="1"/>
          <p:nvPr/>
        </p:nvSpPr>
        <p:spPr>
          <a:xfrm>
            <a:off x="685800" y="274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Tesla 지표 한계: ‘부상자’와 보행자·자전거 충돌은 Robotaxi가 최초 접촉한 경우로 정의한다. 사람 운전자 벤치마크는 최초 접촉 여부를 구분하지 못해 직접 비교에 한계가 있다. [R3]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46" name="Bullet marker 8-4"/>
          <p:cNvSpPr txBox="1"/>
          <p:nvPr/>
        </p:nvSpPr>
        <p:spPr>
          <a:xfrm>
            <a:off x="419100" y="350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47" name="Bullet text 8-4"/>
          <p:cNvSpPr txBox="1"/>
          <p:nvPr/>
        </p:nvSpPr>
        <p:spPr>
          <a:xfrm>
            <a:off x="685800" y="350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미확인: Bolt의 Madrid 안전요원 구성과 Tesla 신규 4개 도시의 개시일·초기 안전요원 조건은 공개되지 않았다. [R1][R6]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3862" y="285750"/>
            <a:ext cx="50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기술·공급망</a:t>
            </a:r>
            <a:endParaRPr lang="en-US" sz="2250" dirty="0"/>
          </a:p>
        </p:txBody>
      </p:sp>
      <p:sp>
        <p:nvSpPr>
          <p:cNvPr id="1270" name="Bullet marker 9-1"/>
          <p:cNvSpPr txBox="1"/>
          <p:nvPr/>
        </p:nvSpPr>
        <p:spPr>
          <a:xfrm>
            <a:off x="419100" y="122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71" name="Bullet text 9-1"/>
          <p:cNvSpPr txBox="1"/>
          <p:nvPr/>
        </p:nvSpPr>
        <p:spPr>
          <a:xfrm>
            <a:off x="685800" y="122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Alpamayo 2 Edge: NVIDIA는 Cosmos 기반 20억 파라미터 추론 모델을 DRIVE AGX Thor에서 10Hz로 동작하도록 설계했다고 밝혔다. [R1]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72" name="Bullet marker 9-2"/>
          <p:cNvSpPr txBox="1"/>
          <p:nvPr/>
        </p:nvSpPr>
        <p:spPr>
          <a:xfrm>
            <a:off x="419100" y="198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73" name="Bullet text 9-2"/>
          <p:cNvSpPr txBox="1"/>
          <p:nvPr/>
        </p:nvSpPr>
        <p:spPr>
          <a:xfrm>
            <a:off x="685800" y="198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Halos SAFE: 시뮬레이션, 소프트웨어·하드웨어 인더루프 평가, 도로 시험과 차량군 모니터링을 연결해 추적 가능한 안전 근거를 만드는 평가 체계다. [R1]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74" name="Bullet marker 9-3"/>
          <p:cNvSpPr txBox="1"/>
          <p:nvPr/>
        </p:nvSpPr>
        <p:spPr>
          <a:xfrm>
            <a:off x="419100" y="274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75" name="Bullet text 9-3"/>
          <p:cNvSpPr txBox="1"/>
          <p:nvPr/>
        </p:nvSpPr>
        <p:spPr>
          <a:xfrm>
            <a:off x="685800" y="274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Uber·NVIDIA: Cosmos 기반 데이터 팩토리로 AV 개발 데이터를 선별·처리한다. 오늘 확인된 변화는 개발 인프라 협력이며 신규 무인 서비스 개시는 아니다. [R1][R7]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  <p:sp>
        <p:nvSpPr>
          <p:cNvPr id="1276" name="Bullet marker 9-4"/>
          <p:cNvSpPr txBox="1"/>
          <p:nvPr/>
        </p:nvSpPr>
        <p:spPr>
          <a:xfrm>
            <a:off x="419100" y="350000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500" dirty="0"/>
          </a:p>
        </p:txBody>
      </p:sp>
      <p:sp>
        <p:nvSpPr>
          <p:cNvPr id="1277" name="Bullet text 9-4"/>
          <p:cNvSpPr txBox="1"/>
          <p:nvPr/>
        </p:nvSpPr>
        <p:spPr>
          <a:xfrm>
            <a:off x="685800" y="3500000"/>
            <a:ext cx="8229600" cy="5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OEM 통합 계획: Bolt와 NVIDIA는 Lucid부터 시작해 여러 제조사 차량으로 통합 범위를 넓힌다고 발표했다. 구체 OEM·양산 계약·배치 수는 미공개다. [R1]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b="0" dirty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pPr algn="l" indent="0" marL="0">
              <a:lnSpc>
                <a:spcPts val="2250"/>
              </a:lnSpc>
              <a:buNone/>
            </a:pPr>
            <a:r>
              <a:rPr lang="en-US" sz="150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ns3="http://schemas.microsoft.com/office/drawing/2018/hyperlinkcolor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Reference title 10"/>
          <p:cNvSpPr txBox="1"/>
          <p:nvPr/>
        </p:nvSpPr>
        <p:spPr>
          <a:xfrm>
            <a:off x="423862" y="285750"/>
            <a:ext cx="18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1601" name="Reference subtitle 10"/>
          <p:cNvSpPr txBox="1"/>
          <p:nvPr/>
        </p:nvSpPr>
        <p:spPr>
          <a:xfrm>
            <a:off x="438150" y="823913"/>
            <a:ext cx="15000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1–4</a:t>
            </a:r>
            <a:endParaRPr lang="en-US" sz="1500" dirty="0"/>
          </a:p>
        </p:txBody>
      </p:sp>
      <p:sp>
        <p:nvSpPr>
          <p:cNvPr id="1700" name="Reference marker 10-1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01" name="Reference text 10-1"/>
          <p:cNvSpPr txBox="1"/>
          <p:nvPr/>
        </p:nvSpPr>
        <p:spPr>
          <a:xfrm>
            <a:off x="611386" y="126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[R1] NVIDIA, European Mobility Leaders Build Safe Vehicles and Robotaxi Fleets on NVIDIA Hyperion, 2026-10-21: https://nvidianews.nvidia.com/news/european-mobility-leaders-build-safe-vehicles-and-robotaxi-fleets-on-nvidia-hyperion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02" name="Reference marker 10-2"/>
          <p:cNvSpPr txBox="1"/>
          <p:nvPr/>
        </p:nvSpPr>
        <p:spPr>
          <a:xfrm>
            <a:off x="424726" y="182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03" name="Reference text 10-2"/>
          <p:cNvSpPr txBox="1"/>
          <p:nvPr/>
        </p:nvSpPr>
        <p:spPr>
          <a:xfrm>
            <a:off x="611386" y="182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[R2] Bolt, Press Releases: Bolt picks NVIDIA Alpamayo Stack to drive its autonomous vehicles across Europe, 2026-10-21: https://bolt.eu/en/blog/category/press-releases/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04" name="Reference marker 10-3"/>
          <p:cNvSpPr txBox="1"/>
          <p:nvPr/>
        </p:nvSpPr>
        <p:spPr>
          <a:xfrm>
            <a:off x="424726" y="238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05" name="Reference text 10-3"/>
          <p:cNvSpPr txBox="1"/>
          <p:nvPr/>
        </p:nvSpPr>
        <p:spPr>
          <a:xfrm>
            <a:off x="611386" y="238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[R3] Tesla, Robotaxi Safety Report, 2026-10-21 확인: https://www.tesla.com/robotaxi/safety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06" name="Reference marker 10-4"/>
          <p:cNvSpPr txBox="1"/>
          <p:nvPr/>
        </p:nvSpPr>
        <p:spPr>
          <a:xfrm>
            <a:off x="424726" y="294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07" name="Reference text 10-4"/>
          <p:cNvSpPr txBox="1"/>
          <p:nvPr/>
        </p:nvSpPr>
        <p:spPr>
          <a:xfrm>
            <a:off x="611386" y="294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[R4] Drive Tesla, Tesla Launches Robotaxi Safety Report, Claims Zero Injuries Over 3.1 Million Autonomous Miles, 2026-10-21: https://driveteslacanada.ca/robotaxi/tesla-robotaxi-safety-report-zero-injuries/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ns3="http://schemas.microsoft.com/office/drawing/2018/hyperlinkcolor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Reference title 11"/>
          <p:cNvSpPr txBox="1"/>
          <p:nvPr/>
        </p:nvSpPr>
        <p:spPr>
          <a:xfrm>
            <a:off x="423862" y="285750"/>
            <a:ext cx="18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1621" name="Reference subtitle 11"/>
          <p:cNvSpPr txBox="1"/>
          <p:nvPr/>
        </p:nvSpPr>
        <p:spPr>
          <a:xfrm>
            <a:off x="438150" y="823913"/>
            <a:ext cx="15000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5–8</a:t>
            </a:r>
            <a:endParaRPr lang="en-US" sz="1500" dirty="0"/>
          </a:p>
        </p:txBody>
      </p:sp>
      <p:sp>
        <p:nvSpPr>
          <p:cNvPr id="1720" name="Reference marker 11-1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21" name="Reference text 11-1"/>
          <p:cNvSpPr txBox="1"/>
          <p:nvPr/>
        </p:nvSpPr>
        <p:spPr>
          <a:xfrm>
            <a:off x="611386" y="126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[R5] Tesla IR, Tesla Releases Third Quarter 2026 Financial Results, 2026-10-21: https://ir.tesla.com/press-release/tesla-releases-third-quarter-2026-financial-results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22" name="Reference marker 11-2"/>
          <p:cNvSpPr txBox="1"/>
          <p:nvPr/>
        </p:nvSpPr>
        <p:spPr>
          <a:xfrm>
            <a:off x="424726" y="182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23" name="Reference text 11-2"/>
          <p:cNvSpPr txBox="1"/>
          <p:nvPr/>
        </p:nvSpPr>
        <p:spPr>
          <a:xfrm>
            <a:off x="611386" y="182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[R6] Not a Tesla App, Tesla Names Next Robotaxi Cities, Shares Miles Driven &amp; Safety Data, 2026-10-21: https://www.notateslaapp.com/news/4860/tesla-names-next-robotaxi-cities-shares-miles-driven-safety-data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24" name="Reference marker 11-3"/>
          <p:cNvSpPr txBox="1"/>
          <p:nvPr/>
        </p:nvSpPr>
        <p:spPr>
          <a:xfrm>
            <a:off x="424726" y="238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25" name="Reference text 11-3"/>
          <p:cNvSpPr txBox="1"/>
          <p:nvPr/>
        </p:nvSpPr>
        <p:spPr>
          <a:xfrm>
            <a:off x="611386" y="238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[R7] Uber, Autonomous Articles, 2026-10-22 확인: https://www.uber.com/us/en/newsroom/autonomous/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26" name="Reference marker 11-4"/>
          <p:cNvSpPr txBox="1"/>
          <p:nvPr/>
        </p:nvSpPr>
        <p:spPr>
          <a:xfrm>
            <a:off x="424726" y="294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27" name="Reference text 11-4"/>
          <p:cNvSpPr txBox="1"/>
          <p:nvPr/>
        </p:nvSpPr>
        <p:spPr>
          <a:xfrm>
            <a:off x="611386" y="294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[R8] Avride, 공식 홈페이지, 2026-10-22 확인: https://www.avride.ai/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ns3="http://schemas.microsoft.com/office/drawing/2018/hyperlinkcolor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Reference title 12"/>
          <p:cNvSpPr txBox="1"/>
          <p:nvPr/>
        </p:nvSpPr>
        <p:spPr>
          <a:xfrm>
            <a:off x="423862" y="285750"/>
            <a:ext cx="18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1641" name="Reference subtitle 12"/>
          <p:cNvSpPr txBox="1"/>
          <p:nvPr/>
        </p:nvSpPr>
        <p:spPr>
          <a:xfrm>
            <a:off x="438150" y="823913"/>
            <a:ext cx="15000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9–12</a:t>
            </a:r>
            <a:endParaRPr lang="en-US" sz="1500" dirty="0"/>
          </a:p>
        </p:txBody>
      </p:sp>
      <p:sp>
        <p:nvSpPr>
          <p:cNvPr id="1740" name="Reference marker 12-1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41" name="Reference text 12-1"/>
          <p:cNvSpPr txBox="1"/>
          <p:nvPr/>
        </p:nvSpPr>
        <p:spPr>
          <a:xfrm>
            <a:off x="611386" y="126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[R9] Mobileye, News Releases, 2026-10-22 확인: https://ir.mobileye.com/news-events/news-releases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42" name="Reference marker 12-2"/>
          <p:cNvSpPr txBox="1"/>
          <p:nvPr/>
        </p:nvSpPr>
        <p:spPr>
          <a:xfrm>
            <a:off x="424726" y="182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43" name="Reference text 12-2"/>
          <p:cNvSpPr txBox="1"/>
          <p:nvPr/>
        </p:nvSpPr>
        <p:spPr>
          <a:xfrm>
            <a:off x="611386" y="182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[R10] 카카오모빌리티, 뉴스룸, 2026-10-22 확인: https://www.kakaomobility.com/newsroom/news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44" name="Reference marker 12-3"/>
          <p:cNvSpPr txBox="1"/>
          <p:nvPr/>
        </p:nvSpPr>
        <p:spPr>
          <a:xfrm>
            <a:off x="424726" y="238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45" name="Reference text 12-3"/>
          <p:cNvSpPr txBox="1"/>
          <p:nvPr/>
        </p:nvSpPr>
        <p:spPr>
          <a:xfrm>
            <a:off x="611386" y="238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[R11] 쏘카, 공식 블로그, 2026-10-22 확인: https://www.socarcorp.kr/blog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46" name="Reference marker 12-4"/>
          <p:cNvSpPr txBox="1"/>
          <p:nvPr/>
        </p:nvSpPr>
        <p:spPr>
          <a:xfrm>
            <a:off x="424726" y="294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47" name="Reference text 12-4"/>
          <p:cNvSpPr txBox="1"/>
          <p:nvPr/>
        </p:nvSpPr>
        <p:spPr>
          <a:xfrm>
            <a:off x="611386" y="294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[R12] May Mobility, Company News, 2026-10-22 확인: https://maymobility.com/posts/type/company-news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ns3="http://schemas.microsoft.com/office/drawing/2018/hyperlinkcolor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Reference title 13"/>
          <p:cNvSpPr txBox="1"/>
          <p:nvPr/>
        </p:nvSpPr>
        <p:spPr>
          <a:xfrm>
            <a:off x="423862" y="285750"/>
            <a:ext cx="18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1661" name="Reference subtitle 13"/>
          <p:cNvSpPr txBox="1"/>
          <p:nvPr/>
        </p:nvSpPr>
        <p:spPr>
          <a:xfrm>
            <a:off x="438150" y="823913"/>
            <a:ext cx="15000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13–16</a:t>
            </a:r>
            <a:endParaRPr lang="en-US" sz="1500" dirty="0"/>
          </a:p>
        </p:txBody>
      </p:sp>
      <p:sp>
        <p:nvSpPr>
          <p:cNvPr id="1760" name="Reference marker 13-1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61" name="Reference text 13-1"/>
          <p:cNvSpPr txBox="1"/>
          <p:nvPr/>
        </p:nvSpPr>
        <p:spPr>
          <a:xfrm>
            <a:off x="611386" y="126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[R13] May Mobility·SEC, Business combination announcement, Exhibit 99.1, 2026-09-16: https://www.sec.gov/Archives/edgar/data/2111542/000121390026100367/ea030470201ex99-1.htm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62" name="Reference marker 13-2"/>
          <p:cNvSpPr txBox="1"/>
          <p:nvPr/>
        </p:nvSpPr>
        <p:spPr>
          <a:xfrm>
            <a:off x="424726" y="182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63" name="Reference text 13-2"/>
          <p:cNvSpPr txBox="1"/>
          <p:nvPr/>
        </p:nvSpPr>
        <p:spPr>
          <a:xfrm>
            <a:off x="611386" y="182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[R14] NTT Mobility, 나고야 자율주행·온디맨드 실증 개시, 2026-08-12: https://www.ntt-mobility.com/news/20260812/newsrelease-260812/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64" name="Reference marker 13-3"/>
          <p:cNvSpPr txBox="1"/>
          <p:nvPr/>
        </p:nvSpPr>
        <p:spPr>
          <a:xfrm>
            <a:off x="424726" y="238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65" name="Reference text 13-3"/>
          <p:cNvSpPr txBox="1"/>
          <p:nvPr/>
        </p:nvSpPr>
        <p:spPr>
          <a:xfrm>
            <a:off x="611386" y="238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[R15] May Mobility, First Responder Interaction Protocol: Atlanta, 게시일 미표기·2026-10-22 확인: https://maymobility.com/first-responders/frip-atlanta-georgia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66" name="Reference marker 13-4"/>
          <p:cNvSpPr txBox="1"/>
          <p:nvPr/>
        </p:nvSpPr>
        <p:spPr>
          <a:xfrm>
            <a:off x="424726" y="294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67" name="Reference text 13-4"/>
          <p:cNvSpPr txBox="1"/>
          <p:nvPr/>
        </p:nvSpPr>
        <p:spPr>
          <a:xfrm>
            <a:off x="611386" y="294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[R16] May Mobility, May Mobility launches New AV Architecture, 2026-05-20: https://maymobility.com/posts/may-mobility-launches-new-av-architecture/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openxmlformats.org/officeDocument/2006/relationships" xmlns:ns3="http://schemas.microsoft.com/office/drawing/2018/hyperlinkcolor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Reference title 14"/>
          <p:cNvSpPr txBox="1"/>
          <p:nvPr/>
        </p:nvSpPr>
        <p:spPr>
          <a:xfrm>
            <a:off x="423862" y="285750"/>
            <a:ext cx="18000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0" dirty="0">
                <a:solidFill>
                  <a:srgbClr val="102B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</a:t>
            </a:r>
            <a:endParaRPr lang="en-US" sz="2250" dirty="0"/>
          </a:p>
        </p:txBody>
      </p:sp>
      <p:sp>
        <p:nvSpPr>
          <p:cNvPr id="1681" name="Reference subtitle 14"/>
          <p:cNvSpPr txBox="1"/>
          <p:nvPr/>
        </p:nvSpPr>
        <p:spPr>
          <a:xfrm>
            <a:off x="438150" y="823913"/>
            <a:ext cx="15000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 b="0">
                <a:solidFill>
                  <a:srgbClr val="3765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17–18</a:t>
            </a:r>
            <a:endParaRPr lang="en-US" sz="1500" dirty="0"/>
          </a:p>
        </p:txBody>
      </p:sp>
      <p:sp>
        <p:nvSpPr>
          <p:cNvPr id="1780" name="Reference marker 14-1"/>
          <p:cNvSpPr txBox="1"/>
          <p:nvPr/>
        </p:nvSpPr>
        <p:spPr>
          <a:xfrm>
            <a:off x="424726" y="126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81" name="Reference text 14-1"/>
          <p:cNvSpPr txBox="1"/>
          <p:nvPr/>
        </p:nvSpPr>
        <p:spPr>
          <a:xfrm>
            <a:off x="611386" y="126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[R17] May Mobility·SEC, Investor presentation, Exhibit 99.2, 2026-09-16: https://www.sec.gov/Archives/edgar/data/2111542/000121390026100367/ea030470201ex99-2.htm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  <p:sp>
        <p:nvSpPr>
          <p:cNvPr id="1782" name="Reference marker 14-2"/>
          <p:cNvSpPr txBox="1"/>
          <p:nvPr/>
        </p:nvSpPr>
        <p:spPr>
          <a:xfrm>
            <a:off x="424726" y="1822063"/>
            <a:ext cx="274320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▪ </a:t>
            </a:r>
            <a:endParaRPr lang="en-US" sz="1050" dirty="0"/>
          </a:p>
        </p:txBody>
      </p:sp>
      <p:sp>
        <p:nvSpPr>
          <p:cNvPr id="1783" name="Reference text 14-2"/>
          <p:cNvSpPr txBox="1"/>
          <p:nvPr/>
        </p:nvSpPr>
        <p:spPr>
          <a:xfrm>
            <a:off x="611386" y="1822063"/>
            <a:ext cx="8304014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 b="0">
                <a:solidFill>
                  <a:srgbClr val="20304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[R18] May Mobility, May Mobility and NTT Mobility to Launch First Public Rides on Autonomous e-Palette, 2026-09-03: https://maymobility.com/posts/may-mobility-and-ntt-mobility-to-launch-first-public-rides-on-autonomous-e-palette/</a:t>
            </a:r>
            <a:pPr algn="l" indent="0" marL="0">
              <a:lnSpc>
                <a:spcPts val="1522"/>
              </a:lnSpc>
              <a:buNone/>
            </a:pPr>
            <a:r>
              <a:rPr lang="en-US" sz="1050" u="dash" dirty="0" b="0">
                <a:solidFill>
                  <a:srgbClr val="3569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ns2:id="rId1" invalidUrl="" action="" tgtFrame="" tooltip="" history="1" highlightClick="0" endSnd="0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자율주행 데일리 리포트 2026-10-20</dc:title>
  <dc:subject>Zoox 산타모니카 주차 협상 승인·Tesla Austin 자정 운행 확대</dc:subject>
  <dc:creator>PptxGenJS</dc:creator>
  <cp:lastModifiedBy>PptxGenJS</cp:lastModifiedBy>
  <cp:revision>1</cp:revision>
  <dcterms:created xsi:type="dcterms:W3CDTF">2026-10-19T22:34:05Z</dcterms:created>
  <dcterms:modified xsi:type="dcterms:W3CDTF">2026-10-19T22:34:05Z</dcterms:modified>
</cp:coreProperties>
</file>