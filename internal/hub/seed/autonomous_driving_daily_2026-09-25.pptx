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57fbef1f94fae" /><Relationship Type="http://schemas.openxmlformats.org/officeDocument/2006/relationships/extended-properties" Target="/docProps/app.xml" Id="Ra6debc3517004a07" /><Relationship Type="http://schemas.openxmlformats.org/officeDocument/2006/relationships/officeDocument" Target="/ppt/presentation.xml" Id="R2606e05b19864c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725f4a8134aef"/>
  </p:sldMasterIdLst>
  <p:notesMasterIdLst>
    <p:notesMasterId xmlns:r="http://schemas.openxmlformats.org/officeDocument/2006/relationships" r:id="Rb7b947f1bb564aec"/>
  </p:notesMasterIdLst>
  <p:sldIdLst>
    <p:sldId xmlns:r="http://schemas.openxmlformats.org/officeDocument/2006/relationships" id="256" r:id="Ra7c20b999e624544"/>
    <p:sldId xmlns:r="http://schemas.openxmlformats.org/officeDocument/2006/relationships" id="257" r:id="R04c07d2ff8654e40"/>
    <p:sldId xmlns:r="http://schemas.openxmlformats.org/officeDocument/2006/relationships" id="258" r:id="Radcc13bd04c949d9"/>
    <p:sldId xmlns:r="http://schemas.openxmlformats.org/officeDocument/2006/relationships" id="259" r:id="R8ab9b7c9397541cf"/>
    <p:sldId xmlns:r="http://schemas.openxmlformats.org/officeDocument/2006/relationships" id="260" r:id="Re772b88cd1534183"/>
    <p:sldId xmlns:r="http://schemas.openxmlformats.org/officeDocument/2006/relationships" id="261" r:id="Rf649ea5f7cff49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1c9ad7a424def" /><Relationship Type="http://schemas.openxmlformats.org/officeDocument/2006/relationships/slideMaster" Target="/ppt/slideMasters/slideMaster1.xml" Id="R814725f4a8134aef" /><Relationship Type="http://schemas.openxmlformats.org/officeDocument/2006/relationships/notesMaster" Target="/ppt/notesMasters/notesMaster1.xml" Id="Rb7b947f1bb564aec" /><Relationship Type="http://schemas.openxmlformats.org/officeDocument/2006/relationships/presProps" Target="/ppt/presProps.xml" Id="R85a43150dc774a7c" /><Relationship Type="http://schemas.openxmlformats.org/officeDocument/2006/relationships/tableStyles" Target="/ppt/tableStyles.xml" Id="R73974f77b8554b2c" /><Relationship Type="http://schemas.openxmlformats.org/officeDocument/2006/relationships/slide" Target="/ppt/slides/slide1.xml" Id="Ra7c20b999e624544" /><Relationship Type="http://schemas.openxmlformats.org/officeDocument/2006/relationships/slide" Target="/ppt/slides/slide2.xml" Id="R04c07d2ff8654e40" /><Relationship Type="http://schemas.openxmlformats.org/officeDocument/2006/relationships/slide" Target="/ppt/slides/slide3.xml" Id="Radcc13bd04c949d9" /><Relationship Type="http://schemas.openxmlformats.org/officeDocument/2006/relationships/slide" Target="/ppt/slides/slide4.xml" Id="R8ab9b7c9397541cf" /><Relationship Type="http://schemas.openxmlformats.org/officeDocument/2006/relationships/slide" Target="/ppt/slides/slide5.xml" Id="Re772b88cd1534183" /><Relationship Type="http://schemas.openxmlformats.org/officeDocument/2006/relationships/slide" Target="/ppt/slides/slide6.xml" Id="Rf649ea5f7cff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006845d3046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9db47248d468e" /><Relationship Type="http://schemas.openxmlformats.org/officeDocument/2006/relationships/notesMaster" Target="/ppt/notesMasters/notesMaster1.xml" Id="R06fbab524a37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fd97e1f70347de" /><Relationship Type="http://schemas.openxmlformats.org/officeDocument/2006/relationships/notesMaster" Target="/ppt/notesMasters/notesMaster1.xml" Id="Re7ca8be4030a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638dacf6d417e" /><Relationship Type="http://schemas.openxmlformats.org/officeDocument/2006/relationships/notesMaster" Target="/ppt/notesMasters/notesMaster1.xml" Id="Ra596efc64dfe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f63a15ec9945c9" /><Relationship Type="http://schemas.openxmlformats.org/officeDocument/2006/relationships/notesMaster" Target="/ppt/notesMasters/notesMaster1.xml" Id="R290bf4c42bf047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5614ee34d4070" /><Relationship Type="http://schemas.openxmlformats.org/officeDocument/2006/relationships/notesMaster" Target="/ppt/notesMasters/notesMaster1.xml" Id="R4950c10687a74a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d4140e562f43d6" /><Relationship Type="http://schemas.openxmlformats.org/officeDocument/2006/relationships/notesMaster" Target="/ppt/notesMasters/notesMaster1.xml" Id="R4f832ca573014d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material developments after the 2026-09-24 report. May Mobility is repeated under the user-requested exception.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Search and verification cutoff: 2026-09-25 Korea time. Sources checked include official company channels, regulators and high-trust media.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transaction release: https://maymobility.com/posts/may-mobility-first-publicly-listed-pure-play-autonomous-ride-hail-technology-company-acp-holdings-acquisition-corp/</a:t>
            </a:r>
          </a:p>
          <a:p xmlns:a="http://schemas.openxmlformats.org/drawingml/2006/main">
            <a:r>
              <a:t>Homepage checked 2026-09-25: https://maymobility.com/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Locations: https://maymobility.com/locations/</a:t>
            </a:r>
          </a:p>
          <a:p xmlns:a="http://schemas.openxmlformats.org/drawingml/2006/main">
            <a:r>
              <a:t>Atlanta launch context: https://www.reuters.com/business/autos-transportation/lyft-may-mobility-roll-out-robotaxi-service-atlanta-2025-09-10/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Technology: https://maymobility.com/technology/</a:t>
            </a:r>
          </a:p>
          <a:p xmlns:a="http://schemas.openxmlformats.org/drawingml/2006/main">
            <a:r>
              <a:t>Safety: https://maymobility.com/technology/safety/</a:t>
            </a:r>
          </a:p>
          <a:p xmlns:a="http://schemas.openxmlformats.org/drawingml/2006/main">
            <a:r>
              <a:t>Investors: https://maymobility.com/investors/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 Mobility: https://maymobility.com/</a:t>
            </a:r>
          </a:p>
          <a:p xmlns:a="http://schemas.openxmlformats.org/drawingml/2006/main">
            <a:r>
              <a:t>Transaction: https://maymobility.com/posts/may-mobility-first-publicly-listed-pure-play-autonomous-ride-hail-technology-company-acp-holdings-acquisition-corp/</a:t>
            </a:r>
          </a:p>
          <a:p xmlns:a="http://schemas.openxmlformats.org/drawingml/2006/main">
            <a:r>
              <a:t>Technology: https://maymobility.com/technology/</a:t>
            </a:r>
          </a:p>
          <a:p xmlns:a="http://schemas.openxmlformats.org/drawingml/2006/main">
            <a:r>
              <a:t>Safety: https://maymobility.com/technology/safety/</a:t>
            </a:r>
          </a:p>
          <a:p xmlns:a="http://schemas.openxmlformats.org/drawingml/2006/main">
            <a:r>
              <a:t>Locations: https://maymobility.com/locations/</a:t>
            </a:r>
          </a:p>
          <a:p xmlns:a="http://schemas.openxmlformats.org/drawingml/2006/main">
            <a:r>
              <a:t>Investors: https://maymobility.com/investors/</a:t>
            </a:r>
          </a:p>
          <a:p xmlns:a="http://schemas.openxmlformats.org/drawingml/2006/main">
            <a:r>
              <a:t>Reuters: https://www.reuters.com/business/autos-transportation/lyft-may-mobility-roll-out-robotaxi-service-atlanta-2025-09-10/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126830dbc4b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6f4c99826a4e2c" /><Relationship Type="http://schemas.openxmlformats.org/officeDocument/2006/relationships/slideLayout" Target="/ppt/slideLayouts/slideLayout1.xml" Id="Rd4dcea929f1041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dcea929f1041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31d6988d24028" /><Relationship Type="http://schemas.openxmlformats.org/officeDocument/2006/relationships/notesSlide" Target="/ppt/notesSlides/notesSlide1.xml" Id="Rdaf5c4d966f746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dd753533540f5" /><Relationship Type="http://schemas.openxmlformats.org/officeDocument/2006/relationships/notesSlide" Target="/ppt/notesSlides/notesSlide2.xml" Id="Rf09f3af69a22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eaa745db4455f" /><Relationship Type="http://schemas.openxmlformats.org/officeDocument/2006/relationships/notesSlide" Target="/ppt/notesSlides/notesSlide3.xml" Id="R284693f9b5674a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8149fe9b448d1" /><Relationship Type="http://schemas.openxmlformats.org/officeDocument/2006/relationships/notesSlide" Target="/ppt/notesSlides/notesSlide4.xml" Id="R1a24e8f2265541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3a8a290d44c84" /><Relationship Type="http://schemas.openxmlformats.org/officeDocument/2006/relationships/notesSlide" Target="/ppt/notesSlides/notesSlide5.xml" Id="R778733d78d1742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533e665a34a8d" /><Relationship Type="http://schemas.openxmlformats.org/officeDocument/2006/relationships/notesSlide" Target="/ppt/notesSlides/notesSlide6.xml" Id="R7497dca28998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9FE41-D6EF-41B6-AC59-A7315761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98760-5812-4A36-8840-38AB9A6E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B6712-877E-42B7-9454-AE17CB3D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9EE26-2336-43D3-9902-BA02E834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No material new updates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25A9D-6C64-4FFD-8C03-B57AF7F3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2026-09-25</a:t>
            </a:r>
          </a:p>
        </p:txBody>
      </p:sp>
    </p:spTree>
    <p:extLst>
      <p:ext uri="{BB962C8B-B14F-4D97-AF65-F5344CB8AC3E}">
        <p14:creationId xmlns:p14="http://schemas.microsoft.com/office/powerpoint/2010/main" val="613996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0987F-F12C-438C-8DB8-6B87F2C3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E58CC-4F27-4AA9-9E95-04AA411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04596-BD99-43F3-B06A-59F8CB9F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AC946-B6FA-48D4-8701-D8426502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NO MATERIAL NEW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9F193-76F0-4FA7-ABC0-783BC0B2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주요 신규 업데이트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D2549-C83B-4496-9F6C-C291467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25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1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F1AA6-3A84-4BDC-BD35-769A384C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new material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8C7FF-716B-44AF-BA25-B0B818E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verified new state change after the prior-day report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Re-reporting and unchanged plans were excluded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permit, recall, final enforcement, commercial launch or supply agreement qualified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 Mobility is included again under the explicit duplicate exception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96F4B-91BF-4080-9337-3E0BFEF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2026-09-25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867688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E202E-8B6F-4561-A182-CDC62036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2497E-A5AF-4962-BFC5-3A0F3E3E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status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19F85-E616-4532-9719-1A982ABF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DB969-B7B9-4F41-9CC6-2C6283EC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 PRIOR REPORTS 09-21 / 09-23 / 09-24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B58C8-9A78-4CE3-B902-7C8A3AE3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[중복] 신규 확인 사항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0FBAB-A25B-4CD9-B9CF-994AB30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54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1741-E4F5-45B1-B30A-A0C6FED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pro forma enterprise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63D3F-EEF2-41BE-A07D-6CFBE30F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Transaction remains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4433E-451B-42BF-85B1-E2C954B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647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$337M maximum gross proceeds; $120M committed PIPE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Closing targeted by year-end 2026, subject to approvals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Ticker MAY is planned only after completion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Latest company announcement remains the September 16 SPAC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23FDC-B5F5-4116-8013-0AA8E9A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2026-09-25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1041582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2BA85-D7DD-461F-96D0-EE2CD26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CF353-7D03-442F-9A5A-8AF9DC5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operations and ODD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7207A-2CE6-4E2F-9170-F331BE30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E6ACB-1874-4D5D-A40E-9D1FC6E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 VERIFIED COMPANY DISCLOSURES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0DBD5-9CA8-4580-B399-0F528F0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32BCB-7F42-4B00-9F86-9EDCF49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15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F0278-1B25-4391-B5AC-94FA2FA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US commercial locations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3055D-B844-4DF9-BB98-6012AE8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550K+ rides  |  1.1M miles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01CFF-28F9-496D-B001-7BE5D14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33600"/>
            <a:ext cx="64770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Three driver-out deployments reported by the company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launched with onboard safety operators; no proof of full conversion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with Uber remains a Q4 2026 / Q1 2027 target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Public sources do not disclose one numeric ODD or current fleet count per 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23F45-F5D3-420E-92CF-E652026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2026-09-25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2108456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46935-3344-4741-B294-BA5D5B40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3109E-93A3-4DC2-B0C9-236E9FD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Technology and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FFB7E-DB64-4E85-BAF8-B0EF883E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82E47-0090-4E76-8BCF-E8A1EB0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 MAY MOBILITY DEEP DIVE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E41B0-FA7A-4638-B6CF-FAFA4B5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1EFED-C124-4699-9D0D-B009A0E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200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AF521-22EF-4051-8FDF-051D28F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MPDM decision 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3DE3E-6CF9-4BB6-BBB7-60A36162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World model plus Multi-Policy Decision Making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Redundant power and sensor communication, fallback safety and remote assistance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Toyota Sienna and e-Palette; Toyota is the stated primary OEM partner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Partners own vehicles, depots and maintenance under Autonomy-as-a-Service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direct Hyundai partnership or investment confirmed in reviewed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EB6DB-BAAE-4576-8A3A-DBA92DBF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2026-09-25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1139630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D038D-A44F-48E1-874B-7E62B04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76633-C403-417E-BD4F-C212CA7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2CF28-EBF2-499E-9071-3A8BD0E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01  May Mobility  Official homepage and announcement index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D7DD7-8F31-43D4-BFFB-B9095148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02  May Mobility  SPAC transaction release — 2026-09-16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A87A0-F0F9-4A37-BDB2-7C06C2C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03  May Mobility  Technology, safety, locations and investors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C8BC8-2032-427A-AC8F-D056728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04  Reuters  Atlanta service launch context — 2025-09-10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83D4-D9A3-4823-8E6E-A66EBD7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appear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533826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2026-09-24T22:31:51.6250000Z</dcterms:created>
  <dcterms:modified xsi:type="dcterms:W3CDTF">2026-09-24T22:31:51.6250000Z</dcterms:modified>
</coreProperties>
</file>