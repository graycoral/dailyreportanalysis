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aymo.com/blog/shorts/sat-sd-tpa/" TargetMode="External"/><Relationship Id="rId2" Type="http://schemas.openxmlformats.org/officeDocument/2006/relationships/hyperlink" Target="https://gb.linkedin.com/company/uber-com" TargetMode="External"/><Relationship Id="rId3" Type="http://schemas.openxmlformats.org/officeDocument/2006/relationships/hyperlink" Target="https://jp.linkedin.com/company/pony-ai/" TargetMode="External"/><Relationship Id="rId4" Type="http://schemas.openxmlformats.org/officeDocument/2006/relationships/hyperlink" Target="https://www.theguardian.com/technology/2026/oct/14/uber-self-driving-robotaxi-trial-manchester" TargetMode="External"/><Relationship Id="rId5" Type="http://schemas.openxmlformats.org/officeDocument/2006/relationships/hyperlink" Target="https://www.london.gov.uk/who-we-are/what-london-assembly-does/london-assembly-press-releases/dft-v-tfl-whos-behind-wheel-robocabs" TargetMode="External"/><Relationship Id="rId6" Type="http://schemas.openxmlformats.org/officeDocument/2006/relationships/hyperlink" Target="https://www.avride.ai/" TargetMode="External"/><Relationship Id="rId7" Type="http://schemas.openxmlformats.org/officeDocument/2006/relationships/hyperlink" Target="https://bolt.eu/en/blog/category/autonomous-solutions/" TargetMode="External"/><Relationship Id="rId8" Type="http://schemas.openxmlformats.org/officeDocument/2006/relationships/hyperlink" Target="https://www.mobileye.com/news/" TargetMode="External"/><Relationship Id="rId9" Type="http://schemas.openxmlformats.org/officeDocument/2006/relationships/hyperlink" Target="https://www.kakaomobility.com/newsroom/news" TargetMode="External"/><Relationship Id="rId10" Type="http://schemas.openxmlformats.org/officeDocument/2006/relationships/hyperlink" Target="https://www.socarcorp.kr/blog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2111542/000121390026100367/ea030470201ex99-1.htm" TargetMode="External"/><Relationship Id="rId2" Type="http://schemas.openxmlformats.org/officeDocument/2006/relationships/hyperlink" Target="https://www.sec.gov/Archives/edgar/data/2111542/000121390026100367/ea030470201ex99-1.htm" TargetMode="External"/><Relationship Id="rId3" Type="http://schemas.openxmlformats.org/officeDocument/2006/relationships/hyperlink" Target="https://www.ntt-mobility.com/news/20260812/newsrelease-260812/" TargetMode="External"/><Relationship Id="rId4" Type="http://schemas.openxmlformats.org/officeDocument/2006/relationships/hyperlink" Target="https://www.ntt-mobility.com/news/20260812/newsrelease-260812/" TargetMode="External"/><Relationship Id="rId5" Type="http://schemas.openxmlformats.org/officeDocument/2006/relationships/hyperlink" Target="https://maymobility.com/first-responders/frip-atlanta-georgia" TargetMode="External"/><Relationship Id="rId6" Type="http://schemas.openxmlformats.org/officeDocument/2006/relationships/hyperlink" Target="https://maymobility.com/first-responders/frip-atlanta-georgia" TargetMode="External"/><Relationship Id="rId7" Type="http://schemas.openxmlformats.org/officeDocument/2006/relationships/hyperlink" Target="https://maymobility.com/posts/may-mobility-launches-new-av-architecture/" TargetMode="External"/><Relationship Id="rId8" Type="http://schemas.openxmlformats.org/officeDocument/2006/relationships/hyperlink" Target="https://maymobility.com/posts/may-mobility-launches-new-av-architecture/" TargetMode="External"/><Relationship Id="rId9" Type="http://schemas.openxmlformats.org/officeDocument/2006/relationships/hyperlink" Target="https://www.sec.gov/Archives/edgar/data/2111542/000121390026100367/ea030470201ex99-2.htm" TargetMode="External"/><Relationship Id="rId10" Type="http://schemas.openxmlformats.org/officeDocument/2006/relationships/hyperlink" Target="https://www.sec.gov/Archives/edgar/data/2111542/000121390026100367/ea030470201ex99-2.htm" TargetMode="External"/><Relationship Id="rId11" Type="http://schemas.openxmlformats.org/officeDocument/2006/relationships/hyperlink" Target="https://www.ntt-mobility.com/news/20260903/newsrelease-260903/" TargetMode="External"/><Relationship Id="rId12" Type="http://schemas.openxmlformats.org/officeDocument/2006/relationships/hyperlink" Target="https://www.ntt-mobility.com/news/20260903/newsrelease-260903/" TargetMode="External"/><Relationship Id="rId13" Type="http://schemas.openxmlformats.org/officeDocument/2006/relationships/hyperlink" Target="https://maymobility.com/posts/type/company-news" TargetMode="External"/><Relationship Id="rId14" Type="http://schemas.openxmlformats.org/officeDocument/2006/relationships/hyperlink" Target="https://maymobility.com/posts/type/company-news" TargetMode="Externa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8575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51339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2026-10-15 · Waymo 3개 도시 일반 공개와 Uber 맨체스터 시험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25779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[신규·무인 상용] Waymo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샌안토니오·샌디에이고·탬파의 일반 이용자에게 앱 호출을 개방했다. 샌안토니오 국제공항도 포함된다. 기존 도시 진출과 구분되는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 접근성 확대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다.[R1]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30637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[신규·시험] Uber·Pony.ai·Verne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맨체스터 Gen-7 시험이 확인됐다. 안전요원 동승·승객 없는 시험으로, 무인 유상 서비스 개시와 구분한다.[R2][R3][R4]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23836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 확인·권고]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London Assembly의 허가권 이관·차량 수 제한 권고를 확인했다. 10월 9일 발표 자료이며 시행된 규정이 아니다.[R5]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2337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33737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 중 Uber에 신규 시험 소식이 있다. 나머지 5개사는 확인한 자료에서 신규 L4 사실이 없다.[R2][R6][R7][R8][R9][R10]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9100" y="38909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90962"/>
            <a:ext cx="823836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[중복·추가 확인]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기존 나고야 시험의 세부 범위를 파트너 자료로 보완했다. 신규 운영 변화 확인 사항 없음. 이전 보고: 9월 23일·10월 14일.[R11][R12][R17]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150" y="4614863"/>
            <a:ext cx="854925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기준: 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2026-10-15 한국시간 오전</a:t>
            </a:r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공개 자료에서 확인되지 않은 차량 증차·허가·안전요원 철수는 추정하지 않았다.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381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신규 업데이트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30861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Waymo | 3개 도시의 일반 앱 호출 개방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30637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발표일·적용일: 2026-10-14.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Waymo는 샌안토니오·샌디에이고·탬파에서 누구나 앱을 내려받아 완전 자율주행 차량을 호출할 수 있다고 발표했다.[R1]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59721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달성: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일반 이용자 접근 확대. 샌안토니오 국제공항 이용도 포함된다.[R1]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2907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90762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변화의 범위: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이미 서비스가 진출한 도시의 이용 범위 확대이며, 세 도시 최초 진출 발표로 해석하지 않는다.[R1]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29479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947987"/>
            <a:ext cx="824807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이번 발표만으로는 각 도시의 총 운행 차량 수, 증차 수, 세부 운행설계영역(ODD), 신규 운영 시간 변경을 확인할 수 없다.[R1]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381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신규 업데이트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36576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Uber·Pony.ai·Verne | 맨체스터 Gen-7 시험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34523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발표일: 2026-10-14.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Uber와 Pony.ai 공식 게시물은 맨체스터에서 Gen-7 로보택시 시험이 진행 중이라고 밝혔다. 정확한 첫 시험일은 별도로 제시하지 않았다.[R2][R3]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39719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단계: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안전요원 동승, 승객 없는 시험이다.[R4]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2907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90762"/>
            <a:ext cx="73247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Pony.ai의 자율주행 기술, Uber의 플랫폼, Verne의 현지 운영 체계를 결합한다.[R2][R3]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26622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62237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맨체스터 시험 개시는 신규 사실이다. 기존 런던 발표의 재보도와 분리한다. 공식 게시물에서 맨체스터 유상 무인 서비스 개시일·허가 취득·차량 수는 확인되지 않았다.[R2][R3]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762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기업/지역별 상세 내용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38150" y="1196727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4825" y="890587"/>
            <a:ext cx="8191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기업·지역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2693789" y="890587"/>
            <a:ext cx="12573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확인한 단계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446216" y="890587"/>
            <a:ext cx="18097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확대·계획과 미확인 사항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438150" y="1809006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4825" y="1385441"/>
            <a:ext cx="17811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Waymo · 미국 3개 도시</a:t>
            </a:r>
            <a:endParaRPr lang="en-US" sz="1275" dirty="0"/>
          </a:p>
        </p:txBody>
      </p:sp>
      <p:sp>
        <p:nvSpPr>
          <p:cNvPr id="9" name="Text 7"/>
          <p:cNvSpPr txBox="1"/>
          <p:nvPr/>
        </p:nvSpPr>
        <p:spPr>
          <a:xfrm>
            <a:off x="2693789" y="1268164"/>
            <a:ext cx="2638127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14일 일반 앱 호출 개방, 완전 자율주행 서비스[R1]</a:t>
            </a:r>
            <a:endParaRPr lang="en-US" sz="1275" dirty="0"/>
          </a:p>
        </p:txBody>
      </p:sp>
      <p:sp>
        <p:nvSpPr>
          <p:cNvPr id="10" name="Text 8"/>
          <p:cNvSpPr txBox="1"/>
          <p:nvPr/>
        </p:nvSpPr>
        <p:spPr>
          <a:xfrm>
            <a:off x="5446216" y="1268164"/>
            <a:ext cx="3402509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샌안토니오 공항 포함. 증차 규모·세부 ODD는 미공개[R1]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438150" y="2421285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4825" y="1880443"/>
            <a:ext cx="2074664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Uber·Pony.ai·Verne · 맨체스터</a:t>
            </a:r>
            <a:endParaRPr lang="en-US" sz="1275" dirty="0"/>
          </a:p>
        </p:txBody>
      </p:sp>
      <p:sp>
        <p:nvSpPr>
          <p:cNvPr id="13" name="Text 11"/>
          <p:cNvSpPr txBox="1"/>
          <p:nvPr/>
        </p:nvSpPr>
        <p:spPr>
          <a:xfrm>
            <a:off x="2693789" y="1997720"/>
            <a:ext cx="21907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Gen-7 도로 시험 진행[R2][R3]</a:t>
            </a:r>
            <a:endParaRPr lang="en-US" sz="1275" dirty="0"/>
          </a:p>
        </p:txBody>
      </p:sp>
      <p:sp>
        <p:nvSpPr>
          <p:cNvPr id="14" name="Text 12"/>
          <p:cNvSpPr txBox="1"/>
          <p:nvPr/>
        </p:nvSpPr>
        <p:spPr>
          <a:xfrm>
            <a:off x="5446216" y="1880443"/>
            <a:ext cx="3409760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안전요원 동승·무승객 시험[R4]. 상용 무인 허가·개시일 미확인[R2][R3]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438150" y="3033564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4825" y="2609999"/>
            <a:ext cx="19240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London Assembly · 런던</a:t>
            </a:r>
            <a:endParaRPr lang="en-US" sz="1275" dirty="0"/>
          </a:p>
        </p:txBody>
      </p:sp>
      <p:sp>
        <p:nvSpPr>
          <p:cNvPr id="17" name="Text 15"/>
          <p:cNvSpPr txBox="1"/>
          <p:nvPr/>
        </p:nvSpPr>
        <p:spPr>
          <a:xfrm>
            <a:off x="2693789" y="2492722"/>
            <a:ext cx="2638127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허가·차량 수·안전 정보 관련 권고 발표[R5]</a:t>
            </a:r>
            <a:endParaRPr lang="en-US" sz="1275" dirty="0"/>
          </a:p>
        </p:txBody>
      </p:sp>
      <p:sp>
        <p:nvSpPr>
          <p:cNvPr id="18" name="Text 16"/>
          <p:cNvSpPr txBox="1"/>
          <p:nvPr/>
        </p:nvSpPr>
        <p:spPr>
          <a:xfrm>
            <a:off x="5446216" y="2492722"/>
            <a:ext cx="3438906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정부의 권한 이관 및 실행 여부와 별개인 권고 단계[R5]</a:t>
            </a:r>
            <a:endParaRPr lang="en-US" sz="1275" dirty="0"/>
          </a:p>
        </p:txBody>
      </p:sp>
      <p:sp>
        <p:nvSpPr>
          <p:cNvPr id="19" name="Text 17"/>
          <p:cNvSpPr txBox="1"/>
          <p:nvPr/>
        </p:nvSpPr>
        <p:spPr>
          <a:xfrm>
            <a:off x="438150" y="3200251"/>
            <a:ext cx="852982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검토에서 새로 확인한 오래된 발표는 발표일을 그대로 표시했다. 과거 기사 재발행 날짜만 바뀐 항목은 신규 사건으로 넣지 않았다.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4003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 L4 점검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38150" y="1196727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4825" y="890587"/>
            <a:ext cx="4191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1660475" y="890587"/>
            <a:ext cx="24098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사실·상태 및 계획/달성 구분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934498" y="890587"/>
            <a:ext cx="762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출처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438150" y="1809006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4825" y="1385441"/>
            <a:ext cx="4857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Uber</a:t>
            </a:r>
            <a:endParaRPr lang="en-US" sz="1275" dirty="0"/>
          </a:p>
        </p:txBody>
      </p:sp>
      <p:sp>
        <p:nvSpPr>
          <p:cNvPr id="9" name="Text 7"/>
          <p:cNvSpPr txBox="1"/>
          <p:nvPr/>
        </p:nvSpPr>
        <p:spPr>
          <a:xfrm>
            <a:off x="1660475" y="1268164"/>
            <a:ext cx="5207127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275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신규:</a:t>
            </a:r>
            <a:pPr algn="l" indent="0" marL="0">
              <a:lnSpc>
                <a:spcPts val="1848"/>
              </a:lnSpc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맨체스터 Gen-7 시험 진행. 안전요원 동승·무승객 시험이며 무인 상용 개시 아님</a:t>
            </a:r>
            <a:endParaRPr lang="en-US" sz="1275" dirty="0"/>
          </a:p>
        </p:txBody>
      </p:sp>
      <p:sp>
        <p:nvSpPr>
          <p:cNvPr id="10" name="Text 8"/>
          <p:cNvSpPr txBox="1"/>
          <p:nvPr/>
        </p:nvSpPr>
        <p:spPr>
          <a:xfrm>
            <a:off x="6934498" y="1385441"/>
            <a:ext cx="10287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[R2][R3][R4]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438150" y="2186583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4825" y="1880443"/>
            <a:ext cx="6000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Avride</a:t>
            </a:r>
            <a:endParaRPr lang="en-US" sz="1275" dirty="0"/>
          </a:p>
        </p:txBody>
      </p:sp>
      <p:sp>
        <p:nvSpPr>
          <p:cNvPr id="13" name="Text 11"/>
          <p:cNvSpPr txBox="1"/>
          <p:nvPr/>
        </p:nvSpPr>
        <p:spPr>
          <a:xfrm>
            <a:off x="1660475" y="1880443"/>
            <a:ext cx="1447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확인 사항 없음</a:t>
            </a:r>
            <a:endParaRPr lang="en-US" sz="1275" dirty="0"/>
          </a:p>
        </p:txBody>
      </p:sp>
      <p:sp>
        <p:nvSpPr>
          <p:cNvPr id="14" name="Text 12"/>
          <p:cNvSpPr txBox="1"/>
          <p:nvPr/>
        </p:nvSpPr>
        <p:spPr>
          <a:xfrm>
            <a:off x="6934498" y="1880443"/>
            <a:ext cx="14097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홈페이지 [R6]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438150" y="2798862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4825" y="2375297"/>
            <a:ext cx="4191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Bolt</a:t>
            </a:r>
            <a:endParaRPr lang="en-US" sz="1275" dirty="0"/>
          </a:p>
        </p:txBody>
      </p:sp>
      <p:sp>
        <p:nvSpPr>
          <p:cNvPr id="17" name="Text 15"/>
          <p:cNvSpPr txBox="1"/>
          <p:nvPr/>
        </p:nvSpPr>
        <p:spPr>
          <a:xfrm>
            <a:off x="1660475" y="2375297"/>
            <a:ext cx="1447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확인 사항 없음</a:t>
            </a:r>
            <a:endParaRPr lang="en-US" sz="1275" dirty="0"/>
          </a:p>
        </p:txBody>
      </p:sp>
      <p:sp>
        <p:nvSpPr>
          <p:cNvPr id="18" name="Text 16"/>
          <p:cNvSpPr txBox="1"/>
          <p:nvPr/>
        </p:nvSpPr>
        <p:spPr>
          <a:xfrm>
            <a:off x="6934498" y="2258020"/>
            <a:ext cx="1914227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Autonomous solutions [R7]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438150" y="3176439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4825" y="2870299"/>
            <a:ext cx="8001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Mobileye</a:t>
            </a:r>
            <a:endParaRPr lang="en-US" sz="1275" dirty="0"/>
          </a:p>
        </p:txBody>
      </p:sp>
      <p:sp>
        <p:nvSpPr>
          <p:cNvPr id="21" name="Text 19"/>
          <p:cNvSpPr txBox="1"/>
          <p:nvPr/>
        </p:nvSpPr>
        <p:spPr>
          <a:xfrm>
            <a:off x="1660475" y="2870299"/>
            <a:ext cx="1447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확인 사항 없음</a:t>
            </a:r>
            <a:endParaRPr lang="en-US" sz="1275" dirty="0"/>
          </a:p>
        </p:txBody>
      </p:sp>
      <p:sp>
        <p:nvSpPr>
          <p:cNvPr id="22" name="Text 20"/>
          <p:cNvSpPr txBox="1"/>
          <p:nvPr/>
        </p:nvSpPr>
        <p:spPr>
          <a:xfrm>
            <a:off x="6934498" y="2870299"/>
            <a:ext cx="12096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News [R8]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438150" y="3788718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4825" y="3247876"/>
            <a:ext cx="1041350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카카오모빌리티</a:t>
            </a:r>
            <a:endParaRPr lang="en-US" sz="1275" dirty="0"/>
          </a:p>
        </p:txBody>
      </p:sp>
      <p:sp>
        <p:nvSpPr>
          <p:cNvPr id="25" name="Text 23"/>
          <p:cNvSpPr txBox="1"/>
          <p:nvPr/>
        </p:nvSpPr>
        <p:spPr>
          <a:xfrm>
            <a:off x="1660475" y="3365153"/>
            <a:ext cx="1447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확인 사항 없음</a:t>
            </a:r>
            <a:endParaRPr lang="en-US" sz="1275" dirty="0"/>
          </a:p>
        </p:txBody>
      </p:sp>
      <p:sp>
        <p:nvSpPr>
          <p:cNvPr id="26" name="Text 24"/>
          <p:cNvSpPr txBox="1"/>
          <p:nvPr/>
        </p:nvSpPr>
        <p:spPr>
          <a:xfrm>
            <a:off x="6934498" y="3365153"/>
            <a:ext cx="12573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뉴스룸 [R9]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438150" y="4166295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4825" y="3860155"/>
            <a:ext cx="4191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쏘카</a:t>
            </a:r>
            <a:endParaRPr lang="en-US" sz="1275" dirty="0"/>
          </a:p>
        </p:txBody>
      </p:sp>
      <p:sp>
        <p:nvSpPr>
          <p:cNvPr id="29" name="Text 27"/>
          <p:cNvSpPr txBox="1"/>
          <p:nvPr/>
        </p:nvSpPr>
        <p:spPr>
          <a:xfrm>
            <a:off x="1660475" y="3860155"/>
            <a:ext cx="14478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확인 사항 없음</a:t>
            </a:r>
            <a:endParaRPr lang="en-US" sz="1275" dirty="0"/>
          </a:p>
        </p:txBody>
      </p:sp>
      <p:sp>
        <p:nvSpPr>
          <p:cNvPr id="30" name="Text 28"/>
          <p:cNvSpPr txBox="1"/>
          <p:nvPr/>
        </p:nvSpPr>
        <p:spPr>
          <a:xfrm>
            <a:off x="6934498" y="3860155"/>
            <a:ext cx="13430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블로그 [R10]</a:t>
            </a:r>
            <a:endParaRPr lang="en-US" sz="1275" dirty="0"/>
          </a:p>
        </p:txBody>
      </p:sp>
      <p:sp>
        <p:nvSpPr>
          <p:cNvPr id="31" name="Text 29"/>
          <p:cNvSpPr txBox="1"/>
          <p:nvPr/>
        </p:nvSpPr>
        <p:spPr>
          <a:xfrm>
            <a:off x="438150" y="4332982"/>
            <a:ext cx="859783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범위: 신규 무인 운행·안전요원 철수·시험/상용 허가·운영지역/규모·L4 적용·계약 실행. “없음”은 확인한 공개 자료 범위의 결과이며, 비공개 사업 변화가 없다는 뜻은 아니다.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29622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[중복·추가 확인] ① 실제 서비스 지역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354949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 · 10월 14일 보고]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SEC 9월 16일 자료가 확인하는 미국 상용 서비스는 Atlanta, Eden Prairie, Grand Rapids(Minnesota)다. Arlington의 Uber 서비스 목표는 2026년 4분기~2027년 1분기로, 이번 점검에서 개시 달성은 확인되지 않았다.[R11][R17]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22050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05037"/>
            <a:ext cx="69532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 · 9월 23일 보고]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나고야 6개월 실증은 SEC 자료에 9월 시작으로 기술돼 있다.[R11]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345233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[중복·추가 확인 · 기존 실증의 범위]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NTT 모빌리티의 8월 12일 발표는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3대·승하차 지점 5곳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 9월 11일~2027년 3월 19일 평일 실증을 제시한다. 운영 기간과 규모는 당시 공지 기준이며 현재 매일의 가동 대수를 뜻하지 않는다.[R12]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5194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19487"/>
            <a:ext cx="823836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운영 변화 확인 사항 없음.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이번 추가 확인은 기존 시험의 세부 조건을 보완한 것으로 새 지역 개시·증차로 집계하지 않는다.[R11][R12][R17]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28670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안전요원·무인 수준 / 기술·ODD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 · 10월 14일 보고]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Atlanta의 공식 긴급대응 지침은 Midtown의 Toyota Sienna 운행에 운전석 Safety Operator가 탑승한다고 설명한다. 이를 무인 상용 서비스로 표기하지 않는다.[R13]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26751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 · 9월 23일 보고]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SEC가 제시한 driver-out 배치 3건은 누적 실적이다. 모든 현재 서비스가 안전요원 없는 운행이라는 뜻은 아니다.[R11]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38409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[중복·추가 확인]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나고야 공지는 향후 L4 구현을 목표로 명시한다. 해당 실증이 지금 운전석 무인 운행 또는 L4 허가를 달성했다는 근거는 확인되지 않았다.[R12]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2337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33737"/>
            <a:ext cx="824807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 · 10월 14일 보고]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5세대 아키텍처는 신경망·월드 모델·추론을 차량 내에서 결합한다고 회사가 설명했다. 기술 발표를 개별 지역의 허가·ODD 확대 증거로 보지 않는다.[R14]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9100" y="38909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90962"/>
            <a:ext cx="836466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속도·기상·도로 종류 전체를 포괄하는 최신 ODD 사양과 새 안전요원 철수 여부는 확인 자료만으로 확정할 수 없다.[R12][R13][R14]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31813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차량·운영 실적 / ④ 투자·SPAC 일정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31608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 · 9월 23일 보고]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9월 16일 SEC 발표의 누적 실적은 승차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55만 회 이상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자율주행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110만 마일 이상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 오늘 새로 달성한 수치로 재분류하지 않는다.[R11]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28694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 · 10월 14일 보고]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AaaS 모델은 파트너의 차량·차고·유지보수 운영과 May Mobility의 자율주행 기술/라이선스를 결합한다.[R11]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32580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 · 9월 21일·10월 14일 보고]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SPAC 거래 발표 기준 기업가치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14억 달러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최대 총조달액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3억3,700만 달러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PIPE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1억2,000만 달러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환매·거래 조건에 영향을 받는 발표 수치다.[R11]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2337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33737"/>
            <a:ext cx="838409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 · 10월 13~14일 보고]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발표문은 2026년 말, 투자자 자료는 2027년 1분기 종결 목표를 제시한다. 일정 표현이 다르며, 합병·상장 완료 사실은 이번 점검에서 확인되지 않았다.[R11][R15][R17]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9100" y="38909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90962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운영 변화 확인 사항 없음.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파트너 실증 세부 조건의 추가 확인과 거래 종결의 실제 달성을 구분한다.[R12][R15][R17]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3430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규제·안전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38290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London Assembly | 시행 규정이 아닌 정책 권고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31608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발표일: 2026-10-09 / 이번 보고에서 신규 확인.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교통위원회는 향후 자율주행 승객 서비스의 허가·철회·조건 설정 권한을 TfL에 부여하도록 정부에 권고했다.[R5]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26751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수 상한, 긴급서비스와의 표준 대응, 충돌·아차사고 관련 정보의 신속 제공, 빈 차 운행 데이터 공개를 제안했다.[R5]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단계: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위원회 권고. 권한 이관, 차량 수 상한의 법제화·시행, 개별 사업자 허가 발급을 의미하지 않는다.[R5]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150" y="3300413"/>
            <a:ext cx="852982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영국 시험 운행과 상용 무인 서비스 허가를 별도로 추적한다. 맨체스터의 안전요원 동승 시험을 런던 권고의 시행 결과로 연결하지 않는다.[R2][R3][R5]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6097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기술·공급망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3243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[중복·추가 확인] May Mobility · 일본 e-Palette 실증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사실 보완: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NTT 모빌리티의 2026년 9월 3일 발표는 도쿄 무사시노 Co-Creation Hub 일대 공도에서 자율주행 e-Palette 실증을 시작한다고 설명한다.[R16]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24807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목표와 달성 구분: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FY2027 L4 구현·차량 확대는 목표다. 자료는 현재 L4 허가나 무인 유상 서비스 달성을 입증하지 않는다.[R16]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25779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관계: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Toyota e-Palette 플랫폼과 May Mobility의 자율주행 기술을 결합하는 개발·실증 관계를 확인한다.[R16]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2337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33737"/>
            <a:ext cx="834523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자료에서 현대자동차와의 신규 직접 계약·차량 적용은 확인되지 않았다. 같은 산업의 기업이라는 이유로 제휴 관계를 추가하지 않았다.[R11][R16]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150" y="3957638"/>
            <a:ext cx="78676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운영 변화 확인 사항 없음. 새 공급 계약 체결이나 신규 양산 달성으로 표시하지 않는다.[R16][R17]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23336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업데이트 · L4 지정 기업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416" y="1252537"/>
            <a:ext cx="8413242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[R1] Waymo, Waymo is opening to everyone in San Antonio, San Diego, and Tampa, 2026-10-14: </a:t>
            </a:r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https://waymo.com/blog/shorts/sat-sd-tpa/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70199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692473"/>
            <a:ext cx="76771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[R2] Uber 공식 LinkedIn, Manchester Gen-7 robotaxi testing 발표, 2026-10-14: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https://gb.linkedin.com/company/uber-com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1955304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1945779"/>
            <a:ext cx="80581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[R3] Pony.ai 공식 LinkedIn, Manchester testing with Uber and Verne 발표, 2026-10-14: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https://jp.linkedin.com/company/pony-ai/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208609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416" y="2199084"/>
            <a:ext cx="8303984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[R4] The Guardian, Uber to trial self-driving robotaxis in Manchester, 2026-10-14: </a:t>
            </a:r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https://www.theguardian.com/technology/2026/oct/14/uber-self-driving-robotaxi-trial-manchester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24726" y="2648545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11416" y="2639020"/>
            <a:ext cx="8345233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[R5] London Assembly, DfT v TfL: Who’s behind the wheel of robocabs?, 2026-10-09: </a:t>
            </a:r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https://www.london.gov.uk/who-we-are/what-london-assembly-does/london-assembly-press-releases/dft-v-tfl-whos-behind-wheel-robocabs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24726" y="3088481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11386" y="3078956"/>
            <a:ext cx="47529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[R6] Avride, 공식 홈페이지·소식 점검, 2026-10-15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https://www.avride.ai/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24726" y="3341787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1386" y="3332262"/>
            <a:ext cx="73437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[R7] Bolt, Autonomous solutions 소식 목록, 2026-10-15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https://bolt.eu/en/blog/category/autonomous-solutions/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24726" y="3595092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1386" y="3585567"/>
            <a:ext cx="48863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[R8] Mobileye, News 목록, 2026-10-15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https://www.mobileye.com/news/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24726" y="384839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11386" y="3838873"/>
            <a:ext cx="61817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[R9] 카카오모빌리티, 공식 뉴스룸, 2026-10-15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https://www.kakaomobility.com/newsroom/news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24726" y="410170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11386" y="4092178"/>
            <a:ext cx="44481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[R10] 쏘카, 공식 블로그, 2026-10-15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https://www.socarcorp.kr/blog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26860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· 파트너 교차 확인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416" y="1252537"/>
            <a:ext cx="8303984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R11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Mobility·SEC, Business combination announcement, Exhibit 99.1, 2026-09-16: </a:t>
            </a:r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https://www.sec.gov/Archives/edgar/data/2111542/000121390026100367/ea030470201ex99-1.htm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70199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416" y="1692473"/>
            <a:ext cx="8303984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R12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NTTモビリティ, 名古屋市でオンデマンド型自動運転サービスの実証実験を開始, 2026-08-12: </a:t>
            </a:r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https://www.ntt-mobility.com/news/20260812/newsrelease-260812/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2141934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416" y="2132409"/>
            <a:ext cx="8325803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R13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Mobility, First Responder Interaction Plan — Atlanta, Georgia, 2026-10-15 확인·게시일 미표기: </a:t>
            </a:r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https://maymobility.com/first-responders/frip-atlanta-georgia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581870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416" y="2572345"/>
            <a:ext cx="8303984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R14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Mobility, May Mobility launches new AV architecture, 2026-05-20: </a:t>
            </a:r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https://maymobility.com/posts/may-mobility-launches-new-av-architecture/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24726" y="3021806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11416" y="3012281"/>
            <a:ext cx="8303984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R15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Mobility·SEC, Investor presentation, Exhibit 99.2, 2026-09-16: </a:t>
            </a:r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https://www.sec.gov/Archives/edgar/data/2111542/000121390026100367/ea030470201ex99-2.htm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24726" y="3461742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11416" y="3452217"/>
            <a:ext cx="8303984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R16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NTTモビリティ, 自動運転e-Paletteの公道走行実証を開始, 2026-09-03: </a:t>
            </a:r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https://www.ntt-mobility.com/news/20260903/newsrelease-260903/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24726" y="390167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1386" y="3892153"/>
            <a:ext cx="68199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R17</a:t>
            </a:r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Mobility, Company news 목록, 2026-10-15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https://maymobility.com/posts/type/company-news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38150" y="4240709"/>
            <a:ext cx="8549259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게시일 미표기 목록·지침은 확인일을 표시했다. 공식 SNS는 10월 14일 게시물을 확인했으며 목록 내 위치는 이후 달라질 수 있다. 원문에 접근하지 못한 유료 기사를 인용한 항목은 없다.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자율주행 데일리 리포트 2026-10-15</dc:title>
  <dc:subject>Waymo 3개 도시 일반 공개와 Uber 맨체스터 시험</dc:subject>
  <dc:creator>PptxGenJS</dc:creator>
  <cp:lastModifiedBy>PptxGenJS</cp:lastModifiedBy>
  <cp:revision>1</cp:revision>
  <dcterms:created xsi:type="dcterms:W3CDTF">2026-10-15T01:23:30Z</dcterms:created>
  <dcterms:modified xsi:type="dcterms:W3CDTF">2026-10-15T01:23:30Z</dcterms:modified>
</cp:coreProperties>
</file>