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50fbf3536db4b14" /><Relationship Type="http://schemas.openxmlformats.org/officeDocument/2006/relationships/extended-properties" Target="/docProps/app.xml" Id="R1c79ffc098cd44a3" /><Relationship Type="http://schemas.openxmlformats.org/officeDocument/2006/relationships/officeDocument" Target="/ppt/presentation.xml" Id="R0862ace9aeab40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ed8822429f4373"/>
  </p:sldMasterIdLst>
  <p:notesMasterIdLst>
    <p:notesMasterId xmlns:r="http://schemas.openxmlformats.org/officeDocument/2006/relationships" r:id="R51e20c8ac9204b09"/>
  </p:notesMasterIdLst>
  <p:sldIdLst>
    <p:sldId xmlns:r="http://schemas.openxmlformats.org/officeDocument/2006/relationships" id="256" r:id="R102dfa56e11e419e"/>
    <p:sldId xmlns:r="http://schemas.openxmlformats.org/officeDocument/2006/relationships" id="257" r:id="Re40732296e0a49bb"/>
    <p:sldId xmlns:r="http://schemas.openxmlformats.org/officeDocument/2006/relationships" id="258" r:id="Rdec17138c6984d6f"/>
    <p:sldId xmlns:r="http://schemas.openxmlformats.org/officeDocument/2006/relationships" id="259" r:id="Rc2fc004108b7426f"/>
    <p:sldId xmlns:r="http://schemas.openxmlformats.org/officeDocument/2006/relationships" id="260" r:id="R11c770b8a9524dde"/>
    <p:sldId xmlns:r="http://schemas.openxmlformats.org/officeDocument/2006/relationships" id="261" r:id="R7d9c3d468b1b472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ac2fbf2f5324469" /><Relationship Type="http://schemas.openxmlformats.org/officeDocument/2006/relationships/slideMaster" Target="/ppt/slideMasters/slideMaster1.xml" Id="R3aed8822429f4373" /><Relationship Type="http://schemas.openxmlformats.org/officeDocument/2006/relationships/notesMaster" Target="/ppt/notesMasters/notesMaster1.xml" Id="R51e20c8ac9204b09" /><Relationship Type="http://schemas.openxmlformats.org/officeDocument/2006/relationships/presProps" Target="/ppt/presProps.xml" Id="R61b8ac7e4cc8407c" /><Relationship Type="http://schemas.openxmlformats.org/officeDocument/2006/relationships/tableStyles" Target="/ppt/tableStyles.xml" Id="Rd732583a9e444932" /><Relationship Type="http://schemas.openxmlformats.org/officeDocument/2006/relationships/slide" Target="/ppt/slides/slide1.xml" Id="R102dfa56e11e419e" /><Relationship Type="http://schemas.openxmlformats.org/officeDocument/2006/relationships/slide" Target="/ppt/slides/slide2.xml" Id="Re40732296e0a49bb" /><Relationship Type="http://schemas.openxmlformats.org/officeDocument/2006/relationships/slide" Target="/ppt/slides/slide3.xml" Id="Rdec17138c6984d6f" /><Relationship Type="http://schemas.openxmlformats.org/officeDocument/2006/relationships/slide" Target="/ppt/slides/slide4.xml" Id="Rc2fc004108b7426f" /><Relationship Type="http://schemas.openxmlformats.org/officeDocument/2006/relationships/slide" Target="/ppt/slides/slide5.xml" Id="R11c770b8a9524dde" /><Relationship Type="http://schemas.openxmlformats.org/officeDocument/2006/relationships/slide" Target="/ppt/slides/slide6.xml" Id="R7d9c3d468b1b47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828f57c39e41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974fb589d342b0" /><Relationship Type="http://schemas.openxmlformats.org/officeDocument/2006/relationships/notesMaster" Target="/ppt/notesMasters/notesMaster1.xml" Id="Ree8947979dbb415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6c76abc1a64540" /><Relationship Type="http://schemas.openxmlformats.org/officeDocument/2006/relationships/notesMaster" Target="/ppt/notesMasters/notesMaster1.xml" Id="R61ca91f043ca48a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bc8121233514928" /><Relationship Type="http://schemas.openxmlformats.org/officeDocument/2006/relationships/notesMaster" Target="/ppt/notesMasters/notesMaster1.xml" Id="R155f2576f1e14cb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b0f51d34a2f4721" /><Relationship Type="http://schemas.openxmlformats.org/officeDocument/2006/relationships/notesMaster" Target="/ppt/notesMasters/notesMaster1.xml" Id="Rb5f57e725265486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19a052db1c548e0" /><Relationship Type="http://schemas.openxmlformats.org/officeDocument/2006/relationships/notesMaster" Target="/ppt/notesMasters/notesMaster1.xml" Id="R3ccb831a30ab4e4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8ebeef1b2c943c6" /><Relationship Type="http://schemas.openxmlformats.org/officeDocument/2006/relationships/notesMaster" Target="/ppt/notesMasters/notesMaster1.xml" Id="R59b7226d5e854f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Status: [신규]</a:t>
            </a:r>
          </a:p>
          <a:p xmlns:a="http://schemas.openxmlformats.org/drawingml/2006/main">
            <a:r>
              <a:t>California State Senator Dave Cortese, 2026-09-30: https://sd15.senate.ca.gov/news/major-victory-public-safety-accountability-oversight-and-emergency-response-standards</a:t>
            </a:r>
          </a:p>
          <a:p xmlns:a="http://schemas.openxmlformats.org/drawingml/2006/main">
            <a:r>
              <a:t>TechCrunch, 2026-10-01: https://techcrunch.com/2026/10/01/robotaxi-operators-will-face-fines-for-blocking-first-responders/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Status: [신규]</a:t>
            </a:r>
          </a:p>
          <a:p xmlns:a="http://schemas.openxmlformats.org/drawingml/2006/main">
            <a:r>
              <a:t>California State Senator Dave Cortese: https://sd15.senate.ca.gov/news/major-victory-public-safety-accountability-oversight-and-emergency-response-standards</a:t>
            </a:r>
          </a:p>
          <a:p xmlns:a="http://schemas.openxmlformats.org/drawingml/2006/main">
            <a:r>
              <a:t>TechCrunch: https://techcrunch.com/2026/10/01/robotaxi-operators-will-face-fines-for-blocking-first-responders/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Status: [신규]</a:t>
            </a:r>
          </a:p>
          <a:p xmlns:a="http://schemas.openxmlformats.org/drawingml/2006/main">
            <a:r>
              <a:t>California State Senator Dave Cortese: https://sd15.senate.ca.gov/news/major-victory-public-safety-accountability-oversight-and-emergency-response-standards</a:t>
            </a:r>
          </a:p>
          <a:p xmlns:a="http://schemas.openxmlformats.org/drawingml/2006/main">
            <a:r>
              <a:t>TechCrunch: https://techcrunch.com/2026/10/01/robotaxi-operators-will-face-fines-for-blocking-first-responders/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Uber: https://www.uber.com/us/en/newsroom/autonomous/</a:t>
            </a:r>
          </a:p>
          <a:p xmlns:a="http://schemas.openxmlformats.org/drawingml/2006/main">
            <a:r>
              <a:t>Avride: https://www.avride.ai/</a:t>
            </a:r>
          </a:p>
          <a:p xmlns:a="http://schemas.openxmlformats.org/drawingml/2006/main">
            <a:r>
              <a:t>Bolt: https://bolt.eu/en/blog/category/autonomous-solutions/</a:t>
            </a:r>
          </a:p>
          <a:p xmlns:a="http://schemas.openxmlformats.org/drawingml/2006/main">
            <a:r>
              <a:t>Mobileye: https://www.mobileye.com/news/</a:t>
            </a:r>
          </a:p>
          <a:p xmlns:a="http://schemas.openxmlformats.org/drawingml/2006/main">
            <a:r>
              <a:t>Kakao Mobility: https://www.kakaomobility.com/newsroom</a:t>
            </a:r>
          </a:p>
          <a:p xmlns:a="http://schemas.openxmlformats.org/drawingml/2006/main">
            <a:r>
              <a:t>Socar: https://www.socarcorp.kr/blog/772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Status: [중복]</a:t>
            </a:r>
          </a:p>
          <a:p xmlns:a="http://schemas.openxmlformats.org/drawingml/2006/main">
            <a:r>
              <a:t>신규 확인 사항 없음</a:t>
            </a:r>
          </a:p>
          <a:p xmlns:a="http://schemas.openxmlformats.org/drawingml/2006/main">
            <a:r>
              <a:t>May Mobility news: https://maymobility.com/posts/type/company-news/</a:t>
            </a:r>
          </a:p>
          <a:p xmlns:a="http://schemas.openxmlformats.org/drawingml/2006/main">
            <a:r>
              <a:t>SEC presentation: https://www.sec.gov/Archives/edgar/data/2111542/000121390026100367/ea030470201ex99-2.htm</a:t>
            </a:r>
          </a:p>
          <a:p xmlns:a="http://schemas.openxmlformats.org/drawingml/2006/main">
            <a:r>
              <a:t>Lyft Atlanta: https://www.lyft.com/blog/posts/lyft-and-may-mobility-launch-autonomous-vehicles-in-atlanta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Status: [중복]</a:t>
            </a:r>
          </a:p>
          <a:p xmlns:a="http://schemas.openxmlformats.org/drawingml/2006/main">
            <a:r>
              <a:t>신규 확인 사항 없음</a:t>
            </a:r>
          </a:p>
          <a:p xmlns:a="http://schemas.openxmlformats.org/drawingml/2006/main">
            <a:r>
              <a:t>SEC presentation: https://www.sec.gov/Archives/edgar/data/2111542/000121390026100367/ea030470201ex99-2.htm</a:t>
            </a:r>
          </a:p>
          <a:p xmlns:a="http://schemas.openxmlformats.org/drawingml/2006/main">
            <a:r>
              <a:t>SEC transcript: https://www.sec.gov/Archives/edgar/data/2111542/000121390026101013/ea030470211-425_acphold.htm</a:t>
            </a:r>
          </a:p>
          <a:p xmlns:a="http://schemas.openxmlformats.org/drawingml/2006/main">
            <a:r>
              <a:t>May Mobility news: https://maymobility.com/posts/type/company-news/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48ff65ff07463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f21159a6f2435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a11077b3b545a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edfa0505e2458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90b5285edc465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434fcdf6784c6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01576142-BA06-4493-8110-1F61D59A2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94C6C85-8D16-461A-A1C1-FDC68209BE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8BF5C14D-5E02-43BD-9371-E46850B3F71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0CFF04DA-4193-4239-8897-FB6A3BFA5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B25185B-CC08-489D-8817-833D04339A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1A3BE5B2-04A4-46F4-9845-7834BD7D1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2B1B9D8-A188-45B3-91DA-611F239AAD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785380D7-8BCD-407E-BA1C-63AA1EDF98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D3F6E56-EE28-4476-B644-687EF631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D81E243-8F1D-448E-8EB6-0A063A8038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0F881AD-4668-497B-958E-1C8C9996B1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5823321-185B-4E86-A4B8-079AE1A1A26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AEE5983B-0A88-46F4-8BD0-84E8C210D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091D969-6605-43BD-BD15-BC7E111ABE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BCB13B1-80B8-4ED2-B883-2BBB8601FBE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cf1bf361d84e05" /><Relationship Type="http://schemas.openxmlformats.org/officeDocument/2006/relationships/slideLayout" Target="/ppt/slideLayouts/slideLayout1.xml" Id="Rc9f8f9e8a38a4de5" /><Relationship Type="http://schemas.openxmlformats.org/officeDocument/2006/relationships/slideLayout" Target="/ppt/slideLayouts/slideLayout2.xml" Id="R1f35a13fa0aa45f8" /><Relationship Type="http://schemas.openxmlformats.org/officeDocument/2006/relationships/slideLayout" Target="/ppt/slideLayouts/slideLayout3.xml" Id="R6dd2400013054685" /><Relationship Type="http://schemas.openxmlformats.org/officeDocument/2006/relationships/slideLayout" Target="/ppt/slideLayouts/slideLayout4.xml" Id="Rd5088a32789b4125" /><Relationship Type="http://schemas.openxmlformats.org/officeDocument/2006/relationships/slideLayout" Target="/ppt/slideLayouts/slideLayout5.xml" Id="R891d445788024d13" /><Relationship Type="http://schemas.openxmlformats.org/officeDocument/2006/relationships/slideLayout" Target="/ppt/slideLayouts/slideLayout6.xml" Id="R50613bb3362442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9f8f9e8a38a4de5"/>
    <p:sldLayoutId xmlns:r="http://schemas.openxmlformats.org/officeDocument/2006/relationships" id="2147483650" r:id="R1f35a13fa0aa45f8"/>
    <p:sldLayoutId xmlns:r="http://schemas.openxmlformats.org/officeDocument/2006/relationships" id="2147483651" r:id="R6dd2400013054685"/>
    <p:sldLayoutId xmlns:r="http://schemas.openxmlformats.org/officeDocument/2006/relationships" id="2147483652" r:id="Rd5088a32789b4125"/>
    <p:sldLayoutId xmlns:r="http://schemas.openxmlformats.org/officeDocument/2006/relationships" id="2147483653" r:id="R891d445788024d13"/>
    <p:sldLayoutId xmlns:r="http://schemas.openxmlformats.org/officeDocument/2006/relationships" id="2147483654" r:id="R50613bb3362442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6c6077c22a4c1f" /><Relationship Type="http://schemas.openxmlformats.org/officeDocument/2006/relationships/notesSlide" Target="/ppt/notesSlides/notesSlide1.xml" Id="R11a9440c23b64ef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66fab2332344c3" /><Relationship Type="http://schemas.openxmlformats.org/officeDocument/2006/relationships/notesSlide" Target="/ppt/notesSlides/notesSlide2.xml" Id="R68ccdbf0942e4af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0f042b76724cd4" /><Relationship Type="http://schemas.openxmlformats.org/officeDocument/2006/relationships/notesSlide" Target="/ppt/notesSlides/notesSlide3.xml" Id="R0334760a97ca4d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c4aa38c0fc442b" /><Relationship Type="http://schemas.openxmlformats.org/officeDocument/2006/relationships/notesSlide" Target="/ppt/notesSlides/notesSlide4.xml" Id="R3e46c9c2eca14d1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55792103294c91" /><Relationship Type="http://schemas.openxmlformats.org/officeDocument/2006/relationships/notesSlide" Target="/ppt/notesSlides/notesSlide5.xml" Id="Reec731c3d1ac4f4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c974a4d3f64ba4" /><Relationship Type="http://schemas.openxmlformats.org/officeDocument/2006/relationships/notesSlide" Target="/ppt/notesSlides/notesSlide6.xml" Id="R212da4b7191f438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9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8C6EFC-B33C-4264-AAE4-783E8812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3047D4-35A2-4515-9981-FF939A71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763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5C0F85-3027-419B-806F-1525FB48C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2875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97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97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AUTONOMOUS DRIVING</a:t>
            </a:r>
          </a:p>
          <a:p xmlns:a="http://schemas.openxmlformats.org/drawingml/2006/main">
            <a:pPr>
              <a:defRPr sz="397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97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DAILY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4F5BA8-5765-4CDE-9308-FB326DEEB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1047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D8E5E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D8E5EE"/>
                </a:solidFill>
                <a:latin typeface="Bitstream Charter"/>
                <a:ea typeface="Bitstream Charter"/>
                <a:cs typeface="Bitstream Charter"/>
              </a:rPr>
              <a:t>California enacts robotaxi emergency-response rules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D268EE-488F-41B8-87D1-D6F7C71D1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7690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AB7C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AAB7C8"/>
                </a:solidFill>
                <a:latin typeface="Bitstream Charter"/>
                <a:ea typeface="Bitstream Charter"/>
                <a:cs typeface="Bitstream Charter"/>
              </a:rPr>
              <a:t>2026-10-05</a:t>
            </a:r>
          </a:p>
        </p:txBody>
      </p:sp>
    </p:spTree>
    <p:extLst>
      <p:ext uri="{BB962C8B-B14F-4D97-AF65-F5344CB8AC3E}">
        <p14:creationId xmlns:p14="http://schemas.microsoft.com/office/powerpoint/2010/main" val="10239836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20682A-D361-4FA1-A720-170E0B8D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A31480-629D-4A91-86BA-EC3B19B7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3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California SB 1246 is now law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0EF996-30DD-4752-8184-D5D045085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3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70551F-71DB-437E-A83B-EB39358C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NEW: ENACTED, NOT YET IN FORCE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259AD7-2E0B-448E-B298-67591D53E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371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D993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D9933D"/>
                </a:solidFill>
                <a:latin typeface="Bitstream Charter"/>
                <a:ea typeface="Bitstream Charter"/>
                <a:cs typeface="Bitstream Charter"/>
              </a:rPr>
              <a:t>Jul 2028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8B1C5F-E004-4B72-9BF8-5654C1D1E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3714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target date for the new operating duties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C6DFAE-5BBC-43C8-B441-6225A62A8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657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Governor Gavin Newsom signed the bill on September 30, 2026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Remote drivers must be in the U.S. and hold a U.S. driver's license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Operators must notify local authorities during system-wide failures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California DMV will set detailed response-time guidance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62D1D2-BE2B-448A-BA7C-A739F8AF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3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rPr>
              <a:t>2026-10-05   DAILY REPORT   2</a:t>
            </a:r>
          </a:p>
        </p:txBody>
      </p:sp>
    </p:spTree>
    <p:extLst>
      <p:ext uri="{BB962C8B-B14F-4D97-AF65-F5344CB8AC3E}">
        <p14:creationId xmlns:p14="http://schemas.microsoft.com/office/powerpoint/2010/main" val="3022590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6FABFD-61E4-4B15-8CA9-EB8DB1874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3FD555-3D0F-4BDF-80CC-BEF3F38E4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3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Emergency-response obligations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D0DE7C-AF9A-49B8-B2DC-8C4167ED2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3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17F604-9378-491F-99E4-0C1E5B15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NEW: LOCAL SUPPORT AND ACCOUNTABILITY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39163A-8817-4EB0-8221-44A513B71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371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D993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D9933D"/>
                </a:solidFill>
                <a:latin typeface="Bitstream Charter"/>
                <a:ea typeface="Bitstream Charter"/>
                <a:cs typeface="Bitstream Charter"/>
              </a:rPr>
              <a:t>30 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D3AF8D-E319-41F9-AD5C-E23760349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3714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threshold for local penalties during emergencies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8D0212-7ABE-4690-905F-0FB020F16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657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Operators must provide local incident technicians for crashes and obstructions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Local penalties apply when an AV blocks emergency operations beyond the threshold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Companies must report more data on incident response times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The rule targets post-incident recovery, not the automated-driving stack itself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08D282-BD35-4479-BB50-992ACEF06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3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rPr>
              <a:t>2026-10-05   DAILY REPORT   3</a:t>
            </a:r>
          </a:p>
        </p:txBody>
      </p:sp>
    </p:spTree>
    <p:extLst>
      <p:ext uri="{BB962C8B-B14F-4D97-AF65-F5344CB8AC3E}">
        <p14:creationId xmlns:p14="http://schemas.microsoft.com/office/powerpoint/2010/main" val="12516704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B31373-BF16-4695-9221-191D8D3E4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E67B15-A57E-4B90-B0EF-A314DB77C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3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L4 check: six requested companies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5F6B76-B77A-4D50-8DBF-21323A6B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3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703FC6-17F7-4A20-AD7B-2100826D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ONLY NEW CONFIRMED FACTS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05989F-FD07-4743-9620-DEA066C6A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371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0 / 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7ED8EE-50EA-4E33-8A41-575AB9E3B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3714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companies with a new L4 operating change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F190C8-E590-4A25-8DCD-41B2350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657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Uber and Avride: no new driver-out, permit, geofence or fleet update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Bolt and Mobileye: no new test launch or commercial execution change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Kakao Mobility: no new safety-operator removal or daytime service launch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Socar: no new L4 permit, service or vehicle deployment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5D05A4-C77C-4F32-9FCC-FF0ACB9D7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3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rPr>
              <a:t>2026-10-05   DAILY REPORT   4</a:t>
            </a:r>
          </a:p>
        </p:txBody>
      </p:sp>
    </p:spTree>
    <p:extLst>
      <p:ext uri="{BB962C8B-B14F-4D97-AF65-F5344CB8AC3E}">
        <p14:creationId xmlns:p14="http://schemas.microsoft.com/office/powerpoint/2010/main" val="2370922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8E848B-DCFF-4767-A205-5BE6FECF0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49932F-356A-4B92-82B2-D637E2EB1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3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May Mobility operating status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598B0E-6B03-4EF8-AA53-B75D37E3D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3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0205B6-6AE5-4F0B-9EE8-9E780249A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DUPLICATE: NO NEW CONFIRMATION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BD3B32-A260-44D7-B064-D60A45F17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371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550K+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A30E8B-C906-45CD-BEB1-AF932ADCE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3714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commercial rides claimed cumulatively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407EA2-DBE4-4252-9591-B6F8A462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657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U.S. commercial locations remain Atlanta, Grand Rapids and Eden Prairie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Atlanta launched with an onboard safety operator; no removal update was found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Arlington with Uber remains a target, not a confirmed launch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No new driver-out transition, fleet expansion or site opening was confirmed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6F0A37-AF88-484F-B5C5-631D4EF05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3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rPr>
              <a:t>2026-10-05   DAILY REPORT   5</a:t>
            </a:r>
          </a:p>
        </p:txBody>
      </p:sp>
    </p:spTree>
    <p:extLst>
      <p:ext uri="{BB962C8B-B14F-4D97-AF65-F5344CB8AC3E}">
        <p14:creationId xmlns:p14="http://schemas.microsoft.com/office/powerpoint/2010/main" val="6424396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976801-A3CC-403D-833B-1D4B8D51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FAA668-F908-4368-8B39-CE409FB14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3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May Mobility technology and transaction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3E02F0-5946-4AEB-A1AE-533D8D94A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3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78AEE3-5391-450D-9033-7C767E0A8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DUPLICATE: NO NEW CONFIRMATION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ABEE53-4327-4AF2-B12A-F104E21DA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371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$1.4B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B10771-243B-4ED8-BC28-B5A3AB7FD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3714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proposed enterprise value; deal not closed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4D0588-E665-4A81-9585-3A07471E5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657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The current stack uses lidar, radar and cameras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May says MPDM evaluates about 1,000 potential scenarios each second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The proposed deal includes up to $337M gross proceeds and a $120M PIPE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No new SPAC closing or direct Hyundai relationship was confirmed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F90A6D-2BB0-42EC-B3DB-E49F08E5A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3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rPr>
              <a:t>2026-10-05   DAILY REPORT   6</a:t>
            </a:r>
          </a:p>
        </p:txBody>
      </p:sp>
    </p:spTree>
    <p:extLst>
      <p:ext uri="{BB962C8B-B14F-4D97-AF65-F5344CB8AC3E}">
        <p14:creationId xmlns:p14="http://schemas.microsoft.com/office/powerpoint/2010/main" val="6376781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2026-10-04T22:36:54.9850000Z</dcterms:created>
  <dcterms:modified xsi:type="dcterms:W3CDTF">2026-10-04T22:36:54.9850000Z</dcterms:modified>
</coreProperties>
</file>