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7a556b3bc044f2" /><Relationship Type="http://schemas.openxmlformats.org/officeDocument/2006/relationships/extended-properties" Target="/docProps/app.xml" Id="R429d239d05134c6e" /><Relationship Type="http://schemas.openxmlformats.org/officeDocument/2006/relationships/officeDocument" Target="/ppt/presentation.xml" Id="Rca672929d0794a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fdcc098c8e47c0"/>
  </p:sldMasterIdLst>
  <p:notesMasterIdLst>
    <p:notesMasterId xmlns:r="http://schemas.openxmlformats.org/officeDocument/2006/relationships" r:id="Re5d0ef398f184c40"/>
  </p:notesMasterIdLst>
  <p:sldIdLst>
    <p:sldId xmlns:r="http://schemas.openxmlformats.org/officeDocument/2006/relationships" id="256" r:id="Rd28bd4d183574f4d"/>
    <p:sldId xmlns:r="http://schemas.openxmlformats.org/officeDocument/2006/relationships" id="257" r:id="R06811776c45f4c5d"/>
    <p:sldId xmlns:r="http://schemas.openxmlformats.org/officeDocument/2006/relationships" id="258" r:id="Rb67916703a1448ad"/>
    <p:sldId xmlns:r="http://schemas.openxmlformats.org/officeDocument/2006/relationships" id="259" r:id="Re4833336783c475b"/>
    <p:sldId xmlns:r="http://schemas.openxmlformats.org/officeDocument/2006/relationships" id="260" r:id="R456372b6fff1443d"/>
    <p:sldId xmlns:r="http://schemas.openxmlformats.org/officeDocument/2006/relationships" id="261" r:id="R34f72d1bc4304710"/>
    <p:sldId xmlns:r="http://schemas.openxmlformats.org/officeDocument/2006/relationships" id="262" r:id="R9df13c7716da4a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9cef46faed4292" /><Relationship Type="http://schemas.openxmlformats.org/officeDocument/2006/relationships/slideMaster" Target="/ppt/slideMasters/slideMaster1.xml" Id="R7ffdcc098c8e47c0" /><Relationship Type="http://schemas.openxmlformats.org/officeDocument/2006/relationships/notesMaster" Target="/ppt/notesMasters/notesMaster1.xml" Id="Re5d0ef398f184c40" /><Relationship Type="http://schemas.openxmlformats.org/officeDocument/2006/relationships/presProps" Target="/ppt/presProps.xml" Id="R624ae426ba9743e1" /><Relationship Type="http://schemas.openxmlformats.org/officeDocument/2006/relationships/tableStyles" Target="/ppt/tableStyles.xml" Id="R131c8453499546b8" /><Relationship Type="http://schemas.openxmlformats.org/officeDocument/2006/relationships/slide" Target="/ppt/slides/slide1.xml" Id="Rd28bd4d183574f4d" /><Relationship Type="http://schemas.openxmlformats.org/officeDocument/2006/relationships/slide" Target="/ppt/slides/slide2.xml" Id="R06811776c45f4c5d" /><Relationship Type="http://schemas.openxmlformats.org/officeDocument/2006/relationships/slide" Target="/ppt/slides/slide3.xml" Id="Rb67916703a1448ad" /><Relationship Type="http://schemas.openxmlformats.org/officeDocument/2006/relationships/slide" Target="/ppt/slides/slide4.xml" Id="Re4833336783c475b" /><Relationship Type="http://schemas.openxmlformats.org/officeDocument/2006/relationships/slide" Target="/ppt/slides/slide5.xml" Id="R456372b6fff1443d" /><Relationship Type="http://schemas.openxmlformats.org/officeDocument/2006/relationships/slide" Target="/ppt/slides/slide6.xml" Id="R34f72d1bc4304710" /><Relationship Type="http://schemas.openxmlformats.org/officeDocument/2006/relationships/slide" Target="/ppt/slides/slide7.xml" Id="R9df13c7716da4a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84f0e991c845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8ccc432ae240e9" /><Relationship Type="http://schemas.openxmlformats.org/officeDocument/2006/relationships/notesMaster" Target="/ppt/notesMasters/notesMaster1.xml" Id="Re9a3333699ba4e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634d8df71b41c1" /><Relationship Type="http://schemas.openxmlformats.org/officeDocument/2006/relationships/notesMaster" Target="/ppt/notesMasters/notesMaster1.xml" Id="R0e4580ed2d6e40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3d1a65f9da431e" /><Relationship Type="http://schemas.openxmlformats.org/officeDocument/2006/relationships/notesMaster" Target="/ppt/notesMasters/notesMaster1.xml" Id="R1ba5ed8884c942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06050a49a34987" /><Relationship Type="http://schemas.openxmlformats.org/officeDocument/2006/relationships/notesMaster" Target="/ppt/notesMasters/notesMaster1.xml" Id="R118745701a344c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67743a0be24164" /><Relationship Type="http://schemas.openxmlformats.org/officeDocument/2006/relationships/notesMaster" Target="/ppt/notesMasters/notesMaster1.xml" Id="R64daac66621b4c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405762a826413c" /><Relationship Type="http://schemas.openxmlformats.org/officeDocument/2006/relationships/notesMaster" Target="/ppt/notesMasters/notesMaster1.xml" Id="R615c214cc07142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87d98cbc954b07" /><Relationship Type="http://schemas.openxmlformats.org/officeDocument/2006/relationships/notesMaster" Target="/ppt/notesMasters/notesMaster1.xml" Id="R1e5a1ba1db9345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Reuters, 2026-09-30: https://www.reuters.com/world/asia-pacific/mercedes-backed-momenta-targets-dubai-europe-robotaxi-expansion-2026-09-30/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Reuters: https://www.reuters.com/world/asia-pacific/mercedes-backed-momenta-targets-dubai-europe-robotaxi-expansion-2026-09-30/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Reuters: https://www.reuters.com/world/asia-pacific/mercedes-backed-momenta-targets-dubai-europe-robotaxi-expansion-2026-09-30/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MoneyToday, 2026-09-30: https://www.mt.co.kr/en/future/2026/09/30/2026093010415838505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EVwire, 2026-09-30: https://evwire.com/p/zoox-denver-winter-weather-testing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Uber: https://www.uber.com/us/en/newsroom/autonomous/</a:t>
            </a:r>
          </a:p>
          <a:p xmlns:a="http://schemas.openxmlformats.org/drawingml/2006/main">
            <a:r>
              <a:t>Avride: https://www.avride.ai/</a:t>
            </a:r>
          </a:p>
          <a:p xmlns:a="http://schemas.openxmlformats.org/drawingml/2006/main">
            <a:r>
              <a:t>Bolt: https://bolt.eu/en/blog/category/autonomous-solutions/</a:t>
            </a:r>
          </a:p>
          <a:p xmlns:a="http://schemas.openxmlformats.org/drawingml/2006/main">
            <a:r>
              <a:t>Mobileye: https://ir.mobileye.com/news-events/events-presentations</a:t>
            </a:r>
          </a:p>
          <a:p xmlns:a="http://schemas.openxmlformats.org/drawingml/2006/main">
            <a:r>
              <a:t>Socar: https://www.socarcorp.kr/blog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May Mobility news: https://maymobility.com/posts/type/company-news/</a:t>
            </a:r>
          </a:p>
          <a:p xmlns:a="http://schemas.openxmlformats.org/drawingml/2006/main">
            <a:r>
              <a:t>SEC presentation: https://www.sec.gov/Archives/edgar/data/2111542/000121390026100367/ea030470201ex99-2.htm</a:t>
            </a:r>
          </a:p>
          <a:p xmlns:a="http://schemas.openxmlformats.org/drawingml/2006/main">
            <a:r>
              <a:t>SEC 8-K: https://www.sec.gov/Archives/edgar/data/2111542/000121390026100367/ea0304702-8k425_acpholdings.htm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0491e5173245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85337af2f442be" /><Relationship Type="http://schemas.openxmlformats.org/officeDocument/2006/relationships/slideLayout" Target="/ppt/slideLayouts/slideLayout1.xml" Id="Ra173c344d6fa47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73c344d6fa47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0f0648eb44301" /><Relationship Type="http://schemas.openxmlformats.org/officeDocument/2006/relationships/notesSlide" Target="/ppt/notesSlides/notesSlide1.xml" Id="R84825eb6f26442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82a71032e4e02" /><Relationship Type="http://schemas.openxmlformats.org/officeDocument/2006/relationships/notesSlide" Target="/ppt/notesSlides/notesSlide2.xml" Id="R0260eb3c6ed040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5cf3cec2f416f" /><Relationship Type="http://schemas.openxmlformats.org/officeDocument/2006/relationships/notesSlide" Target="/ppt/notesSlides/notesSlide3.xml" Id="R9ae2d4728dca44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6e9cb9464410c" /><Relationship Type="http://schemas.openxmlformats.org/officeDocument/2006/relationships/notesSlide" Target="/ppt/notesSlides/notesSlide4.xml" Id="Rd4b7fc087eac4e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0198dade24a93" /><Relationship Type="http://schemas.openxmlformats.org/officeDocument/2006/relationships/notesSlide" Target="/ppt/notesSlides/notesSlide5.xml" Id="R8ff0a39c7ad74d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2c7da2d5742ce" /><Relationship Type="http://schemas.openxmlformats.org/officeDocument/2006/relationships/notesSlide" Target="/ppt/notesSlides/notesSlide6.xml" Id="Rfc40a51fe81c42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c06bdf58394c86" /><Relationship Type="http://schemas.openxmlformats.org/officeDocument/2006/relationships/notesSlide" Target="/ppt/notesSlides/notesSlide7.xml" Id="Ra7b3df27b99d44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2D0D4-E75F-4550-BEFE-C1670021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C3D94-0E42-41F3-BFD3-E46B10C0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AEE36-E298-43DB-A3FD-831018E5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AUTONOMOUS DRIVING</a:t>
            </a:r>
          </a:p>
          <a:p xmlns:a="http://schemas.openxmlformats.org/drawingml/2006/main">
            <a:pPr>
              <a:def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3E700-BCE3-4E46-9C0D-1EAD9F3C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Momenta targets thousands of robotaxis in 2027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CB4B7-620A-4696-A333-AF46C292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2026-10-01</a:t>
            </a:r>
          </a:p>
        </p:txBody>
      </p:sp>
    </p:spTree>
    <p:extLst>
      <p:ext uri="{BB962C8B-B14F-4D97-AF65-F5344CB8AC3E}">
        <p14:creationId xmlns:p14="http://schemas.microsoft.com/office/powerpoint/2010/main" val="15129565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794E2-9B62-4593-9EA4-65E77694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009CA-717B-47FF-9C26-469FDA7A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Momenta separates deployment from targets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1623A-E756-4DE0-B965-B5C42056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B9426-36E0-41F5-B963-C05D69EA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[NEW / 신규]  CURRENT STATUS VS.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F4EBB-9DBA-4070-B2C0-2C77BD55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100+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A96C8-9775-4324-B9C0-4BAD4FE6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vehicles currently deployed across 3 countries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05567-3BC0-483F-863C-48C3E08D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Testing spans five Chinese cities, Munich and Abu Dhabi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Hundreds by end-2026 and thousands by end-2027 are company targets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Dubai deployment is planned for 2027; European cities remain in discussion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City permits, paid-service dates and safety-operator policies were not disclosed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B5839-4D1A-474D-8736-1ED95DCD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2026-10-01   DAILY REPORT   2</a:t>
            </a:r>
          </a:p>
        </p:txBody>
      </p:sp>
    </p:spTree>
    <p:extLst>
      <p:ext uri="{BB962C8B-B14F-4D97-AF65-F5344CB8AC3E}">
        <p14:creationId xmlns:p14="http://schemas.microsoft.com/office/powerpoint/2010/main" val="2079504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AC8B0-C78B-4370-AE7A-FE8BC853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893AD-DC40-4F51-9582-94729BD6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Momenta develops a dedicated chip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94EF5-10B8-4588-89DD-2A19BE58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135BA-E78B-47C8-A4C6-B98B0E29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[NEW / 신규]  TECHNOLOGY AND SUPPLY CHAIN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CC375-A706-40BC-AD2D-E0C71888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X9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1C4E2-2553-4B15-AC16-5419494B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next-generation dedicated chip 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0B404-4E8B-44C7-8A63-E94C1E79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XHeart is developing chips for Momenta autonomous-driving software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X9 is intended for future global robotaxi deployments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Lower cost than comparable NVIDIA compute is a company expectation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Production-vehicle integration and commercial deployment remain unconfirmed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F158D-B615-46D4-A727-F2510DC3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2026-10-01   DAILY REPORT   3</a:t>
            </a:r>
          </a:p>
        </p:txBody>
      </p:sp>
    </p:spTree>
    <p:extLst>
      <p:ext uri="{BB962C8B-B14F-4D97-AF65-F5344CB8AC3E}">
        <p14:creationId xmlns:p14="http://schemas.microsoft.com/office/powerpoint/2010/main" val="866418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17012-3A3B-43EF-82A9-6B6F27BA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C8955-AA16-4F19-AFC8-25FD886D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Kakao Mobility joins AI robotaxi MOU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11B5E-6519-4D81-BEF8-54EE0641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B24DB-BDF7-4A21-B696-0D83F894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[NEW / 신규]  AGREEMENT STAGE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F025B-74AE-4B63-95E5-49FA09E2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MOU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A0F51-1B77-481A-8D38-2C29A40F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validation and training-data ecosystem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8B451-6191-4BDA-8C99-99E2104F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Signed September 30 with RideFlux, SWM and KATECH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Parties plan to share driverless operations, remote support and safety validation know-how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Scope includes long-tail scenario screening and HD-map updates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No new permit, fleet size or driverless-service date was disclosed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94073-124F-4D15-9B57-207CE67C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2026-10-01   DAILY REPORT   4</a:t>
            </a:r>
          </a:p>
        </p:txBody>
      </p:sp>
    </p:spTree>
    <p:extLst>
      <p:ext uri="{BB962C8B-B14F-4D97-AF65-F5344CB8AC3E}">
        <p14:creationId xmlns:p14="http://schemas.microsoft.com/office/powerpoint/2010/main" val="12552247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96670-ED7A-4DB3-8DEF-828F7A07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45E04-0396-4A78-B96D-67A677D6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Zoox collects winter data in Denver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F5580-41A4-491C-BA8F-AB787C9D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751BF-3276-4C1B-8902-1069B81F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[NEW / 신규]  MANUAL DATA COLLECTION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FA806-409F-42C3-B5EF-56EB06CD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15F92-845F-4F61-8CA2-72857A01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passengers carried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A61C0-F1B2-406C-AD26-664D9AEB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 small fleet will collect snow and heavy-rain data for several months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Safety operators will manually drive the vehicles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Zoox has no current plan to offer rides in Denver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This is ODD training data collection, not an L4 service launch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86AB4-DDFE-4940-8BF1-0C811933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2026-10-01   DAILY REPORT   5</a:t>
            </a:r>
          </a:p>
        </p:txBody>
      </p:sp>
    </p:spTree>
    <p:extLst>
      <p:ext uri="{BB962C8B-B14F-4D97-AF65-F5344CB8AC3E}">
        <p14:creationId xmlns:p14="http://schemas.microsoft.com/office/powerpoint/2010/main" val="5337711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CAFE2-B779-44DB-A7AC-F73B0607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118A4-C07B-4BFB-A33B-DD7AFE16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L4 check: six requested companies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A402C-59A7-46F8-AE0B-056C212F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536CA-DA02-410E-BFBC-2D7998C7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ONLY NEW CONFIRMED FACTS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E074E-D73C-402B-B8F5-86FE9892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1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0A42D-739D-4402-949F-75E965C3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company with a new L4-related update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3A64A-B8C2-406F-8468-FF3C38C9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Kakao Mobility: validation and training-data MOU [NEW / 신규]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Uber, Avride and Bolt: no new confirmed facts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Mobileye: no change after the September 30 report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Socar: no new operation, permit or fleet-size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F7D71-DA58-48D0-A388-0BABCD2F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2026-10-01   DAILY REPORT   6</a:t>
            </a:r>
          </a:p>
        </p:txBody>
      </p:sp>
    </p:spTree>
    <p:extLst>
      <p:ext uri="{BB962C8B-B14F-4D97-AF65-F5344CB8AC3E}">
        <p14:creationId xmlns:p14="http://schemas.microsoft.com/office/powerpoint/2010/main" val="19419751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B3D40-5AF3-4739-9AE6-3B6B97DD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55787-DA74-4597-8748-85787521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May Mobility deep dive [DUPLICATE / 중복]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0F2F2-2ABF-4AA8-9D41-1790F294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5DBCC-B015-4010-A908-7560C489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NO NEW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9C690-36EF-4FEA-9239-2C27EBC5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550K+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F5024-9CC9-4EAE-A41F-BECB93EB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cumulative commercial rides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DE660-E94E-4E9B-890D-F97FA0B6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Prior reports: Sep 21, 23–25 and 28–30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U.S. commercial markets: Atlanta, Grand Rapids and Eden Prairie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1.1M miles and three driver-out launches are cumulative company metrics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Arlington with Uber targets Q4 2026 or Q1 2027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SPAC closing and current regional operator/fleet details remain unconfirmed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B94C3-578C-4544-970F-282DFE61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2026-10-01   DAILY REPORT   7</a:t>
            </a:r>
          </a:p>
        </p:txBody>
      </p:sp>
    </p:spTree>
    <p:extLst>
      <p:ext uri="{BB962C8B-B14F-4D97-AF65-F5344CB8AC3E}">
        <p14:creationId xmlns:p14="http://schemas.microsoft.com/office/powerpoint/2010/main" val="20474993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2026-09-30T22:34:40.6130000Z</dcterms:created>
  <dcterms:modified xsi:type="dcterms:W3CDTF">2026-09-30T22:34:40.6130000Z</dcterms:modified>
</coreProperties>
</file>