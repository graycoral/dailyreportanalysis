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6bbd26b01bc4c47" /><Relationship Type="http://schemas.openxmlformats.org/officeDocument/2006/relationships/extended-properties" Target="/docProps/app.xml" Id="Rfa25e42b94a14ed1" /><Relationship Type="http://schemas.openxmlformats.org/officeDocument/2006/relationships/officeDocument" Target="/ppt/presentation.xml" Id="Rcb2ca19f9b384f6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dd7febc97b84320"/>
  </p:sldMasterIdLst>
  <p:notesMasterIdLst>
    <p:notesMasterId xmlns:r="http://schemas.openxmlformats.org/officeDocument/2006/relationships" r:id="R39081fd3bc3e4a00"/>
  </p:notesMasterIdLst>
  <p:sldIdLst>
    <p:sldId xmlns:r="http://schemas.openxmlformats.org/officeDocument/2006/relationships" id="256" r:id="R30250b80aeae4b8a"/>
    <p:sldId xmlns:r="http://schemas.openxmlformats.org/officeDocument/2006/relationships" id="257" r:id="Rfd234d7a1ac5466b"/>
    <p:sldId xmlns:r="http://schemas.openxmlformats.org/officeDocument/2006/relationships" id="258" r:id="R37d4ffd9f75142a9"/>
    <p:sldId xmlns:r="http://schemas.openxmlformats.org/officeDocument/2006/relationships" id="259" r:id="Rb1858bc35b074611"/>
    <p:sldId xmlns:r="http://schemas.openxmlformats.org/officeDocument/2006/relationships" id="260" r:id="R933082ac3c164611"/>
    <p:sldId xmlns:r="http://schemas.openxmlformats.org/officeDocument/2006/relationships" id="261" r:id="R34fad1a5471c46a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7b33e159df14f3c" /><Relationship Type="http://schemas.openxmlformats.org/officeDocument/2006/relationships/slideMaster" Target="/ppt/slideMasters/slideMaster1.xml" Id="R1dd7febc97b84320" /><Relationship Type="http://schemas.openxmlformats.org/officeDocument/2006/relationships/notesMaster" Target="/ppt/notesMasters/notesMaster1.xml" Id="R39081fd3bc3e4a00" /><Relationship Type="http://schemas.openxmlformats.org/officeDocument/2006/relationships/presProps" Target="/ppt/presProps.xml" Id="R8b59eaef297d44b6" /><Relationship Type="http://schemas.openxmlformats.org/officeDocument/2006/relationships/tableStyles" Target="/ppt/tableStyles.xml" Id="R62e5a7e5e7ca4b5a" /><Relationship Type="http://schemas.openxmlformats.org/officeDocument/2006/relationships/slide" Target="/ppt/slides/slide1.xml" Id="R30250b80aeae4b8a" /><Relationship Type="http://schemas.openxmlformats.org/officeDocument/2006/relationships/slide" Target="/ppt/slides/slide2.xml" Id="Rfd234d7a1ac5466b" /><Relationship Type="http://schemas.openxmlformats.org/officeDocument/2006/relationships/slide" Target="/ppt/slides/slide3.xml" Id="R37d4ffd9f75142a9" /><Relationship Type="http://schemas.openxmlformats.org/officeDocument/2006/relationships/slide" Target="/ppt/slides/slide4.xml" Id="Rb1858bc35b074611" /><Relationship Type="http://schemas.openxmlformats.org/officeDocument/2006/relationships/slide" Target="/ppt/slides/slide5.xml" Id="R933082ac3c164611" /><Relationship Type="http://schemas.openxmlformats.org/officeDocument/2006/relationships/slide" Target="/ppt/slides/slide6.xml" Id="R34fad1a5471c46a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704af1a75294a6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f313e0f5094405a" /><Relationship Type="http://schemas.openxmlformats.org/officeDocument/2006/relationships/notesMaster" Target="/ppt/notesMasters/notesMaster1.xml" Id="R8480ae79017b441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41c2f0756cb40ee" /><Relationship Type="http://schemas.openxmlformats.org/officeDocument/2006/relationships/notesMaster" Target="/ppt/notesMasters/notesMaster1.xml" Id="R4f5351b2502a499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b3824afcf1c4da7" /><Relationship Type="http://schemas.openxmlformats.org/officeDocument/2006/relationships/notesMaster" Target="/ppt/notesMasters/notesMaster1.xml" Id="Rdb48095708e9487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e107c5b84ce46bf" /><Relationship Type="http://schemas.openxmlformats.org/officeDocument/2006/relationships/notesMaster" Target="/ppt/notesMasters/notesMaster1.xml" Id="Rc39d6cb769474f2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856c5484e974033" /><Relationship Type="http://schemas.openxmlformats.org/officeDocument/2006/relationships/notesMaster" Target="/ppt/notesMasters/notesMaster1.xml" Id="R32842aea367c43b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d0a537593cd4cf4" /><Relationship Type="http://schemas.openxmlformats.org/officeDocument/2006/relationships/notesMaster" Target="/ppt/notesMasters/notesMaster1.xml" Id="R78f1525105df4ab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https://www.latimes.com/business/story/2026-10-13/uber-executive-overseeing-robotaxi-push-to-leave-amid-leadership-departures</a:t>
            </a:r>
          </a:p>
          <a:p xmlns:a="http://schemas.openxmlformats.org/drawingml/2006/main">
            <a:r>
              <a:t>https://qz.com/uber-autonomous-mobility-head-departing-101326</a:t>
            </a:r>
          </a:p>
          <a:p xmlns:a="http://schemas.openxmlformats.org/drawingml/2006/main">
            <a:r>
              <a:t>https://www.uber.com/us/en/about/leadership/sarfraz-maredia/</a:t>
            </a:r>
          </a:p>
          <a:p xmlns:a="http://schemas.openxmlformats.org/drawingml/2006/main">
            <a:r>
              <a:t>https://www.sec.gov/Archives/edgar/data/2111542/000121390026100367/ea030470201ex99-1.htm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https://www.latimes.com/business/story/2026-10-13/uber-executive-overseeing-robotaxi-push-to-leave-amid-leadership-departures</a:t>
            </a:r>
          </a:p>
          <a:p xmlns:a="http://schemas.openxmlformats.org/drawingml/2006/main">
            <a:r>
              <a:t>https://qz.com/uber-autonomous-mobility-head-departing-101326</a:t>
            </a:r>
          </a:p>
          <a:p xmlns:a="http://schemas.openxmlformats.org/drawingml/2006/main">
            <a:r>
              <a:t>https://www.uber.com/us/en/about/leadership/sarfraz-maredia/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https://www.wsj.com/tech/uber-robotaxi-leader-to-depart-next-month-612295c2</a:t>
            </a:r>
          </a:p>
          <a:p xmlns:a="http://schemas.openxmlformats.org/drawingml/2006/main">
            <a:r>
              <a:t>https://www.latimes.com/business/story/2026-10-13/uber-executive-overseeing-robotaxi-push-to-leave-amid-leadership-departures</a:t>
            </a:r>
          </a:p>
          <a:p xmlns:a="http://schemas.openxmlformats.org/drawingml/2006/main">
            <a:r>
              <a:t>https://qz.com/uber-autonomous-mobility-head-departing-101326</a:t>
            </a:r>
          </a:p>
          <a:p xmlns:a="http://schemas.openxmlformats.org/drawingml/2006/main">
            <a:r>
              <a:t>https://www.uber.com/us/en/about/leadership/sarfraz-maredia/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https://www.avride.ai/</a:t>
            </a:r>
          </a:p>
          <a:p xmlns:a="http://schemas.openxmlformats.org/drawingml/2006/main">
            <a:r>
              <a:t>https://bolt.eu/en/blog/category/autonomous-solutions/</a:t>
            </a:r>
          </a:p>
          <a:p xmlns:a="http://schemas.openxmlformats.org/drawingml/2006/main">
            <a:r>
              <a:t>https://www.mobileye.com/news/</a:t>
            </a:r>
          </a:p>
          <a:p xmlns:a="http://schemas.openxmlformats.org/drawingml/2006/main">
            <a:r>
              <a:t>https://www.kakaomobility.com/newsroom</a:t>
            </a:r>
          </a:p>
          <a:p xmlns:a="http://schemas.openxmlformats.org/drawingml/2006/main">
            <a:r>
              <a:t>https://www.socarcorp.kr/blog/772</a:t>
            </a:r>
          </a:p>
          <a:p xmlns:a="http://schemas.openxmlformats.org/drawingml/2006/main">
            <a:r>
              <a:t>https://www.uber.com/us/en/about/leadership/sarfraz-maredia/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https://www.sec.gov/Archives/edgar/data/2111542/000121390026100367/ea030470201ex99-1.htm</a:t>
            </a:r>
          </a:p>
          <a:p xmlns:a="http://schemas.openxmlformats.org/drawingml/2006/main">
            <a:r>
              <a:t>https://maymobility.com/first-responders/frip-atlanta-georgia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https://maymobility.com/posts/may-mobility-launches-new-av-architecture/</a:t>
            </a:r>
          </a:p>
          <a:p xmlns:a="http://schemas.openxmlformats.org/drawingml/2006/main">
            <a:r>
              <a:t>https://www.sec.gov/Archives/edgar/data/2111542/000121390026100367/ea030470201ex99-1.htm</a:t>
            </a:r>
          </a:p>
          <a:p xmlns:a="http://schemas.openxmlformats.org/drawingml/2006/main">
            <a:r>
              <a:t>https://www.sec.gov/Archives/edgar/data/2111542/000121390026100367/ea030470201ex99-2.htm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e9592d7cba4bc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62e8836e3d49b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34e68e6f69451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edd6a1a9d942e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a5dd864157439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eee5c3b829465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0606CF8-58D1-4AFA-BA1B-72E26880F0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CBA9569-C8B7-4BFD-BCED-25476B78C19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C2ABF8D-50E7-4FBF-9F62-0F2C2BEB3E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6CD06DB-D7B9-4489-9FBE-E6172EA58F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DACCFF4-DDCC-4095-A81B-71E9C82889E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1DF48DF-4C34-4208-BD3C-99BA43D6A6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10353EF-7707-4C5F-8FB2-C515487FA03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C0FFE53-0EB2-4F39-B1F2-09D9FFF0964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C20D7E5-4470-4BA8-9DA1-0F4B799D99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B6D425F-E3D0-42D4-B493-8C818F6C904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00ca5ef05704b31" /><Relationship Type="http://schemas.openxmlformats.org/officeDocument/2006/relationships/slideLayout" Target="/ppt/slideLayouts/slideLayout1.xml" Id="R6cdd8ec739b24c44" /><Relationship Type="http://schemas.openxmlformats.org/officeDocument/2006/relationships/slideLayout" Target="/ppt/slideLayouts/slideLayout2.xml" Id="Rb90e28fd3c7c45e3" /><Relationship Type="http://schemas.openxmlformats.org/officeDocument/2006/relationships/slideLayout" Target="/ppt/slideLayouts/slideLayout3.xml" Id="R837eaedd23404562" /><Relationship Type="http://schemas.openxmlformats.org/officeDocument/2006/relationships/slideLayout" Target="/ppt/slideLayouts/slideLayout4.xml" Id="R2a002b3e3de146c7" /><Relationship Type="http://schemas.openxmlformats.org/officeDocument/2006/relationships/slideLayout" Target="/ppt/slideLayouts/slideLayout5.xml" Id="R90daba7e627f4b24" /><Relationship Type="http://schemas.openxmlformats.org/officeDocument/2006/relationships/slideLayout" Target="/ppt/slideLayouts/slideLayout6.xml" Id="R2d0f37ca2f9c495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cdd8ec739b24c44"/>
    <p:sldLayoutId xmlns:r="http://schemas.openxmlformats.org/officeDocument/2006/relationships" id="2147483650" r:id="Rb90e28fd3c7c45e3"/>
    <p:sldLayoutId xmlns:r="http://schemas.openxmlformats.org/officeDocument/2006/relationships" id="2147483651" r:id="R837eaedd23404562"/>
    <p:sldLayoutId xmlns:r="http://schemas.openxmlformats.org/officeDocument/2006/relationships" id="2147483652" r:id="R2a002b3e3de146c7"/>
    <p:sldLayoutId xmlns:r="http://schemas.openxmlformats.org/officeDocument/2006/relationships" id="2147483653" r:id="R90daba7e627f4b24"/>
    <p:sldLayoutId xmlns:r="http://schemas.openxmlformats.org/officeDocument/2006/relationships" id="2147483654" r:id="R2d0f37ca2f9c495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c025ca73f04fc7" /><Relationship Type="http://schemas.openxmlformats.org/officeDocument/2006/relationships/notesSlide" Target="/ppt/notesSlides/notesSlide1.xml" Id="Rba1a21c1c68340d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9c04495e8d479d" /><Relationship Type="http://schemas.openxmlformats.org/officeDocument/2006/relationships/notesSlide" Target="/ppt/notesSlides/notesSlide2.xml" Id="R44b8eec4804e4a9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8f6c44de5045b3" /><Relationship Type="http://schemas.openxmlformats.org/officeDocument/2006/relationships/notesSlide" Target="/ppt/notesSlides/notesSlide3.xml" Id="R61f7fec4b1184f1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24c6d2a4f145f7" /><Relationship Type="http://schemas.openxmlformats.org/officeDocument/2006/relationships/notesSlide" Target="/ppt/notesSlides/notesSlide4.xml" Id="R0944091e65c245b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915f67104844d2" /><Relationship Type="http://schemas.openxmlformats.org/officeDocument/2006/relationships/notesSlide" Target="/ppt/notesSlides/notesSlide5.xml" Id="R6ebec3cc9f70477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fc6bf31c4e4dc4" /><Relationship Type="http://schemas.openxmlformats.org/officeDocument/2006/relationships/notesSlide" Target="/ppt/notesSlides/notesSlide6.xml" Id="R55f71da7cfe44fc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9B7030-A5AB-4589-97F4-BA2695C60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0B1930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0B193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00" b="1">
                <a:solidFill>
                  <a:srgbClr val="0B1930"/>
                </a:solidFill>
                <a:latin typeface="Noto Sans CJK KR"/>
                <a:ea typeface="Noto Sans CJK KR"/>
                <a:cs typeface="Noto Sans CJK KR"/>
              </a:rPr>
              <a:t>Uber 자율주행 책임자 교체 예정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04ED8F-02F7-43C7-9198-92AA1CC37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77C75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77C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177C75"/>
                </a:solidFill>
                <a:latin typeface="Noto Sans CJK KR"/>
                <a:ea typeface="Noto Sans CJK KR"/>
                <a:cs typeface="Noto Sans CJK KR"/>
              </a:rPr>
              <a:t>Executive Summary · [신규] 2026-10-13 보도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DDC334-7E77-44C2-A398-81CCF6BB2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rPr>
              <a:t>Sarfraz Maredia의 퇴사 예정일은 11월 16일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704B0B-19F2-4D99-AABE-F2334FF31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14650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rPr>
              <a:t>Samarth Kejriwal·Aaron Emrich가 업무를 나누어 맡을 예정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0C2E5D-C349-421C-9834-A15565760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rPr>
              <a:t>새 무인 운행지역·허가·차량 투입 확대는 확인되지 않음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6D2194-0392-484D-8CB5-29BFAD56B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48200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rPr>
              <a:t>May Mobility [중복] · 신규 확인 사항 없음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4440AE-7687-4F13-9953-5AFD9DD08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0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출처: Bloomberg/LA Times, Quartz, Uber 공식 약력 · 유료 기사 접근 범위는 다음 장에 명시</a:t>
            </a:r>
          </a:p>
        </p:txBody>
      </p:sp>
    </p:spTree>
    <p:extLst>
      <p:ext uri="{BB962C8B-B14F-4D97-AF65-F5344CB8AC3E}">
        <p14:creationId xmlns:p14="http://schemas.microsoft.com/office/powerpoint/2010/main" val="7607225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CB121B-0212-4880-94DB-566544E07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0B1930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0B193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00" b="1">
                <a:solidFill>
                  <a:srgbClr val="0B1930"/>
                </a:solidFill>
                <a:latin typeface="Noto Sans CJK KR"/>
                <a:ea typeface="Noto Sans CJK KR"/>
                <a:cs typeface="Noto Sans CJK KR"/>
              </a:rPr>
              <a:t>Uber 조직 변경의 범위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7A604C-8BE2-49E5-B4FE-57FA60032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77C75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77C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177C75"/>
                </a:solidFill>
                <a:latin typeface="Noto Sans CJK KR"/>
                <a:ea typeface="Noto Sans CJK KR"/>
                <a:cs typeface="Noto Sans CJK KR"/>
              </a:rPr>
              <a:t>[신규] 인사 변경 예정 · 운행 확대와 구분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988B68-F33B-4DCE-986D-FFB22C3C5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rPr>
              <a:t>공식 담당 범위: AV 운영, 상업 전략, 제휴 및 확장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DF57FB-0699-4BEE-A442-47324274A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14650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rPr>
              <a:t>이동 예정 분야는 운송업 밖 경영진 역할로 보도됨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2331B9-CD4C-490B-9713-6FE8CF52D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rPr>
              <a:t>Kejriwal은 무인차 운영, Emrich는 자율배송을 담당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C0717B-8E5F-45DE-A81E-9CECD3464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48200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rPr>
              <a:t>계약 해지·출시 지연·투자 축소를 뜻한다고 추정하지 않음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131290-7072-4A8F-9F6B-5BCEE8042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0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출처: Bloomberg/LA Times 대변인 인용 보도, Quartz, Uber 공식 약력</a:t>
            </a:r>
          </a:p>
        </p:txBody>
      </p:sp>
    </p:spTree>
    <p:extLst>
      <p:ext uri="{BB962C8B-B14F-4D97-AF65-F5344CB8AC3E}">
        <p14:creationId xmlns:p14="http://schemas.microsoft.com/office/powerpoint/2010/main" val="15448726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1A2D23-6699-44AF-8A66-A1E9ED99D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0B1930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0B193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00" b="1">
                <a:solidFill>
                  <a:srgbClr val="0B1930"/>
                </a:solidFill>
                <a:latin typeface="Noto Sans CJK KR"/>
                <a:ea typeface="Noto Sans CJK KR"/>
                <a:cs typeface="Noto Sans CJK KR"/>
              </a:rPr>
              <a:t>유료 기사 확인 범위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A39A34-AD30-480A-B2F7-DAAF85748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77C75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77C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177C75"/>
                </a:solidFill>
                <a:latin typeface="Noto Sans CJK KR"/>
                <a:ea typeface="Noto Sans CJK KR"/>
                <a:cs typeface="Noto Sans CJK KR"/>
              </a:rPr>
              <a:t>[유료 기사][원문 미확인] WSJ 및 LA Times/Bloomberg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E07956-6B3D-4DA7-99D6-5D48C3598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rPr>
              <a:t>직접 페이지 열기 실패. 검색 제공 기사 텍스트를 확인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A17552-9520-456E-A2E3-675AB5501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14650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rPr>
              <a:t>공개 Quartz 보도와 Uber 공식 직무 설명으로 보완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7DD6E6-D54B-4B0B-A374-A5F27CA67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rPr>
              <a:t>당사자는 도시 확대·공급 밀도 증가에 집중한다고 설명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CB4578-ABD2-49DB-A6C0-B41B6586C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48200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rPr>
              <a:t>퇴사 예정은 확인 보도, 실제 퇴사와 운영 성과는 향후 사항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72DE77-0F8C-4AA0-AAF0-1C76F8A79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0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같은 기초 보도를 공유하는 재전재를 독립된 운영 검증으로 세지 않음</a:t>
            </a:r>
          </a:p>
        </p:txBody>
      </p:sp>
    </p:spTree>
    <p:extLst>
      <p:ext uri="{BB962C8B-B14F-4D97-AF65-F5344CB8AC3E}">
        <p14:creationId xmlns:p14="http://schemas.microsoft.com/office/powerpoint/2010/main" val="18397847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5CE9ED-8CC4-42E3-9F8A-963EBF764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0B1930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0B193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00" b="1">
                <a:solidFill>
                  <a:srgbClr val="0B1930"/>
                </a:solidFill>
                <a:latin typeface="Noto Sans CJK KR"/>
                <a:ea typeface="Noto Sans CJK KR"/>
                <a:cs typeface="Noto Sans CJK KR"/>
              </a:rPr>
              <a:t>지정 6개사 L4 점검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033713-173F-495B-B833-EA739883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77C75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77C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177C75"/>
                </a:solidFill>
                <a:latin typeface="Noto Sans CJK KR"/>
                <a:ea typeface="Noto Sans CJK KR"/>
                <a:cs typeface="Noto Sans CJK KR"/>
              </a:rPr>
              <a:t>2026-10-13 보고 이후 공개 자료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CDD3F4-437E-4E00-A31D-0514D4835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rPr>
              <a:t>Uber: [신규] 조직 책임자 변경 예정. 운영 확대는 미확인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676D8A-2C01-43CF-87B9-8243C223F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14650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rPr>
              <a:t>Avride · Bolt: 각각 신규 확인 사항 없음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003842-DEAB-4380-9E2A-790AF944C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rPr>
              <a:t>Mobileye · 카카오모빌리티: 각각 신규 확인 사항 없음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D329B5-478E-4F00-A413-5A1FD20E0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48200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rPr>
              <a:t>쏘카: 신규 확인 사항 없음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EFFA2A-EA64-479D-9A93-2CE45C9A9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0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일반 사업 및 L2·L3 뉴스 제외. 공개자료에서 새 사실을 찾지 못했다는 의미</a:t>
            </a:r>
          </a:p>
        </p:txBody>
      </p:sp>
    </p:spTree>
    <p:extLst>
      <p:ext uri="{BB962C8B-B14F-4D97-AF65-F5344CB8AC3E}">
        <p14:creationId xmlns:p14="http://schemas.microsoft.com/office/powerpoint/2010/main" val="890983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211790-9F30-48B8-85BE-08FD9689F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0B1930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0B193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00" b="1">
                <a:solidFill>
                  <a:srgbClr val="0B1930"/>
                </a:solidFill>
                <a:latin typeface="Noto Sans CJK KR"/>
                <a:ea typeface="Noto Sans CJK KR"/>
                <a:cs typeface="Noto Sans CJK KR"/>
              </a:rPr>
              <a:t>May Mobility 운영·안전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D24695-FD32-473D-B56F-9884C5BAC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77C75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77C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177C75"/>
                </a:solidFill>
                <a:latin typeface="Noto Sans CJK KR"/>
                <a:ea typeface="Noto Sans CJK KR"/>
                <a:cs typeface="Noto Sans CJK KR"/>
              </a:rPr>
              <a:t>[중복] 이전 보고 2026-10-13 · 신규 확인 사항 없음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C3D4A0-D3DF-4406-BBD7-2A8792584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rPr>
              <a:t>SEC 9/16 자료: Atlanta·Eden Prairie·Grand Rapids(MN)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0138C1-1F23-435F-98C2-6D6A58D28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14650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rPr>
              <a:t>Atlanta 지침: Toyota Sienna, Midtown, 운전석 안전요원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120632-0678-4ADC-AC29-CDBD20DE8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rPr>
              <a:t>지역별 차량 수·ODD 최신 범위·안전요원 제거는 미확인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DAD17D-35BC-4869-9517-FAC264F7A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48200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rPr>
              <a:t>Arlington/Uber: 2026년 4분기~2027년 1분기 개시 목표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AEB1B2-8AD8-4591-A9B0-A02EB6D54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0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SEC와 기존 현장 대응 지침 기준. 모든 도시의 완전무인 운행을 의미하지 않음</a:t>
            </a:r>
          </a:p>
        </p:txBody>
      </p:sp>
    </p:spTree>
    <p:extLst>
      <p:ext uri="{BB962C8B-B14F-4D97-AF65-F5344CB8AC3E}">
        <p14:creationId xmlns:p14="http://schemas.microsoft.com/office/powerpoint/2010/main" val="16156165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36A83D-C4F6-4FFD-9BA8-2C2E01DD9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0B1930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0B193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000" b="1">
                <a:solidFill>
                  <a:srgbClr val="0B1930"/>
                </a:solidFill>
                <a:latin typeface="Noto Sans CJK KR"/>
                <a:ea typeface="Noto Sans CJK KR"/>
                <a:cs typeface="Noto Sans CJK KR"/>
              </a:rPr>
              <a:t>May Mobility 기술·사업계획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BE23BE-9D9F-4DD1-96DE-795516F74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77C75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77C75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177C75"/>
                </a:solidFill>
                <a:latin typeface="Noto Sans CJK KR"/>
                <a:ea typeface="Noto Sans CJK KR"/>
                <a:cs typeface="Noto Sans CJK KR"/>
              </a:rPr>
              <a:t>[중복] 이전 보고 2026-10-13 · 신규 확인 사항 없음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0DD313-AFE3-4DF7-AF00-DC69922F4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rPr>
              <a:t>5세대 시스템: 딥러닝·world model·추론 엔진 결합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9A4B64-CE99-4E53-93A2-EBF927F96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14650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rPr>
              <a:t>AaaS: 파트너 차량·차고지 운영, May 자율주행 제공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54633F-248C-4A40-B1F2-CA73ED525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rPr>
              <a:t>SPAC: EV 약 14억 달러, 최대 조달 3.37억 달러의 계획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4689B3-0A58-4E9F-9888-50AA8DB1A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48200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rPr>
              <a:t>종결 목표: 보도자료 2026년 말 / 투자자 자료 2027년 1분기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14102B-5102-420B-B679-B9308CDDF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0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125" b="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거래 종결·상장·새 현대차 직접 계약은 미확인. 문서 간 일정 차이는 전일 보고 사항</a:t>
            </a:r>
          </a:p>
        </p:txBody>
      </p:sp>
    </p:spTree>
    <p:extLst>
      <p:ext uri="{BB962C8B-B14F-4D97-AF65-F5344CB8AC3E}">
        <p14:creationId xmlns:p14="http://schemas.microsoft.com/office/powerpoint/2010/main" val="3255439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2026-10-13T22:39:16.7080000Z</dcterms:created>
  <dcterms:modified xsi:type="dcterms:W3CDTF">2026-10-13T22:39:16.7080000Z</dcterms:modified>
</coreProperties>
</file>