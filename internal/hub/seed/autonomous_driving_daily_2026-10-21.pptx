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[R1] Waymo: https://waymo.com/blog/2026/10/waymo-in-madrid-region/</a:t>
            </a:r>
          </a:p>
          <a:p>
            <a:r>
              <a:t>[R2] Reuters: https://www.reuters.com/business/waymo-launch-autonomous-ride-hailing-madrid-next-year-2026-10-20/</a:t>
            </a:r>
          </a:p>
          <a:p>
            <a:r>
              <a:t>[R3] Semafor: https://www.semafor.com/article/10/19/2026/waymo-plans-to-quintuple-its-fleet</a:t>
            </a:r>
          </a:p>
          <a:p>
            <a:r>
              <a:t>[R4] Waymo: https://waymo.com/blog/2026/10/waymo-closes-5-billion-debt-financing/</a:t>
            </a:r>
          </a:p>
          <a:p>
            <a:r>
              <a:t>[R5] Hertz·SEC: https://www.sec.gov/Archives/edgar/data/1657853/000095010326015848/dp255212_ex9901.htm</a:t>
            </a:r>
          </a:p>
          <a:p>
            <a:r>
              <a:t>[R6] Axios: https://www.axios.com/2026/10/20/steve-cohen-hertz-robotaxi-80-million</a:t>
            </a:r>
          </a:p>
          <a:p>
            <a:r>
              <a:t>[R7] Uber: https://www.uber.com/us/en/newsroom/</a:t>
            </a:r>
          </a:p>
          <a:p>
            <a:r>
              <a:t>[R8] Avride: https://www.avride.ai/</a:t>
            </a:r>
          </a:p>
          <a:p>
            <a:r>
              <a:t>[R9] Bolt: https://bolt.eu/en/blog/category/autonomous-solutions/</a:t>
            </a:r>
          </a:p>
          <a:p>
            <a:r>
              <a:t>[R10] Mobileye: https://www.mobileye.com/news/</a:t>
            </a:r>
          </a:p>
          <a:p>
            <a:r>
              <a:t>[R11] 카카오모빌리티: https://www.kakaomobility.com/newsroom/news</a:t>
            </a:r>
          </a:p>
          <a:p>
            <a:r>
              <a:t>[R12] 쏘카: https://www.socarcorp.kr/blog</a:t>
            </a:r>
          </a:p>
          <a:p>
            <a:r>
              <a:t>[R13] May Mobility: https://maymobility.com/posts/type/company-news</a:t>
            </a:r>
          </a:p>
          <a:p>
            <a:r>
              <a:t>[R14] May Mobility·SEC: https://www.sec.gov/Archives/edgar/data/2111542/000121390026100367/ea030470201ex99-1.htm</a:t>
            </a:r>
          </a:p>
          <a:p>
            <a:r>
              <a:t>[R15] NTT Mobility: https://www.ntt-mobility.com/news/20260812/newsrelease-260812/</a:t>
            </a:r>
          </a:p>
          <a:p>
            <a:r>
              <a:t>[R16] May Mobility: https://maymobility.com/first-responders/frip-atlanta-georgia</a:t>
            </a:r>
          </a:p>
          <a:p>
            <a:r>
              <a:t>[R18] May Mobility·SEC: https://www.sec.gov/Archives/edgar/data/2111542/000121390026100367/ea030470201ex99-2.htm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[R1] Waymo: https://waymo.com/blog/2026/10/waymo-in-madrid-region/</a:t>
            </a:r>
          </a:p>
          <a:p>
            <a:r>
              <a:t>[R2] Reuters: https://www.reuters.com/business/waymo-launch-autonomous-ride-hailing-madrid-next-year-2026-10-20/</a:t>
            </a:r>
          </a:p>
          <a:p>
            <a:r>
              <a:t>[R3] Semafor: https://www.semafor.com/article/10/19/2026/waymo-plans-to-quintuple-its-fleet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[R1] Waymo: https://waymo.com/blog/2026/10/waymo-in-madrid-region/</a:t>
            </a:r>
          </a:p>
          <a:p>
            <a:r>
              <a:t>[R3] Semafor: https://www.semafor.com/article/10/19/2026/waymo-plans-to-quintuple-its-fleet</a:t>
            </a:r>
          </a:p>
          <a:p>
            <a:r>
              <a:t>[R4] Waymo: https://waymo.com/blog/2026/10/waymo-closes-5-billion-debt-financing/</a:t>
            </a:r>
          </a:p>
          <a:p>
            <a:r>
              <a:t>[R5] Hertz·SEC: https://www.sec.gov/Archives/edgar/data/1657853/000095010326015848/dp255212_ex9901.htm</a:t>
            </a:r>
          </a:p>
          <a:p>
            <a:r>
              <a:t>[R6] Axios: https://www.axios.com/2026/10/20/steve-cohen-hertz-robotaxi-80-million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[R7] Uber: https://www.uber.com/us/en/newsroom/</a:t>
            </a:r>
          </a:p>
          <a:p>
            <a:r>
              <a:t>[R8] Avride: https://www.avride.ai/</a:t>
            </a:r>
          </a:p>
          <a:p>
            <a:r>
              <a:t>[R9] Bolt: https://bolt.eu/en/blog/category/autonomous-solutions/</a:t>
            </a:r>
          </a:p>
          <a:p>
            <a:r>
              <a:t>[R10] Mobileye: https://www.mobileye.com/news/</a:t>
            </a:r>
          </a:p>
          <a:p>
            <a:r>
              <a:t>[R11] 카카오모빌리티: https://www.kakaomobility.com/newsroom/news</a:t>
            </a:r>
          </a:p>
          <a:p>
            <a:r>
              <a:t>[R12] 쏘카: https://www.socarcorp.kr/blog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[R13] May Mobility: https://maymobility.com/posts/type/company-news</a:t>
            </a:r>
          </a:p>
          <a:p>
            <a:r>
              <a:t>[R14] May Mobility·SEC: https://www.sec.gov/Archives/edgar/data/2111542/000121390026100367/ea030470201ex99-1.htm</a:t>
            </a:r>
          </a:p>
          <a:p>
            <a:r>
              <a:t>[R15] NTT Mobility: https://www.ntt-mobility.com/news/20260812/newsrelease-260812/</a:t>
            </a:r>
          </a:p>
          <a:p>
            <a:r>
              <a:t>[R19] May Mobility: https://maymobility.com/posts/may-mobility-and-ntt-mobility-to-launch-first-public-rides-on-autonomous-e-palette/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[R13] May Mobility: https://maymobility.com/posts/type/company-news</a:t>
            </a:r>
          </a:p>
          <a:p>
            <a:r>
              <a:t>[R15] NTT Mobility: https://www.ntt-mobility.com/news/20260812/newsrelease-260812/</a:t>
            </a:r>
          </a:p>
          <a:p>
            <a:r>
              <a:t>[R16] May Mobility: https://maymobility.com/first-responders/frip-atlanta-georgia</a:t>
            </a:r>
          </a:p>
          <a:p>
            <a:r>
              <a:t>[R17] May Mobility: https://maymobility.com/posts/may-mobility-launches-new-av-architecture/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[R13] May Mobility: https://maymobility.com/posts/type/company-news</a:t>
            </a:r>
          </a:p>
          <a:p>
            <a:r>
              <a:t>[R14] May Mobility·SEC: https://www.sec.gov/Archives/edgar/data/2111542/000121390026100367/ea030470201ex99-1.htm</a:t>
            </a:r>
          </a:p>
          <a:p>
            <a:r>
              <a:t>[R18] May Mobility·SEC: https://www.sec.gov/Archives/edgar/data/2111542/000121390026100367/ea030470201ex99-2.htm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[R1] Waymo: https://waymo.com/blog/2026/10/waymo-in-madrid-region/</a:t>
            </a:r>
          </a:p>
          <a:p>
            <a:r>
              <a:t>[R2] Reuters: https://www.reuters.com/business/waymo-launch-autonomous-ride-hailing-madrid-next-year-2026-10-20/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[R3] Semafor: https://www.semafor.com/article/10/19/2026/waymo-plans-to-quintuple-its-fleet</a:t>
            </a:r>
          </a:p>
          <a:p>
            <a:r>
              <a:t>[R5] Hertz·SEC: https://www.sec.gov/Archives/edgar/data/1657853/000095010326015848/dp255212_ex9901.htm</a:t>
            </a:r>
          </a:p>
          <a:p>
            <a:r>
              <a:t>[R6] Axios: https://www.axios.com/2026/10/20/steve-cohen-hertz-robotaxi-80-million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[R1] Waymo: https://waymo.com/blog/2026/10/waymo-in-madrid-region/</a:t>
            </a:r>
          </a:p>
          <a:p>
            <a:r>
              <a:t>[R2] Reuters: https://www.reuters.com/business/waymo-launch-autonomous-ride-hailing-madrid-next-year-2026-10-20/</a:t>
            </a:r>
          </a:p>
          <a:p>
            <a:r>
              <a:t>[R3] Semafor: https://www.semafor.com/article/10/19/2026/waymo-plans-to-quintuple-its-fleet</a:t>
            </a:r>
          </a:p>
          <a:p>
            <a:r>
              <a:t>[R4] Waymo: https://waymo.com/blog/2026/10/waymo-closes-5-billion-debt-financing/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[R5] Hertz·SEC: https://www.sec.gov/Archives/edgar/data/1657853/000095010326015848/dp255212_ex9901.htm</a:t>
            </a:r>
          </a:p>
          <a:p>
            <a:r>
              <a:t>[R6] Axios: https://www.axios.com/2026/10/20/steve-cohen-hertz-robotaxi-80-million</a:t>
            </a:r>
          </a:p>
          <a:p>
            <a:r>
              <a:t>[R7] Uber: https://www.uber.com/us/en/newsroom/</a:t>
            </a:r>
          </a:p>
          <a:p>
            <a:r>
              <a:t>[R8] Avride: https://www.avride.ai/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[R9] Bolt: https://bolt.eu/en/blog/category/autonomous-solutions/</a:t>
            </a:r>
          </a:p>
          <a:p>
            <a:r>
              <a:t>[R10] Mobileye: https://www.mobileye.com/news/</a:t>
            </a:r>
          </a:p>
          <a:p>
            <a:r>
              <a:t>[R11] 카카오모빌리티: https://www.kakaomobility.com/newsroom/news</a:t>
            </a:r>
          </a:p>
          <a:p>
            <a:r>
              <a:t>[R12] 쏘카: https://www.socarcorp.kr/blog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[R13] May Mobility: https://maymobility.com/posts/type/company-news</a:t>
            </a:r>
          </a:p>
          <a:p>
            <a:r>
              <a:t>[R14] May Mobility·SEC: https://www.sec.gov/Archives/edgar/data/2111542/000121390026100367/ea030470201ex99-1.htm</a:t>
            </a:r>
          </a:p>
          <a:p>
            <a:r>
              <a:t>[R15] NTT Mobility: https://www.ntt-mobility.com/news/20260812/newsrelease-260812/</a:t>
            </a:r>
          </a:p>
          <a:p>
            <a:r>
              <a:t>[R16] May Mobility: https://maymobility.com/first-responders/frip-atlanta-georgia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[R17] May Mobility: https://maymobility.com/posts/may-mobility-launches-new-av-architecture/</a:t>
            </a:r>
          </a:p>
          <a:p>
            <a:r>
              <a:t>[R18] May Mobility·SEC: https://www.sec.gov/Archives/edgar/data/2111542/000121390026100367/ea030470201ex99-2.htm</a:t>
            </a:r>
          </a:p>
          <a:p>
            <a:r>
              <a:t>[R19] May Mobility: https://maymobility.com/posts/may-mobility-and-ntt-mobility-to-launch-first-public-rides-on-autonomous-e-palette/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mgov.net/uploadedFiles/Departments/Clerk/a20261013_Completed.pdf" TargetMode="External"/><Relationship Id="rId2" Type="http://schemas.openxmlformats.org/officeDocument/2006/relationships/hyperlink" Target="https://www.smdp.com/santa-monica-moves-toward-deal-to-park-zoox-robotaxis-at-main-library/" TargetMode="External"/><Relationship Id="rId3" Type="http://schemas.openxmlformats.org/officeDocument/2006/relationships/hyperlink" Target="https://www.notateslaapp.com/news/4844/tesla-extends-robotaxi-hours-again-now-until-midnight" TargetMode="External"/><Relationship Id="rId4" Type="http://schemas.openxmlformats.org/officeDocument/2006/relationships/hyperlink" Target="https://driveteslacanada.ca/news/tesla-cybercab-midnight-operating-hours-austin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esla.com/support/robotaxi" TargetMode="External"/><Relationship Id="rId2" Type="http://schemas.openxmlformats.org/officeDocument/2006/relationships/hyperlink" Target="https://www.uber.com/us/en/newsroom/" TargetMode="External"/><Relationship Id="rId3" Type="http://schemas.openxmlformats.org/officeDocument/2006/relationships/hyperlink" Target="https://www.avride.ai/" TargetMode="External"/><Relationship Id="rId4" Type="http://schemas.openxmlformats.org/officeDocument/2006/relationships/hyperlink" Target="https://bolt.eu/en/blog/category/autonomous-solutions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obileye.com/news/" TargetMode="External"/><Relationship Id="rId2" Type="http://schemas.openxmlformats.org/officeDocument/2006/relationships/hyperlink" Target="https://www.kakaomobility.com/newsroom/news" TargetMode="External"/><Relationship Id="rId3" Type="http://schemas.openxmlformats.org/officeDocument/2006/relationships/hyperlink" Target="https://www.socarcorp.kr/blog" TargetMode="External"/><Relationship Id="rId4" Type="http://schemas.openxmlformats.org/officeDocument/2006/relationships/hyperlink" Target="https://maymobility.com/posts/type/company-news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ec.gov/Archives/edgar/data/2111542/000121390026100367/ea030470201ex99-1.htm" TargetMode="External"/><Relationship Id="rId2" Type="http://schemas.openxmlformats.org/officeDocument/2006/relationships/hyperlink" Target="https://www.ntt-mobility.com/news/20260812/newsrelease-260812/" TargetMode="External"/><Relationship Id="rId3" Type="http://schemas.openxmlformats.org/officeDocument/2006/relationships/hyperlink" Target="https://maymobility.com/first-responders/frip-atlanta-georgia" TargetMode="External"/><Relationship Id="rId4" Type="http://schemas.openxmlformats.org/officeDocument/2006/relationships/hyperlink" Target="https://maymobility.com/posts/may-mobility-launches-new-av-architecture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ec.gov/Archives/edgar/data/2111542/000121390026100367/ea030470201ex99-2.htm" TargetMode="External"/><Relationship Id="rId2" Type="http://schemas.openxmlformats.org/officeDocument/2006/relationships/hyperlink" Target="https://www.sec.gov/Archives/edgar/data/2111542/000121390026100367/ea030470201ex99-2.ht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50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Executive Summary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8500000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2026-10-21 · Waymo 마드리드 2027 계획·Oro 8천만달러 투자</a:t>
            </a:r>
            <a:endParaRPr lang="en-US" sz="1500" dirty="0"/>
          </a:p>
        </p:txBody>
      </p:sp>
      <p:sp>
        <p:nvSpPr>
          <p:cNvPr id="1030" name="Bullet marker 1-1"/>
          <p:cNvSpPr txBox="1"/>
          <p:nvPr/>
        </p:nvSpPr>
        <p:spPr>
          <a:xfrm>
            <a:off x="419100" y="1160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31" name="Bullet text 1-1"/>
          <p:cNvSpPr txBox="1"/>
          <p:nvPr/>
        </p:nvSpPr>
        <p:spPr>
          <a:xfrm>
            <a:off x="685800" y="1160000"/>
            <a:ext cx="8229600" cy="49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[신규·계획] Waymo: 10월 20일 마드리드에서 수동 주행과 안전요원 동승 검증을 거쳐 2027년 첫 승객을 맞는다는 계획을 발표했다. [R1][R2]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32" name="Bullet marker 1-2"/>
          <p:cNvSpPr txBox="1"/>
          <p:nvPr/>
        </p:nvSpPr>
        <p:spPr>
          <a:xfrm>
            <a:off x="419100" y="1696666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33" name="Bullet text 1-2"/>
          <p:cNvSpPr txBox="1"/>
          <p:nvPr/>
        </p:nvSpPr>
        <p:spPr>
          <a:xfrm>
            <a:off x="685800" y="1696666"/>
            <a:ext cx="8229600" cy="49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[신규·보도] Waymo: Semafor는 현재 약 4,000대를 2026년 말 8,000대, 2027년 말 20,000대로 늘리는 내부 목표를 보도했다. Waymo는 논평을 거부했다. [R3][R4]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34" name="Bullet marker 1-3"/>
          <p:cNvSpPr txBox="1"/>
          <p:nvPr/>
        </p:nvSpPr>
        <p:spPr>
          <a:xfrm>
            <a:off x="419100" y="223333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35" name="Bullet text 1-3"/>
          <p:cNvSpPr txBox="1"/>
          <p:nvPr/>
        </p:nvSpPr>
        <p:spPr>
          <a:xfrm>
            <a:off x="685800" y="2233332"/>
            <a:ext cx="8229600" cy="49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[신규·투자] Oro Mobility: Hertz 계열 Oro가 자율주행 차량 운영 인프라를 포함한 확장용 전략적 지분 투자 8,000만 달러를 확보했다. [R5][R6]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36" name="Bullet marker 1-4"/>
          <p:cNvSpPr txBox="1"/>
          <p:nvPr/>
        </p:nvSpPr>
        <p:spPr>
          <a:xfrm>
            <a:off x="419100" y="2769998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37" name="Bullet text 1-4"/>
          <p:cNvSpPr txBox="1"/>
          <p:nvPr/>
        </p:nvSpPr>
        <p:spPr>
          <a:xfrm>
            <a:off x="685800" y="2769998"/>
            <a:ext cx="8229600" cy="49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구분: 마드리드의 현재 단계는 수동·안전요원 동승 검증이며, 2만 대는 회사 공식 목표로 확인되지 않은 보도치다. [R1][R2][R3]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38" name="Bullet marker 1-5"/>
          <p:cNvSpPr txBox="1"/>
          <p:nvPr/>
        </p:nvSpPr>
        <p:spPr>
          <a:xfrm>
            <a:off x="419100" y="3306664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39" name="Bullet text 1-5"/>
          <p:cNvSpPr txBox="1"/>
          <p:nvPr/>
        </p:nvSpPr>
        <p:spPr>
          <a:xfrm>
            <a:off x="685800" y="3306664"/>
            <a:ext cx="8229600" cy="49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 6개사: Uber·Avride·Bolt·Mobileye·카카오모빌리티·쏘카 모두 신규 확인 사항 없음. [R7][R8][R9][R10][R11][R12]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40" name="Bullet marker 1-6"/>
          <p:cNvSpPr txBox="1"/>
          <p:nvPr/>
        </p:nvSpPr>
        <p:spPr>
          <a:xfrm>
            <a:off x="419100" y="384333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41" name="Bullet text 1-6"/>
          <p:cNvSpPr txBox="1"/>
          <p:nvPr/>
        </p:nvSpPr>
        <p:spPr>
          <a:xfrm>
            <a:off x="685800" y="3843330"/>
            <a:ext cx="8229600" cy="49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[중복] · 이전 보고 2026-10-20: 신규 확인 사항 없음. 실제 지역·안전요원·차량 실적·SPAC 일정을 재점검했다. [R13][R14][R15][R16][R18]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42" name="Footer 1"/>
          <p:cNvSpPr txBox="1"/>
          <p:nvPr/>
        </p:nvSpPr>
        <p:spPr>
          <a:xfrm>
            <a:off x="438150" y="4590000"/>
            <a:ext cx="8350000" cy="33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기준: 2026-10-21 한국시간 아침. 이전 발송본과 대조해 동일 사건·수치의 재보도를 제외했다.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50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신규 업데이트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8500000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[신규] Waymo 마드리드 계획과 차량 확대 보도</a:t>
            </a:r>
            <a:endParaRPr lang="en-US" sz="1500" dirty="0"/>
          </a:p>
        </p:txBody>
      </p:sp>
      <p:sp>
        <p:nvSpPr>
          <p:cNvPr id="1060" name="Bullet marker 2-1"/>
          <p:cNvSpPr txBox="1"/>
          <p:nvPr/>
        </p:nvSpPr>
        <p:spPr>
          <a:xfrm>
            <a:off x="419100" y="1220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61" name="Bullet text 2-1"/>
          <p:cNvSpPr txBox="1"/>
          <p:nvPr/>
        </p:nvSpPr>
        <p:spPr>
          <a:xfrm>
            <a:off x="685800" y="1220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발표일: 2026-10-20. 당사자·지역: Waymo·스페인 마드리드 광역권. [R1]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62" name="Bullet marker 2-2"/>
          <p:cNvSpPr txBox="1"/>
          <p:nvPr/>
        </p:nvSpPr>
        <p:spPr>
          <a:xfrm>
            <a:off x="419100" y="1886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63" name="Bullet text 2-2"/>
          <p:cNvSpPr txBox="1"/>
          <p:nvPr/>
        </p:nvSpPr>
        <p:spPr>
          <a:xfrm>
            <a:off x="685800" y="1886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단계: 향후 수일 내 Jaguar I-PACE를 사람이 직접 운전해 지역 데이터를 수집한 뒤, 훈련된 자율주행 전문가가 운전석에 앉는 기술 검증으로 이동한다. [R1][R2]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64" name="Bullet marker 2-3"/>
          <p:cNvSpPr txBox="1"/>
          <p:nvPr/>
        </p:nvSpPr>
        <p:spPr>
          <a:xfrm>
            <a:off x="419100" y="2552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65" name="Bullet text 2-3"/>
          <p:cNvSpPr txBox="1"/>
          <p:nvPr/>
        </p:nvSpPr>
        <p:spPr>
          <a:xfrm>
            <a:off x="685800" y="2552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예정 단계: Waymo는 2027년 첫 승객 탑승을 목표로 하며, Reuters는 스페인 DGT 자율주행 시험 체계 아래 진행한다고 전했다. [R1][R2]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66" name="Bullet marker 2-4"/>
          <p:cNvSpPr txBox="1"/>
          <p:nvPr/>
        </p:nvSpPr>
        <p:spPr>
          <a:xfrm>
            <a:off x="419100" y="3218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67" name="Bullet text 2-4"/>
          <p:cNvSpPr txBox="1"/>
          <p:nvPr/>
        </p:nvSpPr>
        <p:spPr>
          <a:xfrm>
            <a:off x="685800" y="3218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확대 보도: Semafor는 10월 19일 4,000대에서 2026년 말 8,000대, 2027년 말 20,000대로 확대하는 목표를 보도했다. [R3]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68" name="Bullet marker 2-5"/>
          <p:cNvSpPr txBox="1"/>
          <p:nvPr/>
        </p:nvSpPr>
        <p:spPr>
          <a:xfrm>
            <a:off x="419100" y="3884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69" name="Bullet text 2-5"/>
          <p:cNvSpPr txBox="1"/>
          <p:nvPr/>
        </p:nvSpPr>
        <p:spPr>
          <a:xfrm>
            <a:off x="685800" y="3884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한계: Waymo는 차량 목표 보도에 논평하지 않았다. 마드리드의 무인 상용 개시일·요금·차량 수·최종 허가는 아직 공개되지 않았다. [R1][R2][R3]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70" name="Footer 2"/>
          <p:cNvSpPr txBox="1"/>
          <p:nvPr/>
        </p:nvSpPr>
        <p:spPr>
          <a:xfrm>
            <a:off x="438150" y="4580000"/>
            <a:ext cx="8350000" cy="33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Waymo, 2026-10-20 [R1] · Reuters, 2026-10-20 [R2] · Semafor, 2026-10-19 [R3]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50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기업/지역별 상세 내용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8500000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Waymo·마드리드 / Oro Mobility·미국</a:t>
            </a:r>
            <a:endParaRPr lang="en-US" sz="1500" dirty="0"/>
          </a:p>
        </p:txBody>
      </p:sp>
      <p:sp>
        <p:nvSpPr>
          <p:cNvPr id="1090" name="Bullet marker 3-1"/>
          <p:cNvSpPr txBox="1"/>
          <p:nvPr/>
        </p:nvSpPr>
        <p:spPr>
          <a:xfrm>
            <a:off x="419100" y="1220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91" name="Bullet text 3-1"/>
          <p:cNvSpPr txBox="1"/>
          <p:nvPr/>
        </p:nvSpPr>
        <p:spPr>
          <a:xfrm>
            <a:off x="685800" y="1220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Waymo 마드리드: 공식 발표의 2,000만 회 초과 누적 승차는 기존 전체 운영 실적이며 마드리드 실적이 아니다. [R1]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92" name="Bullet marker 3-2"/>
          <p:cNvSpPr txBox="1"/>
          <p:nvPr/>
        </p:nvSpPr>
        <p:spPr>
          <a:xfrm>
            <a:off x="419100" y="1886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93" name="Bullet text 3-2"/>
          <p:cNvSpPr txBox="1"/>
          <p:nvPr/>
        </p:nvSpPr>
        <p:spPr>
          <a:xfrm>
            <a:off x="685800" y="1886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재원 맥락: Waymo는 10월 8일 50억 달러 기간대출을 종결했다. 오늘의 신규 사실은 Semafor의 차량 목표 보도다. [R3][R4]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94" name="Bullet marker 3-3"/>
          <p:cNvSpPr txBox="1"/>
          <p:nvPr/>
        </p:nvSpPr>
        <p:spPr>
          <a:xfrm>
            <a:off x="419100" y="2552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95" name="Bullet text 3-3"/>
          <p:cNvSpPr txBox="1"/>
          <p:nvPr/>
        </p:nvSpPr>
        <p:spPr>
          <a:xfrm>
            <a:off x="685800" y="2552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Oro 투자: Hertz는 Oro의 전략적 지분 투자 8,000만 달러 확보를 10월 20일 공시했다. [R5]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96" name="Bullet marker 3-4"/>
          <p:cNvSpPr txBox="1"/>
          <p:nvPr/>
        </p:nvSpPr>
        <p:spPr>
          <a:xfrm>
            <a:off x="419100" y="3218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97" name="Bullet text 3-4"/>
          <p:cNvSpPr txBox="1"/>
          <p:nvPr/>
        </p:nvSpPr>
        <p:spPr>
          <a:xfrm>
            <a:off x="685800" y="3218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범위: Oro의 약 45,000대는 일반 임대와 운전자 기반·자율주행 차량 관리를 합친 규모로, 무인 로보택시 대수가 아니다. [R5][R6]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98" name="Bullet marker 3-5"/>
          <p:cNvSpPr txBox="1"/>
          <p:nvPr/>
        </p:nvSpPr>
        <p:spPr>
          <a:xfrm>
            <a:off x="419100" y="3884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99" name="Bullet text 3-5"/>
          <p:cNvSpPr txBox="1"/>
          <p:nvPr/>
        </p:nvSpPr>
        <p:spPr>
          <a:xfrm>
            <a:off x="685800" y="3884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자금 용도: 차량·차고·충전·운영 기술·제휴 확장. 신규 무인 서비스 지역과 차량 대수는 발표하지 않았다. [R5][R6]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24003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 6개사 L4 점검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438150" y="1196727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38150" y="1574304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38150" y="1951881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38150" y="2329458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38150" y="2707035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38150" y="3084612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38150" y="3462189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38150" y="3628876"/>
            <a:ext cx="858812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무인·안전요원, 허가, 지역·차량 규모, L4 적용 및 제휴 실행을 점검했다. 쏘카가 참여한 원격운전 시범은 L4 자율주행 상태 변화가 아니므로 제외했다.</a:t>
            </a:r>
            <a:endParaRPr lang="en-US" sz="1500" dirty="0"/>
          </a:p>
        </p:txBody>
      </p:sp>
      <p:graphicFrame>
        <p:nvGraphicFramePr>
          <p:cNvPr id="904" name="Editable source table"/>
          <p:cNvGraphicFramePr/>
          <p:nvPr/>
        </p:nvGraphicFramePr>
        <p:xfrm>
          <a:off x="438150" y="823912"/>
          <a:ext cx="8458200" cy="2643039"/>
        </p:xfrm>
        <a:graphic>
          <a:graphicData uri="http://schemas.openxmlformats.org/drawingml/2006/main/table">
            <a:tbl>
              <a:tblPr firstRow="1" bandRow="0"/>
              <a:tblGrid>
                <a:gridCol w="1966168"/>
                <a:gridCol w="2964954"/>
                <a:gridCol w="3527078"/>
              </a:tblGrid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기업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이전 보고 이후 확인 결과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점검 출처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Uber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공식 뉴스룸 [R7]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Avride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공식 홈페이지 [R8]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Bolt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Autonomous solutions [R9]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Mobileye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공식 News [R10]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카카오모빌리티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공식 뉴스룸 [R11]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쏘카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공식 블로그 [R12]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50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심층 점검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8500000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[중복] 이전 보고 2026-10-20 · 신규 확인 사항 없음</a:t>
            </a:r>
            <a:endParaRPr lang="en-US" sz="1500" dirty="0"/>
          </a:p>
        </p:txBody>
      </p:sp>
      <p:sp>
        <p:nvSpPr>
          <p:cNvPr id="705" name="Subheading 5"/>
          <p:cNvSpPr txBox="1"/>
          <p:nvPr/>
        </p:nvSpPr>
        <p:spPr>
          <a:xfrm>
            <a:off x="438150" y="1243013"/>
            <a:ext cx="82000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실제 서비스 지역</a:t>
            </a:r>
            <a:endParaRPr lang="en-US" sz="1500" dirty="0"/>
          </a:p>
        </p:txBody>
      </p:sp>
      <p:sp>
        <p:nvSpPr>
          <p:cNvPr id="1150" name="Bullet marker 5-1"/>
          <p:cNvSpPr txBox="1"/>
          <p:nvPr/>
        </p:nvSpPr>
        <p:spPr>
          <a:xfrm>
            <a:off x="419100" y="156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51" name="Bullet text 5-1"/>
          <p:cNvSpPr txBox="1"/>
          <p:nvPr/>
        </p:nvSpPr>
        <p:spPr>
          <a:xfrm>
            <a:off x="685800" y="1566862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미국 상용: 9월 16일 SEC 발표는 Atlanta, Eden Prairie, Grand Rapids(Minnesota)를 현재 상업 운영 지역으로 명시한다. 오늘 신규 개시한 지역은 아니다. [R14]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152" name="Bullet marker 5-2"/>
          <p:cNvSpPr txBox="1"/>
          <p:nvPr/>
        </p:nvSpPr>
        <p:spPr>
          <a:xfrm>
            <a:off x="419100" y="232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53" name="Bullet text 5-2"/>
          <p:cNvSpPr txBox="1"/>
          <p:nvPr/>
        </p:nvSpPr>
        <p:spPr>
          <a:xfrm>
            <a:off x="685800" y="2326862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Arlington·Uber: 2026년 4분기~2027년 1분기 개시 목표다. 이번 점검에서 실제 개시 달성을 추가 확인하지 못했다. [R13][R14]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154" name="Bullet marker 5-3"/>
          <p:cNvSpPr txBox="1"/>
          <p:nvPr/>
        </p:nvSpPr>
        <p:spPr>
          <a:xfrm>
            <a:off x="419100" y="308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55" name="Bullet text 5-3"/>
          <p:cNvSpPr txBox="1"/>
          <p:nvPr/>
        </p:nvSpPr>
        <p:spPr>
          <a:xfrm>
            <a:off x="685800" y="3086862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나고야: 2026년 9월 11일~2027년 3월 19일 평일 실증이며, 차량 3대와 승하차 지점 5곳을 운영 설계로 제시한다. [R15]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156" name="Bullet marker 5-4"/>
          <p:cNvSpPr txBox="1"/>
          <p:nvPr/>
        </p:nvSpPr>
        <p:spPr>
          <a:xfrm>
            <a:off x="419100" y="384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57" name="Bullet text 5-4"/>
          <p:cNvSpPr txBox="1"/>
          <p:nvPr/>
        </p:nvSpPr>
        <p:spPr>
          <a:xfrm>
            <a:off x="685800" y="3846862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e-Palette: NTT Mobility와 May Mobility는 공공도로 배치 및 향후 운전석 무인 L4를 목표로 발표했다. 오늘 실제 무인 상용 개시를 확인한 것은 아니다. [R19]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50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심층 점검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8500000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[중복] 이전 보고 2026-10-20 · 신규 확인 사항 없음</a:t>
            </a:r>
            <a:endParaRPr lang="en-US" sz="1500" dirty="0"/>
          </a:p>
        </p:txBody>
      </p:sp>
      <p:sp>
        <p:nvSpPr>
          <p:cNvPr id="706" name="Subheading 6"/>
          <p:cNvSpPr txBox="1"/>
          <p:nvPr/>
        </p:nvSpPr>
        <p:spPr>
          <a:xfrm>
            <a:off x="438150" y="1243013"/>
            <a:ext cx="82000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안전요원·무인 수준 / 기술·ODD</a:t>
            </a:r>
            <a:endParaRPr lang="en-US" sz="1500" dirty="0"/>
          </a:p>
        </p:txBody>
      </p:sp>
      <p:sp>
        <p:nvSpPr>
          <p:cNvPr id="1180" name="Bullet marker 6-1"/>
          <p:cNvSpPr txBox="1"/>
          <p:nvPr/>
        </p:nvSpPr>
        <p:spPr>
          <a:xfrm>
            <a:off x="419100" y="156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81" name="Bullet text 6-1"/>
          <p:cNvSpPr txBox="1"/>
          <p:nvPr/>
        </p:nvSpPr>
        <p:spPr>
          <a:xfrm>
            <a:off x="685800" y="1566862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Atlanta: 공식 긴급대응 지침은 Midtown Toyota Sienna의 운전석 Safety Operator 탑승을 명시한다. [R16]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182" name="Bullet marker 6-2"/>
          <p:cNvSpPr txBox="1"/>
          <p:nvPr/>
        </p:nvSpPr>
        <p:spPr>
          <a:xfrm>
            <a:off x="419100" y="232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83" name="Bullet text 6-2"/>
          <p:cNvSpPr txBox="1"/>
          <p:nvPr/>
        </p:nvSpPr>
        <p:spPr>
          <a:xfrm>
            <a:off x="685800" y="2326862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나고야: NTT 안내는 향후 승무원 없는 L4 운행을 상정한 실증이다. 현재 운전석 무인 허가·운행 달성을 뜻하지 않는다. [R15]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184" name="Bullet marker 6-3"/>
          <p:cNvSpPr txBox="1"/>
          <p:nvPr/>
        </p:nvSpPr>
        <p:spPr>
          <a:xfrm>
            <a:off x="419100" y="308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85" name="Bullet text 6-3"/>
          <p:cNvSpPr txBox="1"/>
          <p:nvPr/>
        </p:nvSpPr>
        <p:spPr>
          <a:xfrm>
            <a:off x="685800" y="3086862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5세대 기술: 딥러닝, 예측 월드 모델과 추론 엔진을 차량 내에서 결합한다는 회사 발표다. 지역별 허가나 안전요원 제거 실적과 구분한다. [R17]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186" name="Bullet marker 6-4"/>
          <p:cNvSpPr txBox="1"/>
          <p:nvPr/>
        </p:nvSpPr>
        <p:spPr>
          <a:xfrm>
            <a:off x="419100" y="384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87" name="Bullet text 6-4"/>
          <p:cNvSpPr txBox="1"/>
          <p:nvPr/>
        </p:nvSpPr>
        <p:spPr>
          <a:xfrm>
            <a:off x="685800" y="3846862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ODD 한계: 최신 속도·기상·도로별 전체 ODD와 추가 안전요원 철수는 공개자료에서 확인하지 못했다. [R13][R15][R16][R17]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50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심층 점검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8500000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[중복] 이전 보고 2026-10-20 · 신규 확인 사항 없음</a:t>
            </a:r>
            <a:endParaRPr lang="en-US" sz="1500" dirty="0"/>
          </a:p>
        </p:txBody>
      </p:sp>
      <p:sp>
        <p:nvSpPr>
          <p:cNvPr id="707" name="Subheading 7"/>
          <p:cNvSpPr txBox="1"/>
          <p:nvPr/>
        </p:nvSpPr>
        <p:spPr>
          <a:xfrm>
            <a:off x="438150" y="1243013"/>
            <a:ext cx="82000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차량·운영 실적 / ④ 투자·SPAC 일정</a:t>
            </a:r>
            <a:endParaRPr lang="en-US" sz="1500" dirty="0"/>
          </a:p>
        </p:txBody>
      </p:sp>
      <p:sp>
        <p:nvSpPr>
          <p:cNvPr id="1210" name="Bullet marker 7-1"/>
          <p:cNvSpPr txBox="1"/>
          <p:nvPr/>
        </p:nvSpPr>
        <p:spPr>
          <a:xfrm>
            <a:off x="419100" y="156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11" name="Bullet text 7-1"/>
          <p:cNvSpPr txBox="1"/>
          <p:nvPr/>
        </p:nvSpPr>
        <p:spPr>
          <a:xfrm>
            <a:off x="685800" y="1566862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 실적: 9월 16일 기준 상업 승차 55만 회 초과, 110만 마일, driver-out 배치 3건이다. 현재 모든 지역이 무인이라는 뜻은 아니다. [R14]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212" name="Bullet marker 7-2"/>
          <p:cNvSpPr txBox="1"/>
          <p:nvPr/>
        </p:nvSpPr>
        <p:spPr>
          <a:xfrm>
            <a:off x="419100" y="2183489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13" name="Bullet text 7-2"/>
          <p:cNvSpPr txBox="1"/>
          <p:nvPr/>
        </p:nvSpPr>
        <p:spPr>
          <a:xfrm>
            <a:off x="685800" y="2183489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AaaS: 파트너가 차량 소유·차고 운영·유지보수를 맡고 May Mobility가 자율주행 기술을 제공하는 모델을 제시한다. [R14][R18]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214" name="Bullet marker 7-3"/>
          <p:cNvSpPr txBox="1"/>
          <p:nvPr/>
        </p:nvSpPr>
        <p:spPr>
          <a:xfrm>
            <a:off x="419100" y="2800116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15" name="Bullet text 7-3"/>
          <p:cNvSpPr txBox="1"/>
          <p:nvPr/>
        </p:nvSpPr>
        <p:spPr>
          <a:xfrm>
            <a:off x="685800" y="2800116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SPAC 발표값: 기업가치 약 14억 달러, 최대 조달 3억3,700만 달러, PIPE 1억2,000만 달러이며 환매·종결 조건의 영향을 받는다. [R14]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216" name="Bullet marker 7-4"/>
          <p:cNvSpPr txBox="1"/>
          <p:nvPr/>
        </p:nvSpPr>
        <p:spPr>
          <a:xfrm>
            <a:off x="419100" y="341674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17" name="Bullet text 7-4"/>
          <p:cNvSpPr txBox="1"/>
          <p:nvPr/>
        </p:nvSpPr>
        <p:spPr>
          <a:xfrm>
            <a:off x="685800" y="3416743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종결 목표: 보도자료는 2026년 말, 투자자 자료는 2027년 1분기다. 합병·상장 완료는 추가 확인하지 못했다. [R13][R14][R18]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218" name="Bullet marker 7-5"/>
          <p:cNvSpPr txBox="1"/>
          <p:nvPr/>
        </p:nvSpPr>
        <p:spPr>
          <a:xfrm>
            <a:off x="419100" y="403337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19" name="Bullet text 7-5"/>
          <p:cNvSpPr txBox="1"/>
          <p:nvPr/>
        </p:nvSpPr>
        <p:spPr>
          <a:xfrm>
            <a:off x="685800" y="403337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현대자동차: 신규 직접 계약·차량 적용 근거는 확인되지 않았다. [R14]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50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규제·안전</a:t>
            </a:r>
            <a:endParaRPr lang="en-US" sz="2250" dirty="0"/>
          </a:p>
        </p:txBody>
      </p:sp>
      <p:sp>
        <p:nvSpPr>
          <p:cNvPr id="1240" name="Bullet marker 8-1"/>
          <p:cNvSpPr txBox="1"/>
          <p:nvPr/>
        </p:nvSpPr>
        <p:spPr>
          <a:xfrm>
            <a:off x="419100" y="1220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41" name="Bullet text 8-1"/>
          <p:cNvSpPr txBox="1"/>
          <p:nvPr/>
        </p:nvSpPr>
        <p:spPr>
          <a:xfrm>
            <a:off x="685800" y="1220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스페인 시험 체계: Reuters는 Waymo가 DGT 자율주행 시험 체계 아래 마드리드 검증을 진행한다고 보도했다. [R2]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242" name="Bullet marker 8-2"/>
          <p:cNvSpPr txBox="1"/>
          <p:nvPr/>
        </p:nvSpPr>
        <p:spPr>
          <a:xfrm>
            <a:off x="419100" y="1980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43" name="Bullet text 8-2"/>
          <p:cNvSpPr txBox="1"/>
          <p:nvPr/>
        </p:nvSpPr>
        <p:spPr>
          <a:xfrm>
            <a:off x="685800" y="1980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 단계의 안전요원: 수동 주행 후 훈련된 전문가가 운전석에 앉는 검증 단계다. 2027년 무인 승객 서비스는 목표이며 오늘 달성된 허가·상용 운행이 아니다. [R1][R2]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244" name="Bullet marker 8-3"/>
          <p:cNvSpPr txBox="1"/>
          <p:nvPr/>
        </p:nvSpPr>
        <p:spPr>
          <a:xfrm>
            <a:off x="419100" y="2740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45" name="Bullet text 8-3"/>
          <p:cNvSpPr txBox="1"/>
          <p:nvPr/>
        </p:nvSpPr>
        <p:spPr>
          <a:xfrm>
            <a:off x="685800" y="2740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별도의 신규 사고·리콜·조사 개시는 이번 확인 범위에서 검증되지 않았다.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50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기술·공급망</a:t>
            </a:r>
            <a:endParaRPr lang="en-US" sz="2250" dirty="0"/>
          </a:p>
        </p:txBody>
      </p:sp>
      <p:sp>
        <p:nvSpPr>
          <p:cNvPr id="1270" name="Bullet marker 9-1"/>
          <p:cNvSpPr txBox="1"/>
          <p:nvPr/>
        </p:nvSpPr>
        <p:spPr>
          <a:xfrm>
            <a:off x="419100" y="1220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71" name="Bullet text 9-1"/>
          <p:cNvSpPr txBox="1"/>
          <p:nvPr/>
        </p:nvSpPr>
        <p:spPr>
          <a:xfrm>
            <a:off x="685800" y="1220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인프라 투자: Oro의 8,000만 달러는 차량 확보뿐 아니라 차고·충전·운영 기술과 자율주행 차량 관리 역량 확장에 사용될 예정이다. [R5][R6]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272" name="Bullet marker 9-2"/>
          <p:cNvSpPr txBox="1"/>
          <p:nvPr/>
        </p:nvSpPr>
        <p:spPr>
          <a:xfrm>
            <a:off x="419100" y="1980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73" name="Bullet text 9-2"/>
          <p:cNvSpPr txBox="1"/>
          <p:nvPr/>
        </p:nvSpPr>
        <p:spPr>
          <a:xfrm>
            <a:off x="685800" y="1980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규모 구분: Oro의 45,000대 운영 기반은 일반 라이드셰어 임대와 운전자 기반 차량을 포함한다. 무인 로보택시 전용 규모로 계산하지 않는다. [R5]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274" name="Bullet marker 9-3"/>
          <p:cNvSpPr txBox="1"/>
          <p:nvPr/>
        </p:nvSpPr>
        <p:spPr>
          <a:xfrm>
            <a:off x="419100" y="2740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75" name="Bullet text 9-3"/>
          <p:cNvSpPr txBox="1"/>
          <p:nvPr/>
        </p:nvSpPr>
        <p:spPr>
          <a:xfrm>
            <a:off x="685800" y="2740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Waymo 차량 목표: 8,000대·20,000대는 익명 소식통을 인용한 보도치이며 회사 확인 수치가 아니다. [R3]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ns2="http://schemas.openxmlformats.org/officeDocument/2006/relationships" xmlns:ns3="http://schemas.microsoft.com/office/drawing/2018/hyperlinkcolor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8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15000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1–4</a:t>
            </a:r>
            <a:endParaRPr lang="en-US" sz="1500" dirty="0"/>
          </a:p>
        </p:txBody>
      </p:sp>
      <p:sp>
        <p:nvSpPr>
          <p:cNvPr id="1700" name="Reference marker 10-1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01" name="Reference text 10-1"/>
          <p:cNvSpPr txBox="1"/>
          <p:nvPr/>
        </p:nvSpPr>
        <p:spPr>
          <a:xfrm>
            <a:off x="611386" y="126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[R1] Waymo, ¡Llegamos a Madrid! Waymo is coming to Spain, 2026-10-20: https://waymo.com/blog/2026/10/waymo-in-madrid-region/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02" name="Reference marker 10-2"/>
          <p:cNvSpPr txBox="1"/>
          <p:nvPr/>
        </p:nvSpPr>
        <p:spPr>
          <a:xfrm>
            <a:off x="424726" y="182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03" name="Reference text 10-2"/>
          <p:cNvSpPr txBox="1"/>
          <p:nvPr/>
        </p:nvSpPr>
        <p:spPr>
          <a:xfrm>
            <a:off x="611386" y="182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[R2] Reuters, Waymo to launch autonomous ride-hailing in Madrid next year, 2026-10-20: https://www.reuters.com/business/waymo-launch-autonomous-ride-hailing-madrid-next-year-2026-10-20/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04" name="Reference marker 10-3"/>
          <p:cNvSpPr txBox="1"/>
          <p:nvPr/>
        </p:nvSpPr>
        <p:spPr>
          <a:xfrm>
            <a:off x="424726" y="238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05" name="Reference text 10-3"/>
          <p:cNvSpPr txBox="1"/>
          <p:nvPr/>
        </p:nvSpPr>
        <p:spPr>
          <a:xfrm>
            <a:off x="611386" y="238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[R3] Semafor, Waymo plans to quintuple its fleet, 2026-10-19: https://www.semafor.com/article/10/19/2026/waymo-plans-to-quintuple-its-fleet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06" name="Reference marker 10-4"/>
          <p:cNvSpPr txBox="1"/>
          <p:nvPr/>
        </p:nvSpPr>
        <p:spPr>
          <a:xfrm>
            <a:off x="424726" y="294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07" name="Reference text 10-4"/>
          <p:cNvSpPr txBox="1"/>
          <p:nvPr/>
        </p:nvSpPr>
        <p:spPr>
          <a:xfrm>
            <a:off x="611386" y="294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[R4] Waymo, Waymo Closes $5 Billion Debt Financing to Accelerate Business Expansion, 2026-10-08: https://waymo.com/blog/2026/10/waymo-closes-5-billion-debt-financing/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ns2="http://schemas.openxmlformats.org/officeDocument/2006/relationships" xmlns:ns3="http://schemas.microsoft.com/office/drawing/2018/hyperlinkcolor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8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15000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5–8</a:t>
            </a:r>
            <a:endParaRPr lang="en-US" sz="1500" dirty="0"/>
          </a:p>
        </p:txBody>
      </p:sp>
      <p:sp>
        <p:nvSpPr>
          <p:cNvPr id="1720" name="Reference marker 11-1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21" name="Reference text 11-1"/>
          <p:cNvSpPr txBox="1"/>
          <p:nvPr/>
        </p:nvSpPr>
        <p:spPr>
          <a:xfrm>
            <a:off x="611386" y="126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[R5] Hertz·SEC, Hertz-Backed Oro Mobility Secures $80 Million Strategic Equity Investment, 2026-10-20: https://www.sec.gov/Archives/edgar/data/1657853/000095010326015848/dp255212_ex9901.htm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22" name="Reference marker 11-2"/>
          <p:cNvSpPr txBox="1"/>
          <p:nvPr/>
        </p:nvSpPr>
        <p:spPr>
          <a:xfrm>
            <a:off x="424726" y="182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23" name="Reference text 11-2"/>
          <p:cNvSpPr txBox="1"/>
          <p:nvPr/>
        </p:nvSpPr>
        <p:spPr>
          <a:xfrm>
            <a:off x="611386" y="182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[R6] Axios, Steve Cohen backs Hertz robotaxi ambitions with $80 million investment, 2026-10-20: https://www.axios.com/2026/10/20/steve-cohen-hertz-robotaxi-80-million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24" name="Reference marker 11-3"/>
          <p:cNvSpPr txBox="1"/>
          <p:nvPr/>
        </p:nvSpPr>
        <p:spPr>
          <a:xfrm>
            <a:off x="424726" y="238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25" name="Reference text 11-3"/>
          <p:cNvSpPr txBox="1"/>
          <p:nvPr/>
        </p:nvSpPr>
        <p:spPr>
          <a:xfrm>
            <a:off x="611386" y="238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[R7] Uber, US Latest News, 2026-10-21 확인: https://www.uber.com/us/en/newsroom/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26" name="Reference marker 11-4"/>
          <p:cNvSpPr txBox="1"/>
          <p:nvPr/>
        </p:nvSpPr>
        <p:spPr>
          <a:xfrm>
            <a:off x="424726" y="294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27" name="Reference text 11-4"/>
          <p:cNvSpPr txBox="1"/>
          <p:nvPr/>
        </p:nvSpPr>
        <p:spPr>
          <a:xfrm>
            <a:off x="611386" y="294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[R8] Avride, 공식 홈페이지, 2026-10-21 확인: https://www.avride.ai/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ns2="http://schemas.openxmlformats.org/officeDocument/2006/relationships" xmlns:ns3="http://schemas.microsoft.com/office/drawing/2018/hyperlinkcolor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8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15000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9–12</a:t>
            </a:r>
            <a:endParaRPr lang="en-US" sz="1500" dirty="0"/>
          </a:p>
        </p:txBody>
      </p:sp>
      <p:sp>
        <p:nvSpPr>
          <p:cNvPr id="1740" name="Reference marker 12-1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41" name="Reference text 12-1"/>
          <p:cNvSpPr txBox="1"/>
          <p:nvPr/>
        </p:nvSpPr>
        <p:spPr>
          <a:xfrm>
            <a:off x="611386" y="126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[R9] Bolt, Autonomous solutions, 2026-10-21 확인: https://bolt.eu/en/blog/category/autonomous-solutions/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42" name="Reference marker 12-2"/>
          <p:cNvSpPr txBox="1"/>
          <p:nvPr/>
        </p:nvSpPr>
        <p:spPr>
          <a:xfrm>
            <a:off x="424726" y="182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43" name="Reference text 12-2"/>
          <p:cNvSpPr txBox="1"/>
          <p:nvPr/>
        </p:nvSpPr>
        <p:spPr>
          <a:xfrm>
            <a:off x="611386" y="182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[R10] Mobileye, News, 2026-10-21 확인: https://www.mobileye.com/news/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44" name="Reference marker 12-3"/>
          <p:cNvSpPr txBox="1"/>
          <p:nvPr/>
        </p:nvSpPr>
        <p:spPr>
          <a:xfrm>
            <a:off x="424726" y="238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45" name="Reference text 12-3"/>
          <p:cNvSpPr txBox="1"/>
          <p:nvPr/>
        </p:nvSpPr>
        <p:spPr>
          <a:xfrm>
            <a:off x="611386" y="238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[R11] 카카오모빌리티, 뉴스룸, 2026-10-21 확인: https://www.kakaomobility.com/newsroom/news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46" name="Reference marker 12-4"/>
          <p:cNvSpPr txBox="1"/>
          <p:nvPr/>
        </p:nvSpPr>
        <p:spPr>
          <a:xfrm>
            <a:off x="424726" y="294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47" name="Reference text 12-4"/>
          <p:cNvSpPr txBox="1"/>
          <p:nvPr/>
        </p:nvSpPr>
        <p:spPr>
          <a:xfrm>
            <a:off x="611386" y="294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[R12] 쏘카, 공식 블로그, 2026-10-21 확인: https://www.socarcorp.kr/blog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ns2="http://schemas.openxmlformats.org/officeDocument/2006/relationships" xmlns:ns3="http://schemas.microsoft.com/office/drawing/2018/hyperlinkcolor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8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15000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13–16</a:t>
            </a:r>
            <a:endParaRPr lang="en-US" sz="1500" dirty="0"/>
          </a:p>
        </p:txBody>
      </p:sp>
      <p:sp>
        <p:nvSpPr>
          <p:cNvPr id="1760" name="Reference marker 13-1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61" name="Reference text 13-1"/>
          <p:cNvSpPr txBox="1"/>
          <p:nvPr/>
        </p:nvSpPr>
        <p:spPr>
          <a:xfrm>
            <a:off x="611386" y="126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[R13] May Mobility, Company News, 2026-10-21 확인: https://maymobility.com/posts/type/company-news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62" name="Reference marker 13-2"/>
          <p:cNvSpPr txBox="1"/>
          <p:nvPr/>
        </p:nvSpPr>
        <p:spPr>
          <a:xfrm>
            <a:off x="424726" y="182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63" name="Reference text 13-2"/>
          <p:cNvSpPr txBox="1"/>
          <p:nvPr/>
        </p:nvSpPr>
        <p:spPr>
          <a:xfrm>
            <a:off x="611386" y="182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[R14] May Mobility·SEC, Business combination announcement, Exhibit 99.1, 2026-09-16: https://www.sec.gov/Archives/edgar/data/2111542/000121390026100367/ea030470201ex99-1.htm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64" name="Reference marker 13-3"/>
          <p:cNvSpPr txBox="1"/>
          <p:nvPr/>
        </p:nvSpPr>
        <p:spPr>
          <a:xfrm>
            <a:off x="424726" y="238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65" name="Reference text 13-3"/>
          <p:cNvSpPr txBox="1"/>
          <p:nvPr/>
        </p:nvSpPr>
        <p:spPr>
          <a:xfrm>
            <a:off x="611386" y="238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[R15] NTT Mobility, 나고야 자율주행·온디맨드 실증 개시, 2026-08-12: https://www.ntt-mobility.com/news/20260812/newsrelease-260812/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66" name="Reference marker 13-4"/>
          <p:cNvSpPr txBox="1"/>
          <p:nvPr/>
        </p:nvSpPr>
        <p:spPr>
          <a:xfrm>
            <a:off x="424726" y="294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67" name="Reference text 13-4"/>
          <p:cNvSpPr txBox="1"/>
          <p:nvPr/>
        </p:nvSpPr>
        <p:spPr>
          <a:xfrm>
            <a:off x="611386" y="294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[R16] May Mobility, First Responder Interaction Protocol: Atlanta, 게시일 미표기·2026-10-21 확인: https://maymobility.com/first-responders/frip-atlanta-georgia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ns2="http://schemas.openxmlformats.org/officeDocument/2006/relationships" xmlns:ns3="http://schemas.microsoft.com/office/drawing/2018/hyperlinkcolor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8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15000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17–19</a:t>
            </a:r>
            <a:endParaRPr lang="en-US" sz="1500" dirty="0"/>
          </a:p>
        </p:txBody>
      </p:sp>
      <p:sp>
        <p:nvSpPr>
          <p:cNvPr id="1780" name="Reference marker 14-1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81" name="Reference text 14-1"/>
          <p:cNvSpPr txBox="1"/>
          <p:nvPr/>
        </p:nvSpPr>
        <p:spPr>
          <a:xfrm>
            <a:off x="611386" y="126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[R17] May Mobility, May Mobility launches New AV Architecture, 2026-05-20: https://maymobility.com/posts/may-mobility-launches-new-av-architecture/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82" name="Reference marker 14-2"/>
          <p:cNvSpPr txBox="1"/>
          <p:nvPr/>
        </p:nvSpPr>
        <p:spPr>
          <a:xfrm>
            <a:off x="424726" y="182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83" name="Reference text 14-2"/>
          <p:cNvSpPr txBox="1"/>
          <p:nvPr/>
        </p:nvSpPr>
        <p:spPr>
          <a:xfrm>
            <a:off x="611386" y="182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[R18] May Mobility·SEC, Investor presentation, Exhibit 99.2, 2026-09-16: https://www.sec.gov/Archives/edgar/data/2111542/000121390026100367/ea030470201ex99-2.htm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84" name="Reference marker 14-3"/>
          <p:cNvSpPr txBox="1"/>
          <p:nvPr/>
        </p:nvSpPr>
        <p:spPr>
          <a:xfrm>
            <a:off x="424726" y="238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85" name="Reference text 14-3"/>
          <p:cNvSpPr txBox="1"/>
          <p:nvPr/>
        </p:nvSpPr>
        <p:spPr>
          <a:xfrm>
            <a:off x="611386" y="238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[R19] May Mobility, May Mobility and NTT Mobility to Launch First Public Rides on Autonomous e-Palette, 2026-09-03: https://maymobility.com/posts/may-mobility-and-ntt-mobility-to-launch-first-public-rides-on-autonomous-e-palette/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자율주행 데일리 리포트 2026-10-20</dc:title>
  <dc:subject>Zoox 산타모니카 주차 협상 승인·Tesla Austin 자정 운행 확대</dc:subject>
  <dc:creator>PptxGenJS</dc:creator>
  <cp:lastModifiedBy>PptxGenJS</cp:lastModifiedBy>
  <cp:revision>1</cp:revision>
  <dcterms:created xsi:type="dcterms:W3CDTF">2026-10-19T22:34:05Z</dcterms:created>
  <dcterms:modified xsi:type="dcterms:W3CDTF">2026-10-19T22:34:05Z</dcterms:modified>
</cp:coreProperties>
</file>