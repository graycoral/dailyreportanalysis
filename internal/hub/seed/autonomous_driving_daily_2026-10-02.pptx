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bc73614e054b0e" /><Relationship Type="http://schemas.openxmlformats.org/officeDocument/2006/relationships/extended-properties" Target="/docProps/app.xml" Id="Rf9d2e81f9f484892" /><Relationship Type="http://schemas.openxmlformats.org/officeDocument/2006/relationships/officeDocument" Target="/ppt/presentation.xml" Id="Rbbde1d17fb664d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aaefdf90764e97"/>
  </p:sldMasterIdLst>
  <p:notesMasterIdLst>
    <p:notesMasterId xmlns:r="http://schemas.openxmlformats.org/officeDocument/2006/relationships" r:id="Ra5561ce713804d78"/>
  </p:notesMasterIdLst>
  <p:sldIdLst>
    <p:sldId xmlns:r="http://schemas.openxmlformats.org/officeDocument/2006/relationships" id="256" r:id="R52651b1c42134a64"/>
    <p:sldId xmlns:r="http://schemas.openxmlformats.org/officeDocument/2006/relationships" id="257" r:id="R27b5dcd780d341c9"/>
    <p:sldId xmlns:r="http://schemas.openxmlformats.org/officeDocument/2006/relationships" id="258" r:id="Rf7bcc2500e5244ea"/>
    <p:sldId xmlns:r="http://schemas.openxmlformats.org/officeDocument/2006/relationships" id="259" r:id="R803876d0aa294f97"/>
    <p:sldId xmlns:r="http://schemas.openxmlformats.org/officeDocument/2006/relationships" id="260" r:id="R4e60160c39f14b21"/>
    <p:sldId xmlns:r="http://schemas.openxmlformats.org/officeDocument/2006/relationships" id="261" r:id="R1ad7a70dff0c4732"/>
    <p:sldId xmlns:r="http://schemas.openxmlformats.org/officeDocument/2006/relationships" id="262" r:id="R056a81b6559541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fbf3462a649c4" /><Relationship Type="http://schemas.openxmlformats.org/officeDocument/2006/relationships/slideMaster" Target="/ppt/slideMasters/slideMaster1.xml" Id="R8baaefdf90764e97" /><Relationship Type="http://schemas.openxmlformats.org/officeDocument/2006/relationships/notesMaster" Target="/ppt/notesMasters/notesMaster1.xml" Id="Ra5561ce713804d78" /><Relationship Type="http://schemas.openxmlformats.org/officeDocument/2006/relationships/presProps" Target="/ppt/presProps.xml" Id="R2087bce8ab20411b" /><Relationship Type="http://schemas.openxmlformats.org/officeDocument/2006/relationships/tableStyles" Target="/ppt/tableStyles.xml" Id="Rcf99154719994912" /><Relationship Type="http://schemas.openxmlformats.org/officeDocument/2006/relationships/slide" Target="/ppt/slides/slide1.xml" Id="R52651b1c42134a64" /><Relationship Type="http://schemas.openxmlformats.org/officeDocument/2006/relationships/slide" Target="/ppt/slides/slide2.xml" Id="R27b5dcd780d341c9" /><Relationship Type="http://schemas.openxmlformats.org/officeDocument/2006/relationships/slide" Target="/ppt/slides/slide3.xml" Id="Rf7bcc2500e5244ea" /><Relationship Type="http://schemas.openxmlformats.org/officeDocument/2006/relationships/slide" Target="/ppt/slides/slide4.xml" Id="R803876d0aa294f97" /><Relationship Type="http://schemas.openxmlformats.org/officeDocument/2006/relationships/slide" Target="/ppt/slides/slide5.xml" Id="R4e60160c39f14b21" /><Relationship Type="http://schemas.openxmlformats.org/officeDocument/2006/relationships/slide" Target="/ppt/slides/slide6.xml" Id="R1ad7a70dff0c4732" /><Relationship Type="http://schemas.openxmlformats.org/officeDocument/2006/relationships/slide" Target="/ppt/slides/slide7.xml" Id="R056a81b6559541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5d5d0865fc46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2061b68d0f4c8d" /><Relationship Type="http://schemas.openxmlformats.org/officeDocument/2006/relationships/notesMaster" Target="/ppt/notesMasters/notesMaster1.xml" Id="R7631a98366ef48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890c027e684024" /><Relationship Type="http://schemas.openxmlformats.org/officeDocument/2006/relationships/notesMaster" Target="/ppt/notesMasters/notesMaster1.xml" Id="R3fd08f9dcfae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8348ca34f4953" /><Relationship Type="http://schemas.openxmlformats.org/officeDocument/2006/relationships/notesMaster" Target="/ppt/notesMasters/notesMaster1.xml" Id="R50db31c295c645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97e63ae45346ce" /><Relationship Type="http://schemas.openxmlformats.org/officeDocument/2006/relationships/notesMaster" Target="/ppt/notesMasters/notesMaster1.xml" Id="Rdcf6fcc0324d4a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4d8ee5d28c48a4" /><Relationship Type="http://schemas.openxmlformats.org/officeDocument/2006/relationships/notesMaster" Target="/ppt/notesMasters/notesMaster1.xml" Id="R5e009b806d7a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9760eedd344e5d" /><Relationship Type="http://schemas.openxmlformats.org/officeDocument/2006/relationships/notesMaster" Target="/ppt/notesMasters/notesMaster1.xml" Id="Rf41a2f7bf5c9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c36cf8c1844e95" /><Relationship Type="http://schemas.openxmlformats.org/officeDocument/2006/relationships/notesMaster" Target="/ppt/notesMasters/notesMaster1.xml" Id="R52c578ec9ce644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Seoul Metropolitan Government, 2026-10-01: https://www.seoul.go.kr/news/news_report.do?nttNo=467454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Seoul Metropolitan Government: https://www.seoul.go.kr/news/news_report.do?nttNo=467454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Seoul Metropolitan Government: https://www.seoul.go.kr/news/news_report.do?nttNo=467454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[신규]</a:t>
            </a:r>
          </a:p>
          <a:p xmlns:a="http://schemas.openxmlformats.org/drawingml/2006/main">
            <a:r>
              <a:t>MPR News: https://www.mprnews.org/story/2026/10/01/waymo-robotaxi-regulation-up-for-minneapolis-city-council-vote</a:t>
            </a:r>
          </a:p>
          <a:p xmlns:a="http://schemas.openxmlformats.org/drawingml/2006/main">
            <a:r>
              <a:t>CBS Minnesota: https://www.cbsnews.com/minnesota/news/minneapolis-city-council-passes-ordinance-for-driverless-rideshares/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Uber: https://www.uber.com/us/en/newsroom/autonomous/</a:t>
            </a:r>
          </a:p>
          <a:p xmlns:a="http://schemas.openxmlformats.org/drawingml/2006/main">
            <a:r>
              <a:t>Avride: https://www.avride.ai/</a:t>
            </a:r>
          </a:p>
          <a:p xmlns:a="http://schemas.openxmlformats.org/drawingml/2006/main">
            <a:r>
              <a:t>Bolt: https://bolt.eu/en/blog/category/autonomous-solutions/</a:t>
            </a:r>
          </a:p>
          <a:p xmlns:a="http://schemas.openxmlformats.org/drawingml/2006/main">
            <a:r>
              <a:t>Mobileye: https://www.mobileye.com/news/</a:t>
            </a:r>
          </a:p>
          <a:p xmlns:a="http://schemas.openxmlformats.org/drawingml/2006/main">
            <a:r>
              <a:t>Kakao Mobility: https://www.kakaomobility.com/newsroom/more</a:t>
            </a:r>
          </a:p>
          <a:p xmlns:a="http://schemas.openxmlformats.org/drawingml/2006/main">
            <a:r>
              <a:t>Socar: https://www.socarcorp.kr/blog/773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[중복·추가 확인]</a:t>
            </a:r>
          </a:p>
          <a:p xmlns:a="http://schemas.openxmlformats.org/drawingml/2006/main">
            <a:r>
              <a:t>SEC-filed May Mobility presentation transcript: https://www.sec.gov/Archives/edgar/data/2111542/000121390026101013/ea030470211-425_acphold.htm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Status: [중복·추가 확인]</a:t>
            </a:r>
          </a:p>
          <a:p xmlns:a="http://schemas.openxmlformats.org/drawingml/2006/main">
            <a:r>
              <a:t>SEC transcript: https://www.sec.gov/Archives/edgar/data/2111542/000121390026101013/ea030470211-425_acphold.htm</a:t>
            </a:r>
          </a:p>
          <a:p xmlns:a="http://schemas.openxmlformats.org/drawingml/2006/main">
            <a:r>
              <a:t>SEC presentation: https://www.sec.gov/Archives/edgar/data/2111542/000121390026100367/ea030470201ex99-2.htm</a:t>
            </a:r>
          </a:p>
          <a:p xmlns:a="http://schemas.openxmlformats.org/drawingml/2006/main">
            <a:r>
              <a:t>May Mobility news: https://maymobility.com/posts/type/company-news/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e2619c5264ed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a80fb466945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45feeb94640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90426eeba44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77dee02d54d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ae38aac814a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E1DB580-2ED7-49EC-B93F-DC5801E2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F4C590-7B10-4CE3-A297-BF91E8ACC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445B936-4BFC-46F7-8143-731E3DB7EB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A3264FD-05A0-4E2C-918D-8B51AE0E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2727B1-00DC-4A5A-8348-3D409B32D6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A2B0D1D-7CCB-45B3-92FF-0B630DD5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12A216-3BC8-493F-A6B0-C876F150E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ECCF293-1648-49B4-B505-F1911D83BF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DC9E0FB-9F4D-4D67-8B3B-C55C605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A36359-FBCC-4E17-8024-F9F92C4242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C22FCC-1541-47FA-AE16-C894F9BE54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012499-D741-4B75-AAB2-A4AD185332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E7C45BF-7A7D-4916-BD11-8D0A3A9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0F48D7-F4FF-4638-9EB4-0FFBDC03BB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FB3F79-69B6-4651-8507-1C6BEF0CF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4b71ca98ca4d7b" /><Relationship Type="http://schemas.openxmlformats.org/officeDocument/2006/relationships/slideLayout" Target="/ppt/slideLayouts/slideLayout1.xml" Id="R3d8ad97bc726447a" /><Relationship Type="http://schemas.openxmlformats.org/officeDocument/2006/relationships/slideLayout" Target="/ppt/slideLayouts/slideLayout2.xml" Id="Rf6aa9c1b054141ed" /><Relationship Type="http://schemas.openxmlformats.org/officeDocument/2006/relationships/slideLayout" Target="/ppt/slideLayouts/slideLayout3.xml" Id="Rc1ac9db4b564410f" /><Relationship Type="http://schemas.openxmlformats.org/officeDocument/2006/relationships/slideLayout" Target="/ppt/slideLayouts/slideLayout4.xml" Id="Rd40f50b39434428b" /><Relationship Type="http://schemas.openxmlformats.org/officeDocument/2006/relationships/slideLayout" Target="/ppt/slideLayouts/slideLayout5.xml" Id="R715d8868ad304d38" /><Relationship Type="http://schemas.openxmlformats.org/officeDocument/2006/relationships/slideLayout" Target="/ppt/slideLayouts/slideLayout6.xml" Id="Ra56e1fd4ad1747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ad97bc726447a"/>
    <p:sldLayoutId xmlns:r="http://schemas.openxmlformats.org/officeDocument/2006/relationships" id="2147483650" r:id="Rf6aa9c1b054141ed"/>
    <p:sldLayoutId xmlns:r="http://schemas.openxmlformats.org/officeDocument/2006/relationships" id="2147483651" r:id="Rc1ac9db4b564410f"/>
    <p:sldLayoutId xmlns:r="http://schemas.openxmlformats.org/officeDocument/2006/relationships" id="2147483652" r:id="Rd40f50b39434428b"/>
    <p:sldLayoutId xmlns:r="http://schemas.openxmlformats.org/officeDocument/2006/relationships" id="2147483653" r:id="R715d8868ad304d38"/>
    <p:sldLayoutId xmlns:r="http://schemas.openxmlformats.org/officeDocument/2006/relationships" id="2147483654" r:id="Ra56e1fd4ad1747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513e7226f14ef6" /><Relationship Type="http://schemas.openxmlformats.org/officeDocument/2006/relationships/notesSlide" Target="/ppt/notesSlides/notesSlide1.xml" Id="R5ab3511075d2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120a7dd8a4a10" /><Relationship Type="http://schemas.openxmlformats.org/officeDocument/2006/relationships/notesSlide" Target="/ppt/notesSlides/notesSlide2.xml" Id="Rb9ce2e840083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bf73d2f944c38" /><Relationship Type="http://schemas.openxmlformats.org/officeDocument/2006/relationships/notesSlide" Target="/ppt/notesSlides/notesSlide3.xml" Id="R20a5e00d991e48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83bbba2d4c4666" /><Relationship Type="http://schemas.openxmlformats.org/officeDocument/2006/relationships/notesSlide" Target="/ppt/notesSlides/notesSlide4.xml" Id="R1b18b73e307543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b2ab502a04404" /><Relationship Type="http://schemas.openxmlformats.org/officeDocument/2006/relationships/notesSlide" Target="/ppt/notesSlides/notesSlide5.xml" Id="Rac7283cc9a004f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ef09a4782840ac" /><Relationship Type="http://schemas.openxmlformats.org/officeDocument/2006/relationships/notesSlide" Target="/ppt/notesSlides/notesSlide6.xml" Id="R3c243b5892c5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c1991d4cfe4b94" /><Relationship Type="http://schemas.openxmlformats.org/officeDocument/2006/relationships/notesSlide" Target="/ppt/notesSlides/notesSlide7.xml" Id="R6b5c4255c80c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CF0ED-AE9B-454A-B582-E1FBCCD3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28167-A041-4999-8527-21C2E4DD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CEA9E-DF74-4F53-970D-9BF7C341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75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B9214-8F39-48AB-80BB-F86E6471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Seoul targets 500 Level 4 city buses by 2030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4F5C9-1DDE-4605-A950-8CF4D6A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2026-10-02</a:t>
            </a:r>
          </a:p>
        </p:txBody>
      </p:sp>
    </p:spTree>
    <p:extLst>
      <p:ext uri="{BB962C8B-B14F-4D97-AF65-F5344CB8AC3E}">
        <p14:creationId xmlns:p14="http://schemas.microsoft.com/office/powerpoint/2010/main" val="1486544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7AA6D-4082-4104-9098-A07929C0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9C6AE-44A4-4D10-8728-ECFB115C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Seoul sets a phased Level 4 bus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5803F-7E94-429E-9F7A-88F2F29B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8D7B7-71EA-4C1E-8291-68A092E9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AGREEMENT AND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20E7A-B597-4BA9-8386-C2760B16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AE7C80-5A7F-4B69-BFD7-BC0E06DB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Level 4 city buses targeted by 2030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FB28E7-E4AF-4BFB-BE71-B5050790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Seoul, Hyundai Motor and the city bus association signed a three-year MOU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Development, road validation and certification are planned for 2027–2028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Regular-fleet introduction is planned from 2029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500-vehicle figure is a target, not a current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DF056-3457-4B81-B45E-ADDAB7599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2026-10-02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004541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990EC-177B-4108-8099-E2CCA342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0CC3D-686C-412E-917C-5FFA04B4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Execution model for Seoul's L4 buses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6700D-8915-4EC2-A48A-B29F44C5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2608D-B68A-47A7-8C67-E4DAAAA1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VEHICLE, OPERATIONS AND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15492-168C-4378-862C-C55EE5F5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11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7EE4C-5B18-44BB-8685-DB334A98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dedicated bus platform planned by Hyundai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9E46C-4A20-49A3-B8A2-6258AFC1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Hyundai will support by-wire controls, redundant components and cybersecurity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Operators will prepare test drivers, control staff, depots and charging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Seoul plans common sensor-installation and training-data standards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Route ODD, ADS suppliers and the safety-driver removal rule remain undisclosed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96B32-C987-40D8-B51A-9D21C0CD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2026-10-02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3219089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714B5-CCCF-4023-9475-7C0A8FD9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39C83-2A59-4288-AF6E-ACC772B8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Minneapolis ordinance faces a mayoral veto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96B87-D5DA-4F29-92CA-E8E963A7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F4D660-90C7-4B6D-8C00-3A831071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NEW: REGULATION NOT YET FINAL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EE858-5D46-4736-949F-E777F3AF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D9933D"/>
                </a:solidFill>
                <a:latin typeface="Bitstream Charter"/>
                <a:ea typeface="Bitstream Charter"/>
                <a:cs typeface="Bitstream Charter"/>
              </a:rPr>
              <a:t>7–6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201EF-72DB-4E07-BD04-7277279B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City Council vote for a human safety monitor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96240-FD15-4C25-9B7F-1868FA2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ordinance would require a licensed, paid monitor in commercial robotaxis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proposed effective date is October 2027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Mayor Jacob Frey pledged a veto; nine votes are required to override it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Waymo is testing with humans behind the wheel and is not carrying passengers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7A114-10DE-4B8E-8316-129C183B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2026-10-02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207691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7DD49-66B1-4CBA-A1E5-0F69DBDD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3B612-7A0A-4818-A7EF-DFAB4E59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L4 check: six requested companies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41C17-E53E-46F8-8913-F85BAE5E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F5898-3D2C-4327-9149-0F9BC047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ONLY NEW CONFIRMED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8CD4D-8C81-41D8-A175-D9195B19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 /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AEB81-D38F-48F8-8BA4-4D1E5D65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companies with a new L4 operating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1C829-90FD-490F-93C1-3F7BBFE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Uber and Avride: no new driver-out, permit, service-area or fleet update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Bolt and Mobileye: no new test launch or commercial execution change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Kakao Mobility: the September 30 MOU was reported yesterday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Socar: no new L4 operation, permit or vehicle deployment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659B9-4938-490D-981A-0FBD7837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2026-10-02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1373773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E846A9-BB38-4497-8D79-8F470CDE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DC9EF3-D4C7-4FF5-A577-D42F628B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technology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626B7-839D-4481-8B07-6F1EBC1E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73149-6131-4C62-9660-8CCF9307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+ ADDITIONAL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8C08C-45DC-41DF-9173-54AD1B88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1,000/s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1A9A1-0C1F-4EE9-8F93-0BEB185B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potential scenarios evaluated on vehicle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AF0D2-EB8C-423F-B786-8E12CAE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company says MDM switches between model behavior and validated policies every 200 ms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Current vehicles use lidar, radar and cameras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May says it supplies no custom sensor or custom chip in the current stack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driver-out deployment or fleet expansion was confirmed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EE811-7974-4947-8B37-E367A928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2026-10-02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501916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10224-C5C4-445B-8E46-75F4A270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D9315-066A-4D6E-8A13-154F9379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commercial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8AB3E-FBC8-495D-8E53-B7D405D5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3F268-A02A-49FA-8A83-A08728C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+ ADDITIONAL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B28CAC-8481-4369-A7BF-43F6E3AD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23,700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5B8D4-2AD4-44BC-9406-14764551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Atlanta pickup and drop-off points claimed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D95DB-D538-4862-9053-6AD63367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65722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Atlanta service launched with an onboard safety operator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Arlington with Uber remains the next target and has not launched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SPAC transaction remains a proposed $1.4B enterprise-value deal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site launch, driver-out transition or transaction closing was found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3CF85-6CEF-4ED8-84BC-23CD7E02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2026-10-02   DAILY REPORT   7</a:t>
            </a:r>
          </a:p>
        </p:txBody>
      </p:sp>
    </p:spTree>
    <p:extLst>
      <p:ext uri="{BB962C8B-B14F-4D97-AF65-F5344CB8AC3E}">
        <p14:creationId xmlns:p14="http://schemas.microsoft.com/office/powerpoint/2010/main" val="67901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2026-10-01T22:41:12.4750000Z</dcterms:created>
  <dcterms:modified xsi:type="dcterms:W3CDTF">2026-10-01T22:41:12.4750000Z</dcterms:modified>
</coreProperties>
</file>