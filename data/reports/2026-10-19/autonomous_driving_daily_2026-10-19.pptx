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aymo.com/blog/2026/10/waymo-in-toronto/" TargetMode="External"/><Relationship Id="rId2" Type="http://schemas.openxmlformats.org/officeDocument/2006/relationships/hyperlink" Target="https://www.elementfleet.com/about/news/element-expands-strategic-partnership-with-waymo-as-autonomous-mobility-arrives-in-canada" TargetMode="External"/><Relationship Id="rId3" Type="http://schemas.openxmlformats.org/officeDocument/2006/relationships/hyperlink" Target="https://www.uber.com/us/en/newsroom/" TargetMode="External"/><Relationship Id="rId4" Type="http://schemas.openxmlformats.org/officeDocument/2006/relationships/hyperlink" Target="https://www.avride.ai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bolt.eu/en/blog/category/autonomous-solutions/" TargetMode="External"/><Relationship Id="rId2" Type="http://schemas.openxmlformats.org/officeDocument/2006/relationships/hyperlink" Target="https://www.mobileye.com/news/" TargetMode="External"/><Relationship Id="rId3" Type="http://schemas.openxmlformats.org/officeDocument/2006/relationships/hyperlink" Target="https://www.kakaomobility.com/newsroom/news" TargetMode="External"/><Relationship Id="rId4" Type="http://schemas.openxmlformats.org/officeDocument/2006/relationships/hyperlink" Target="https://www.socarcorp.kr/blog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maymobility.com/posts/type/company-news" TargetMode="External"/><Relationship Id="rId2" Type="http://schemas.openxmlformats.org/officeDocument/2006/relationships/hyperlink" Target="https://www.sec.gov/Archives/edgar/data/2111542/000121390026100367/ea030470201ex99-1.htm" TargetMode="External"/><Relationship Id="rId3" Type="http://schemas.openxmlformats.org/officeDocument/2006/relationships/hyperlink" Target="https://www.ntt-mobility.com/news/20260812/newsrelease-260812/" TargetMode="External"/><Relationship Id="rId4" Type="http://schemas.openxmlformats.org/officeDocument/2006/relationships/hyperlink" Target="https://maymobility.com/first-responders/frip-atlanta-georgia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maymobility.com/posts/may-mobility-launches-new-av-architecture/" TargetMode="External"/><Relationship Id="rId2" Type="http://schemas.openxmlformats.org/officeDocument/2006/relationships/hyperlink" Target="https://maymobility.com/posts/may-mobility-launches-new-av-architecture/" TargetMode="External"/><Relationship Id="rId3" Type="http://schemas.openxmlformats.org/officeDocument/2006/relationships/hyperlink" Target="https://www.sec.gov/Archives/edgar/data/2111542/000121390026100367/ea030470201ex99-2.htm" TargetMode="External"/><Relationship Id="rId4" Type="http://schemas.openxmlformats.org/officeDocument/2006/relationships/hyperlink" Target="https://www.sec.gov/Archives/edgar/data/2111542/000121390026100367/ea030470201ex99-2.htm" TargetMode="External"/><Relationship Id="rId5" Type="http://schemas.openxmlformats.org/officeDocument/2006/relationships/hyperlink" Target="https://www.axios.com/local/washington-dc/2026/10/16/robotaxi-waymo-bill-dc-council" TargetMode="External"/><Relationship Id="rId6" Type="http://schemas.openxmlformats.org/officeDocument/2006/relationships/hyperlink" Target="https://www.axios.com/local/washington-dc/2026/10/16/robotaxi-waymo-bill-dc-council" TargetMode="External"/><Relationship Id="rId7" Type="http://schemas.openxmlformats.org/officeDocument/2006/relationships/hyperlink" Target="https://www.dgt.es/muevete-con-seguridad/vehiculos-seguros/conduccion-automatizada/marco-pruebas-vehiculos-automatizados/" TargetMode="External"/><Relationship Id="rId8" Type="http://schemas.openxmlformats.org/officeDocument/2006/relationships/hyperlink" Target="https://www.dgt.es/muevete-con-seguridad/vehiculos-seguros/conduccion-automatizada/marco-pruebas-vehiculos-automatizados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559594"/>
            <a:ext cx="2857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1097756"/>
            <a:ext cx="60102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2026-10-19 · Waymo 토론토 진출 계획·Element 현지 차량 운영 제휴 확대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535906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35906"/>
            <a:ext cx="834523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[신규·계획] Waymo: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10월 16일 토론토 진출 발표. 첫 승객은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 목표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초기 단계는 수동 지도 구축·안전요원 동승 시험 준비다.[R1]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2193131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3131"/>
            <a:ext cx="826751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[신규·제휴 확대] Element: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토론토 차량의 현장 운영·정비·충전 등을 담당할 계획을 발표했다. 차량 수·상용 허가·무인 개시는 미확인이다.[R1][R2]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850356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50356"/>
            <a:ext cx="839381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Uber·Avride·Bolt·Mobileye·카카오모빌리티·쏘카 모두 신규 확인 사항 없음.[R3][R4][R5][R6][R7][R8][R16]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507581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07581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[중복] · 이전 보고 2026-10-16: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확인 사항 없음. 서비스 지역·안전요원·SPAC 목표를 재점검했다.[R9][R10][R11][R12][R14]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150" y="4231481"/>
            <a:ext cx="77057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기준: </a:t>
            </a:r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2026-10-19 한국시간 아침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이전 발송본과 대조해 동일 사건·수치의 재보도를 제외했다.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381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신규 업데이트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26098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[신규] Waymo 토론토 진출 계획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53911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발표일: 2026-10-16. 당사자·지역: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Waymo, 캐나다 Toronto.[R1]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633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33538"/>
            <a:ext cx="828694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 단계: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발표 후 수일 내 수동 운전을 시작하고, 고정밀 지도 구축과 운전석의 훈련된 전문가를 동반한 시험을 단계적으로 진행한다고 밝혔다.[R1]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2907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90762"/>
            <a:ext cx="832580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목표: 2028년 첫 승객 탑승.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발표 당시의 미래 목표이며, 현재 무인 승객 서비스를 개시했다는 뜻이 아니다.[R1]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29479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947987"/>
            <a:ext cx="836466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첫 시험일, 투입 차량 수, 서비스 구역·요금, 상용 허가 및 안전요원 제거 완료는 양사 발표에서 확인되지 않는다.[R1][R2]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150" y="3671888"/>
            <a:ext cx="56102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Waymo·Element Fleet Management, 2026-10-16.[R1][R2]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762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기업/지역별 상세 내용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3124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Waymo·Element의 토론토 운영 역할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34523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Element 발표: 2026-10-16.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Waymo 제휴를 토론토로 확대하며, Element Mobility가 현장 운영을 맡을 계획이다.[R2]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27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범위: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인력·시설·차량 운영 조율, 차량 준비·정비, 충전 인프라·에너지 관리, 청소·서비스가 포함된다.[R2]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28694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구분: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현지 운영 파트너와 역할을 발표한 단계다. 토론토 차량 운영 개시나 시설 완공 실적은 확인하지 못했다.[R1][R2]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2577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경계: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이번 발표에서 신규 OEM 선정·차량 구매 수량·현대자동차 공급 계약은 확인되지 않는다.[R1][R2]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150" y="3957638"/>
            <a:ext cx="6858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당사자 원문을 교차 확인했다. 제휴 발표와 실제 무인 상용 운행을 분리한다.[R1][R2]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4003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 L4 점검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38150" y="1196727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8150" y="1574304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38150" y="1951881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8150" y="2329458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8150" y="2707035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8150" y="3084612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8150" y="3462189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8150" y="3628876"/>
            <a:ext cx="862698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무인·안전요원 전환, 시험/상용 허가, 지역·차량 규모, L4 적용 및 제휴 실행을 확인했다. 일반 사업·L2/3 소식과 기존 사건의 재보도는 제외했다.</a:t>
            </a:r>
            <a:endParaRPr lang="en-US" sz="1500" dirty="0"/>
          </a:p>
        </p:txBody>
      </p:sp>
      <p:graphicFrame>
        <p:nvGraphicFramePr>
          <p:cNvPr id="904" name="Editable source table"/>
          <p:cNvGraphicFramePr/>
          <p:nvPr/>
        </p:nvGraphicFramePr>
        <p:xfrm>
          <a:off x="438150" y="823912"/>
          <a:ext cx="8458200" cy="2643039"/>
        </p:xfrm>
        <a:graphic>
          <a:graphicData uri="http://schemas.openxmlformats.org/drawingml/2006/main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이전 보고 이후 확인 결과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점검 출처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Uber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뉴스룸·DGT [R3][R16]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Avride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홈페이지 [R4]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Bolt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Autonomous solutions [R5]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Mobileye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News [R6]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카카오모빌리티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 [R7]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쏘카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블로그 [R8]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2026-10-16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195262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실제 서비스 지역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31608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상용: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9월 16일 SEC 자료는 Atlanta, Eden Prairie, Grand Rapids(Minnesota)를 명시한다. 오늘의 신규 개시 지역이 아니다.[R10]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832580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Arlington·Uber: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2026년 4분기~2027년 1분기 개시 목표다. 이번 점검에서 개시 달성을 확인하지 못했다.[R9][R10]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8813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1313"/>
            <a:ext cx="828694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SEC는 9월 실증 개시를 명시한다. NTT의 계획은 2026년 9월 11일~2027년 3월 19일 평일 운행, 차량 3대·승하차 5곳이다.[R10][R11]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538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538"/>
            <a:ext cx="762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NTT의 차량 수는 실증 설계값이며, 오늘 실제 가동 대수·무인 전환의 증거로 사용하지 않는다.[R11]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2026-10-16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345757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안전요원·무인 수준 / 기술·ODD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27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Atlanta: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공식 긴급대응 지침은 Midtown의 Toyota Sienna에 운전석 Safety Operator가 탑승한다고 명시한다.[R12]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74199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NTT의 실증 안내만으로 운전석 무인 운행이나 L4 상용 허가 달성을 확인할 수 없다.[R11]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5955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95563"/>
            <a:ext cx="82577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5세대 기술: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딥러닝·예측 월드 모델·추론 엔진을 차량 내에서 결합한다는 회사 발표다. 개별 지역의 허가·안전요원 제거 실적과 구분한다.[R13]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2527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252788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속도·기상·도로별 ODD 전체와 추가 안전요원 철수는 이번 공개자료 점검에서 확인되지 않았다.[R9][R11][R12][R13]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2026-10-16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3829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차량·운영 실적 / ④ 투자·SPAC 일정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26751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실적: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9월 16일 발표 기준 승차 55만 회 초과·110만 마일·driver-out 배치 3건. 모든 현재 지역이 무인이라는 뜻은 아니다.[R10]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829665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AaaS: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파트너가 차량 소유·차고 운영·유지보수를, May Mobility가 자율주행 기술을 담당하는 모델을 제시한다.[R10]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8813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1313"/>
            <a:ext cx="831608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 발표값: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기업가치 약 14억 달러·최대 조달 3억3,700만 달러·PIPE 1억2,000만 달러. 환매·거래 조건에 영향을 받는다.[R10]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538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538"/>
            <a:ext cx="830637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종결 목표: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보도자료는 2026년 말, 투자자 자료는 2027년 1분기다. 합병·상장 완료는 추가 확인되지 않았다.[R9][R10][R14]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9100" y="41957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195762"/>
            <a:ext cx="53530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직접 계약·차량 적용 근거는 확인되지 않았다.[R10]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3430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규제·안전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19100" y="8334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33437"/>
            <a:ext cx="76295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[신규·추진] 워싱턴D.C.: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10/16, 로보택시법안 추수감사절 전 위원회 표결 추진 보도. 미통과.[R15]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2049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04913"/>
            <a:ext cx="831608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토론토: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양사 발표에서 무인 상용 허가 발급은 확인되지 않았다. 운전석 전문가 동반 시험 준비와 2028년 승객 서비스 목표를 구분한다.[R1][R2]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6097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기술·공급망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757238"/>
            <a:ext cx="838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없음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096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1–4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75152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[R1] Waymo, Hello Toronto! Waymo is En Route, 2026-10-16: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https://www.waymo.com/blog/2026/10/waymo-in-toronto/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607790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607790"/>
            <a:ext cx="8304014" cy="577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[R2] Element Fleet Management, Element expands strategic partnership with Waymo as autonomous mobility arrives in Canada, 2026-10-16: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2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https://www.elementfleet.com/about/news/element-expands-strategic-partnership-with-waymo-as-autonomous-mobility-arrives-in-canada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52017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2520173"/>
            <a:ext cx="53911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[R3] Uber, US Latest News, 2026-10-19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3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https://www.uber.com/us/en/newsroom/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865901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865901"/>
            <a:ext cx="41529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[R4] Avride, 공식 홈페이지, 2026-10-19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4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https://www.avride.ai/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096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5–8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67913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[R5] Bolt, Autonomous solutions, 2026-10-19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https://bolt.eu/en/blog/category/autonomous-solutions/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607790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607790"/>
            <a:ext cx="46101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[R6] Mobileye, News, 2026-10-19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https://www.mobileye.com/news/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19535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1953518"/>
            <a:ext cx="59055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[R7] 카카오모빌리티, 뉴스룸, 2026-10-19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https://www.kakaomobility.com/newsroom/news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299246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299246"/>
            <a:ext cx="43719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[R8] 쏘카, 공식 블로그, 2026-10-19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https://www.socarcorp.kr/blog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9144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9–12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65722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[R9] May Mobility, Company News, 2026-10-19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https://maymobility.com/posts/type/company-news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607790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607790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[R10] May Mobility·SEC, Business combination announcement, Exhibit 99.1, 2026-09-16: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https://www.sec.gov/Archives/edgar/data/2111542/000121390026100367/ea030470201ex99-1.htm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146846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2146846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[R11] NTT Mobility, 나고야 도심 자율주행·온디맨드 배차 실증 개시 (제목 번역), 2026-08-12: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https://www.ntt-mobility.com/news/20260812/newsrelease-260812/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685901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685901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[R12] May Mobility, First Responder Interaction Protocol: Atlanta, Georgia, 게시일 미표기·2026-10-19 확인: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https://maymobility.com/first-responders/frip-atlanta-georgia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019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13–16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R13</a:t>
            </a:r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Mobility, May Mobility launches New AV Architecture, 2026-05-20: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https://maymobility.com/posts/may-mobility-launches-new-av-architecture/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8011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801118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R14</a:t>
            </a:r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Mobility·SEC, Investor presentation, Exhibit 99.2, 2026-09-16: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https://www.sec.gov/Archives/edgar/data/2111542/000121390026100367/ea030470201ex99-2.htm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34017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234017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R15</a:t>
            </a:r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Axios, D.C. robotaxi bill set for council vote (축약 제목), 2026-10-16: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https://www.axios.com/local/washington-dc/2026/10/16/robotaxi-waymo-bill-dc-council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879229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879229"/>
            <a:ext cx="8306371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R16</a:t>
            </a:r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스페인 DGT, Marco de autorización de pruebas de vehículos automatizados, 2026-10-19 확인: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https://www.dgt.es/muevete-con-seguridad/vehiculos-seguros/conduccion-automatizada/marco-pruebas-vehiculos-automatizados/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자율주행 데일리 리포트 2026-10-19</dc:title>
  <dc:subject>Waymo 토론토 진출 계획·Element 현지 차량 운영 제휴 확대</dc:subject>
  <dc:creator>PptxGenJS</dc:creator>
  <cp:lastModifiedBy>PptxGenJS</cp:lastModifiedBy>
  <cp:revision>1</cp:revision>
  <dcterms:created xsi:type="dcterms:W3CDTF">2026-10-18T22:33:15Z</dcterms:created>
  <dcterms:modified xsi:type="dcterms:W3CDTF">2026-10-18T22:33:15Z</dcterms:modified>
</cp:coreProperties>
</file>