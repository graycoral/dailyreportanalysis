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707cb2831044e5" /><Relationship Type="http://schemas.openxmlformats.org/officeDocument/2006/relationships/extended-properties" Target="/docProps/app.xml" Id="R2733c38763874719" /><Relationship Type="http://schemas.openxmlformats.org/officeDocument/2006/relationships/officeDocument" Target="/ppt/presentation.xml" Id="Rac665ffd8fd84c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a6206b710144c3"/>
  </p:sldMasterIdLst>
  <p:notesMasterIdLst>
    <p:notesMasterId xmlns:r="http://schemas.openxmlformats.org/officeDocument/2006/relationships" r:id="R3587bf4679fd4afa"/>
  </p:notesMasterIdLst>
  <p:sldIdLst>
    <p:sldId xmlns:r="http://schemas.openxmlformats.org/officeDocument/2006/relationships" id="256" r:id="Rda9ffb2379d346f0"/>
    <p:sldId xmlns:r="http://schemas.openxmlformats.org/officeDocument/2006/relationships" id="257" r:id="Ra82d15f85f454222"/>
    <p:sldId xmlns:r="http://schemas.openxmlformats.org/officeDocument/2006/relationships" id="258" r:id="R33e5a9783e164339"/>
    <p:sldId xmlns:r="http://schemas.openxmlformats.org/officeDocument/2006/relationships" id="259" r:id="R11e6409aef8d44f3"/>
    <p:sldId xmlns:r="http://schemas.openxmlformats.org/officeDocument/2006/relationships" id="260" r:id="R170ef48f21a143f4"/>
    <p:sldId xmlns:r="http://schemas.openxmlformats.org/officeDocument/2006/relationships" id="261" r:id="R132a229d671b4dc5"/>
    <p:sldId xmlns:r="http://schemas.openxmlformats.org/officeDocument/2006/relationships" id="262" r:id="R365a25e4f4ae46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f0453237f34d34" /><Relationship Type="http://schemas.openxmlformats.org/officeDocument/2006/relationships/slideMaster" Target="/ppt/slideMasters/slideMaster1.xml" Id="Re4a6206b710144c3" /><Relationship Type="http://schemas.openxmlformats.org/officeDocument/2006/relationships/notesMaster" Target="/ppt/notesMasters/notesMaster1.xml" Id="R3587bf4679fd4afa" /><Relationship Type="http://schemas.openxmlformats.org/officeDocument/2006/relationships/presProps" Target="/ppt/presProps.xml" Id="R2e7e0bdeadc94d70" /><Relationship Type="http://schemas.openxmlformats.org/officeDocument/2006/relationships/tableStyles" Target="/ppt/tableStyles.xml" Id="Redf716ce51204623" /><Relationship Type="http://schemas.openxmlformats.org/officeDocument/2006/relationships/slide" Target="/ppt/slides/slide1.xml" Id="Rda9ffb2379d346f0" /><Relationship Type="http://schemas.openxmlformats.org/officeDocument/2006/relationships/slide" Target="/ppt/slides/slide2.xml" Id="Ra82d15f85f454222" /><Relationship Type="http://schemas.openxmlformats.org/officeDocument/2006/relationships/slide" Target="/ppt/slides/slide3.xml" Id="R33e5a9783e164339" /><Relationship Type="http://schemas.openxmlformats.org/officeDocument/2006/relationships/slide" Target="/ppt/slides/slide4.xml" Id="R11e6409aef8d44f3" /><Relationship Type="http://schemas.openxmlformats.org/officeDocument/2006/relationships/slide" Target="/ppt/slides/slide5.xml" Id="R170ef48f21a143f4" /><Relationship Type="http://schemas.openxmlformats.org/officeDocument/2006/relationships/slide" Target="/ppt/slides/slide6.xml" Id="R132a229d671b4dc5" /><Relationship Type="http://schemas.openxmlformats.org/officeDocument/2006/relationships/slide" Target="/ppt/slides/slide7.xml" Id="R365a25e4f4ae46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da2142987d40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bbcfda2ac4b6a" /><Relationship Type="http://schemas.openxmlformats.org/officeDocument/2006/relationships/notesMaster" Target="/ppt/notesMasters/notesMaster1.xml" Id="Rd1107907a93546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79dc4508fc4530" /><Relationship Type="http://schemas.openxmlformats.org/officeDocument/2006/relationships/notesMaster" Target="/ppt/notesMasters/notesMaster1.xml" Id="R0e591c203f4f40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a018d80131457c" /><Relationship Type="http://schemas.openxmlformats.org/officeDocument/2006/relationships/notesMaster" Target="/ppt/notesMasters/notesMaster1.xml" Id="Rf46e3f5d6b7248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0fb3d7cac646dd" /><Relationship Type="http://schemas.openxmlformats.org/officeDocument/2006/relationships/notesMaster" Target="/ppt/notesMasters/notesMaster1.xml" Id="R2f090302a5e146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db0b92eb4246c1" /><Relationship Type="http://schemas.openxmlformats.org/officeDocument/2006/relationships/notesMaster" Target="/ppt/notesMasters/notesMaster1.xml" Id="Rb83b5c8d166d49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3b29afb38741e3" /><Relationship Type="http://schemas.openxmlformats.org/officeDocument/2006/relationships/notesMaster" Target="/ppt/notesMasters/notesMaster1.xml" Id="Ra1291c1517b243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3320e30326486b" /><Relationship Type="http://schemas.openxmlformats.org/officeDocument/2006/relationships/notesMaster" Target="/ppt/notesMasters/notesMaster1.xml" Id="R42ca4782ca9b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Volvo Group, 2026-10-05: https://www.volvogroup.com/en/news-and-media/news/2026/oct/volvo-and-waabi-kick-off-customer-operations-in-texas--starting-with-warp-tm-.html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Volvo Group: https://www.volvogroup.com/en/news-and-media/news/2026/oct/volvo-and-waabi-kick-off-customer-operations-in-texas--starting-with-warp-tm-.html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운전석 관찰자 탑승 — 완전 무인 운행 아님</a:t>
            </a:r>
          </a:p>
          <a:p xmlns:a="http://schemas.openxmlformats.org/drawingml/2006/main">
            <a:r>
              <a:t>Volvo Group: https://www.volvogroup.com/en/news-and-media/news/2026/oct/volvo-and-waabi-kick-off-customer-operations-in-texas--starting-with-warp-tm-.html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EVwire, 2026-10-05: https://evwire.com/p/verne-ceo-confirms-uber-investment-robotaxi-europe</a:t>
            </a:r>
          </a:p>
          <a:p xmlns:a="http://schemas.openxmlformats.org/drawingml/2006/main">
            <a:r>
              <a:t>Uber, 2026-03: https://investor.uber.com/news-events/news/press-release-details/2026/Verne-Pony-ai-and-Uber-Partner-to-Launch-Europes-First-Commercial-Robotaxi-Service/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Uber: [신규]</a:t>
            </a:r>
          </a:p>
          <a:p xmlns:a="http://schemas.openxmlformats.org/drawingml/2006/main">
            <a:r>
              <a:t>Avride, Bolt, Mobileye, 카카오모빌리티, 쏘카: 신규 확인 사항 없음</a:t>
            </a:r>
          </a:p>
          <a:p xmlns:a="http://schemas.openxmlformats.org/drawingml/2006/main">
            <a:r>
              <a:t>Sources: https://www.uber.com/us/en/newsroom/autonomous/ | https://www.avride.ai/ | https://bolt.eu/en/blog/category/autonomous-solutions/ | https://www.mobileye.com/news/ | https://www.kakaomobility.com/newsroom | https://www.socarcorp.kr/blog/772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[중복]</a:t>
            </a:r>
          </a:p>
          <a:p xmlns:a="http://schemas.openxmlformats.org/drawingml/2006/main">
            <a:r>
              <a:t>신규 확인 사항 없음</a:t>
            </a:r>
          </a:p>
          <a:p xmlns:a="http://schemas.openxmlformats.org/drawingml/2006/main">
            <a:r>
              <a:t>May Mobility news: https://maymobility.com/posts/type/company-news/</a:t>
            </a:r>
          </a:p>
          <a:p xmlns:a="http://schemas.openxmlformats.org/drawingml/2006/main">
            <a:r>
              <a:t>SEC presentation: https://www.sec.gov/Archives/edgar/data/2111542/000121390026100367/ea030470201ex99-2.htm</a:t>
            </a:r>
          </a:p>
          <a:p xmlns:a="http://schemas.openxmlformats.org/drawingml/2006/main">
            <a:r>
              <a:t>Lyft Atlanta: https://www.lyft.com/blog/posts/lyft-and-may-mobility-launch-autonomous-vehicles-in-atlanta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[중복]</a:t>
            </a:r>
          </a:p>
          <a:p xmlns:a="http://schemas.openxmlformats.org/drawingml/2006/main">
            <a:r>
              <a:t>신규 확인 사항 없음</a:t>
            </a:r>
          </a:p>
          <a:p xmlns:a="http://schemas.openxmlformats.org/drawingml/2006/main">
            <a:r>
              <a:t>SEC presentation: https://www.sec.gov/Archives/edgar/data/2111542/000121390026100367/ea030470201ex99-2.htm</a:t>
            </a:r>
          </a:p>
          <a:p xmlns:a="http://schemas.openxmlformats.org/drawingml/2006/main">
            <a:r>
              <a:t>SEC transcript: https://www.sec.gov/Archives/edgar/data/2111542/000121390026101013/ea030470211-425_acphold.htm</a:t>
            </a:r>
          </a:p>
          <a:p xmlns:a="http://schemas.openxmlformats.org/drawingml/2006/main">
            <a:r>
              <a:t>May Mobility news: https://maymobility.com/posts/type/company-news/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2c18ea7f240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d9560f8d242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4e11301864f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a4394ea414c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6dd9df57d42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b5144bd334c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C660D6B-8AB1-4DCF-B02F-0FCC5E52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5DB534-33A7-40CD-85D7-07F76ACCC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8091647-2CA4-41B7-923B-BA5A7CD93B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37E25B5-DF43-408C-BD5F-449966C9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D4F75B-6F30-4926-A4F4-08EF9F602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D81E79C-A502-4787-9336-6EF30F65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558D67-DAF3-4BE4-A76D-B504DBB09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A536674-36EE-446E-BF98-5CF5DF7784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7B2D8C9-04B7-4013-8B8E-D71D9673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12982E-89F3-468F-9465-17B48C8093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5318EE-E59E-4A51-863E-EABD510BAB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05E66E-366A-4F0B-AD0E-3D9D0C0697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A39CA57-4071-451E-9AA8-A1C2BC23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E02303-E30A-4BEA-B4AE-413DB7A35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8F645C-17FC-48C7-BB3C-082C99338B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30379d2aff4f55" /><Relationship Type="http://schemas.openxmlformats.org/officeDocument/2006/relationships/slideLayout" Target="/ppt/slideLayouts/slideLayout1.xml" Id="R7199f01ce5f64915" /><Relationship Type="http://schemas.openxmlformats.org/officeDocument/2006/relationships/slideLayout" Target="/ppt/slideLayouts/slideLayout2.xml" Id="Re63a4702341343b3" /><Relationship Type="http://schemas.openxmlformats.org/officeDocument/2006/relationships/slideLayout" Target="/ppt/slideLayouts/slideLayout3.xml" Id="R999d50145e2446d2" /><Relationship Type="http://schemas.openxmlformats.org/officeDocument/2006/relationships/slideLayout" Target="/ppt/slideLayouts/slideLayout4.xml" Id="Ra4c867b7a70540aa" /><Relationship Type="http://schemas.openxmlformats.org/officeDocument/2006/relationships/slideLayout" Target="/ppt/slideLayouts/slideLayout5.xml" Id="R467585ff7c0449ae" /><Relationship Type="http://schemas.openxmlformats.org/officeDocument/2006/relationships/slideLayout" Target="/ppt/slideLayouts/slideLayout6.xml" Id="R00b5a6aad27c42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99f01ce5f64915"/>
    <p:sldLayoutId xmlns:r="http://schemas.openxmlformats.org/officeDocument/2006/relationships" id="2147483650" r:id="Re63a4702341343b3"/>
    <p:sldLayoutId xmlns:r="http://schemas.openxmlformats.org/officeDocument/2006/relationships" id="2147483651" r:id="R999d50145e2446d2"/>
    <p:sldLayoutId xmlns:r="http://schemas.openxmlformats.org/officeDocument/2006/relationships" id="2147483652" r:id="Ra4c867b7a70540aa"/>
    <p:sldLayoutId xmlns:r="http://schemas.openxmlformats.org/officeDocument/2006/relationships" id="2147483653" r:id="R467585ff7c0449ae"/>
    <p:sldLayoutId xmlns:r="http://schemas.openxmlformats.org/officeDocument/2006/relationships" id="2147483654" r:id="R00b5a6aad27c42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da889b48940bc" /><Relationship Type="http://schemas.openxmlformats.org/officeDocument/2006/relationships/notesSlide" Target="/ppt/notesSlides/notesSlide1.xml" Id="R71c97e7a6d8543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3e3a94fb54d73" /><Relationship Type="http://schemas.openxmlformats.org/officeDocument/2006/relationships/notesSlide" Target="/ppt/notesSlides/notesSlide2.xml" Id="R79daeb77d55e44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5e88171ec45b4" /><Relationship Type="http://schemas.openxmlformats.org/officeDocument/2006/relationships/notesSlide" Target="/ppt/notesSlides/notesSlide3.xml" Id="R22fe8d0d98d64b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6540cf54be4ae0" /><Relationship Type="http://schemas.openxmlformats.org/officeDocument/2006/relationships/notesSlide" Target="/ppt/notesSlides/notesSlide4.xml" Id="Raada7d0bbb5743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942ed1f6243a0" /><Relationship Type="http://schemas.openxmlformats.org/officeDocument/2006/relationships/notesSlide" Target="/ppt/notesSlides/notesSlide5.xml" Id="Rf0e783addbad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ac2b8c31341af" /><Relationship Type="http://schemas.openxmlformats.org/officeDocument/2006/relationships/notesSlide" Target="/ppt/notesSlides/notesSlide6.xml" Id="R91c1ff801d644f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5bd6d2e3d46db" /><Relationship Type="http://schemas.openxmlformats.org/officeDocument/2006/relationships/notesSlide" Target="/ppt/notesSlides/notesSlide7.xml" Id="Re41f4b9caad946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F7F14-7778-4AD8-87FC-C930CC54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B996B-8C7A-4B67-B273-39C5C104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5028E-A9BD-4A27-A741-B3E8467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0B1D5-DFA8-45EA-B61B-631D3149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Volvo and Waabi start customer freight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DA792-1F8B-4241-B996-C2F9F0DF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2026-10-06</a:t>
            </a:r>
          </a:p>
        </p:txBody>
      </p:sp>
    </p:spTree>
    <p:extLst>
      <p:ext uri="{BB962C8B-B14F-4D97-AF65-F5344CB8AC3E}">
        <p14:creationId xmlns:p14="http://schemas.microsoft.com/office/powerpoint/2010/main" val="292107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DA711-3A96-469B-AF9F-BC980BA1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77C70-2A7F-47B1-B912-E6D54BCA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Volvo–Waabi begins customer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F4277-0909-43D0-8A1B-408761B4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AC1A9-E9EC-4994-9DEC-08CB36AB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ACTUAL FREIGHT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642AF-790B-47AA-A785-89BBE0E1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Dallas–Houston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4473C-3AC9-4579-9341-09C3263F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first customer corridor for Warp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74109-BE42-491E-BA16-E5D7E265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Volvo Autonomous Solutions and Waabi started the first customer operation on October 5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 Volvo VNL Autonomous now carries customer freight directly to third-party facilities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service bundles vehicle, ADS, fleet and transport management, terminals and uptime support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announcement confirms execution, not merely a future pilot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7E4B7-F265-4383-B343-EF832C1E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2026-10-06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1986858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CBC1D-18FF-4425-806A-23A0B565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A0C38-0555-4A0F-81E5-E5F9FE17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Current operation is not driver-out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F4B62-4014-43B0-AE3C-F4BD1EA5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0488E-A965-49C0-A327-1CD09553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SAFETY STATUS CONFIRMED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FA399-BE69-4792-90D7-4FC9EFAD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Observer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616F1-1C35-4E41-B51A-0F2DE34A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in the driver's seat on current autonomous hauls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06C8C-D0BD-447E-B988-6CBF3DF9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Volvo explicitly says an observer is in the driver's seat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release does not claim fully driverless commercial operation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VNL Autonomous has redundancy across six safety-critical systems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Fleet size, permit type and driver-out transition timing were not disclosed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95181-4927-4A45-ABF2-777B1B06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2026-10-06   DAILY REPORT   3</a:t>
            </a:r>
          </a:p>
        </p:txBody>
      </p:sp>
    </p:spTree>
    <p:extLst>
      <p:ext uri="{BB962C8B-B14F-4D97-AF65-F5344CB8AC3E}">
        <p14:creationId xmlns:p14="http://schemas.microsoft.com/office/powerpoint/2010/main" val="138391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5D9DE-CFD5-4DF4-A0FC-E817297C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E9A9C-C784-47E8-8E94-A2ABB11D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Uber investment in Verne is confirmed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8091F-E316-47DB-BD22-B2A0DDC1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4C118-2A9B-476B-AF55-80108710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INTENT →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13DBC-B5C9-4AB4-ACEA-3D37C190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Invested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CFBB9-ED98-4472-B8B4-D56840AE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Verne CEO confirms Uber completed an investment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0EB96-421E-429A-82A0-6B180CB6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March partnership announcement said Uber intended to invest in Verne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Verne CEO Marko Pejkovic now confirms Uber has invested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amount and transaction terms remain undisclosed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city, vehicle deployment or driver-out launch was confirmed with this update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4CB2B-C747-4BB2-8F64-5017133E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2026-10-06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612910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37871-DDFC-4BF8-9E22-FC5B4C7A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52E3E-A283-48C7-859A-6161B916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L4 check: six requested companies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3D186-0AFC-40D8-B379-8852BB24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352DF-E3AC-46AB-A62A-CA5BDE5E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ONLY NEW CONFIRMED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F505D-6D63-4A63-9438-0920B31F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1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56B61-C97D-4A5A-B128-DDE59E50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companies with a new L4-linked status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11781-340E-4FCD-A375-00B6337F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Uber: Verne investment moved from stated intent to confirmed execution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Avride and Bolt: no new driver-out, permit, geofence or fleet update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Mobileye: no new status beyond previously reported limited trials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Kakao Mobility and Socar: no new L4 service or vehicle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4FC3A-ABA0-44BA-BBC9-5D79A980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2026-10-06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6614649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2871B-CEC8-4D7B-BA19-D1FBAE3C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C0895-E401-4078-83EB-082B770C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operating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8394E-C950-4325-8F1A-026F6515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50A3B-2D63-43C8-ABA9-9956FB83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DUPLICATE: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7F142-38CB-4E3C-81B0-1E9D81A6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550K+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C5E30-ACD8-4718-B953-71CF1FF5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commercial rides claimed cumulatively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444F0-427A-4D08-B1AC-7A45EEDE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U.S. commercial locations remain Atlanta, Grand Rapids and Eden Prairie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Atlanta launched with an onboard safety operator; no removal update was found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Arlington with Uber remains a target, not a confirmed launch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driver-out transition, fleet expansion or site opening was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B8407-E698-46A3-8099-56B62ACC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2026-10-06   DAILY REPORT   6</a:t>
            </a:r>
          </a:p>
        </p:txBody>
      </p:sp>
    </p:spTree>
    <p:extLst>
      <p:ext uri="{BB962C8B-B14F-4D97-AF65-F5344CB8AC3E}">
        <p14:creationId xmlns:p14="http://schemas.microsoft.com/office/powerpoint/2010/main" val="57045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1CAF2-493A-4FFF-A7C7-29C66062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FCE47-A943-470F-8AC7-26723F5E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technology and 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CF495-63CA-4C14-99D7-5F6BA0F3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50D14-293B-4F4B-BA65-54487426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DUPLICATE: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49655-3038-4D8C-A579-6B95B601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$1.4B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AF135-0F07-4632-BB2C-F1779937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proposed enterprise value; deal not closed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20041-DE7D-468D-A0E6-3262C7CB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current stack uses lidar, radar and cameras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May says MPDM evaluates about 1,000 potential scenarios each second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proposed deal includes up to $337M gross proceeds and a $120M PIPE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SPAC closing or direct Hyundai relationship was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1CE11-8FD5-4970-B5D1-F96D0C5D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2026-10-06   DAILY REPORT   7</a:t>
            </a:r>
          </a:p>
        </p:txBody>
      </p:sp>
    </p:spTree>
    <p:extLst>
      <p:ext uri="{BB962C8B-B14F-4D97-AF65-F5344CB8AC3E}">
        <p14:creationId xmlns:p14="http://schemas.microsoft.com/office/powerpoint/2010/main" val="2140630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2026-10-05T22:36:49.5360000Z</dcterms:created>
  <dcterms:modified xsi:type="dcterms:W3CDTF">2026-10-05T22:36:49.5360000Z</dcterms:modified>
</coreProperties>
</file>