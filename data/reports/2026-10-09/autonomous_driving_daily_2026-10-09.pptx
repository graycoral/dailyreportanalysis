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fbea2dfca4b453e" /><Relationship Type="http://schemas.openxmlformats.org/officeDocument/2006/relationships/extended-properties" Target="/docProps/app.xml" Id="R764a56befb734a62" /><Relationship Type="http://schemas.openxmlformats.org/officeDocument/2006/relationships/officeDocument" Target="/ppt/presentation.xml" Id="R64b922ee89974b0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0e9af19811e4af3"/>
  </p:sldMasterIdLst>
  <p:notesMasterIdLst>
    <p:notesMasterId xmlns:r="http://schemas.openxmlformats.org/officeDocument/2006/relationships" r:id="R46acd940b180498a"/>
  </p:notesMasterIdLst>
  <p:sldIdLst>
    <p:sldId xmlns:r="http://schemas.openxmlformats.org/officeDocument/2006/relationships" id="256" r:id="R3348ef7c1430433e"/>
    <p:sldId xmlns:r="http://schemas.openxmlformats.org/officeDocument/2006/relationships" id="257" r:id="Rd45bc82da45443aa"/>
    <p:sldId xmlns:r="http://schemas.openxmlformats.org/officeDocument/2006/relationships" id="258" r:id="R108542e0874c4392"/>
    <p:sldId xmlns:r="http://schemas.openxmlformats.org/officeDocument/2006/relationships" id="259" r:id="Rc178e9d6893f429f"/>
    <p:sldId xmlns:r="http://schemas.openxmlformats.org/officeDocument/2006/relationships" id="260" r:id="Rc41c3ddee82545da"/>
    <p:sldId xmlns:r="http://schemas.openxmlformats.org/officeDocument/2006/relationships" id="261" r:id="R03826ebc0bf1445d"/>
    <p:sldId xmlns:r="http://schemas.openxmlformats.org/officeDocument/2006/relationships" id="262" r:id="R008b8dcb81334630"/>
    <p:sldId xmlns:r="http://schemas.openxmlformats.org/officeDocument/2006/relationships" id="263" r:id="R7627859375e4490d"/>
    <p:sldId xmlns:r="http://schemas.openxmlformats.org/officeDocument/2006/relationships" id="264" r:id="R87eb7e22a71c4bc6"/>
    <p:sldId xmlns:r="http://schemas.openxmlformats.org/officeDocument/2006/relationships" id="265" r:id="Re1ba6c667a9a440a"/>
    <p:sldId xmlns:r="http://schemas.openxmlformats.org/officeDocument/2006/relationships" id="266" r:id="R5163efa276634daf"/>
    <p:sldId xmlns:r="http://schemas.openxmlformats.org/officeDocument/2006/relationships" id="267" r:id="R917f9a6a7f59447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4dcc64d54494017" /><Relationship Type="http://schemas.openxmlformats.org/officeDocument/2006/relationships/slideMaster" Target="/ppt/slideMasters/slideMaster1.xml" Id="R40e9af19811e4af3" /><Relationship Type="http://schemas.openxmlformats.org/officeDocument/2006/relationships/notesMaster" Target="/ppt/notesMasters/notesMaster1.xml" Id="R46acd940b180498a" /><Relationship Type="http://schemas.openxmlformats.org/officeDocument/2006/relationships/presProps" Target="/ppt/presProps.xml" Id="R76c31b925024467f" /><Relationship Type="http://schemas.openxmlformats.org/officeDocument/2006/relationships/tableStyles" Target="/ppt/tableStyles.xml" Id="Rd8dab09464974308" /><Relationship Type="http://schemas.openxmlformats.org/officeDocument/2006/relationships/slide" Target="/ppt/slides/slide1.xml" Id="R3348ef7c1430433e" /><Relationship Type="http://schemas.openxmlformats.org/officeDocument/2006/relationships/slide" Target="/ppt/slides/slide2.xml" Id="Rd45bc82da45443aa" /><Relationship Type="http://schemas.openxmlformats.org/officeDocument/2006/relationships/slide" Target="/ppt/slides/slide3.xml" Id="R108542e0874c4392" /><Relationship Type="http://schemas.openxmlformats.org/officeDocument/2006/relationships/slide" Target="/ppt/slides/slide4.xml" Id="Rc178e9d6893f429f" /><Relationship Type="http://schemas.openxmlformats.org/officeDocument/2006/relationships/slide" Target="/ppt/slides/slide5.xml" Id="Rc41c3ddee82545da" /><Relationship Type="http://schemas.openxmlformats.org/officeDocument/2006/relationships/slide" Target="/ppt/slides/slide6.xml" Id="R03826ebc0bf1445d" /><Relationship Type="http://schemas.openxmlformats.org/officeDocument/2006/relationships/slide" Target="/ppt/slides/slide7.xml" Id="R008b8dcb81334630" /><Relationship Type="http://schemas.openxmlformats.org/officeDocument/2006/relationships/slide" Target="/ppt/slides/slide8.xml" Id="R7627859375e4490d" /><Relationship Type="http://schemas.openxmlformats.org/officeDocument/2006/relationships/slide" Target="/ppt/slides/slide9.xml" Id="R87eb7e22a71c4bc6" /><Relationship Type="http://schemas.openxmlformats.org/officeDocument/2006/relationships/slide" Target="/ppt/slides/slide10.xml" Id="Re1ba6c667a9a440a" /><Relationship Type="http://schemas.openxmlformats.org/officeDocument/2006/relationships/slide" Target="/ppt/slides/slide11.xml" Id="R5163efa276634daf" /><Relationship Type="http://schemas.openxmlformats.org/officeDocument/2006/relationships/slide" Target="/ppt/slides/slide12.xml" Id="R917f9a6a7f59447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ffc01613c924fe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30e4d6ded64613" /><Relationship Type="http://schemas.openxmlformats.org/officeDocument/2006/relationships/notesMaster" Target="/ppt/notesMasters/notesMaster1.xml" Id="R4e2025f05dd0407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555c16e9dd34658" /><Relationship Type="http://schemas.openxmlformats.org/officeDocument/2006/relationships/notesMaster" Target="/ppt/notesMasters/notesMaster1.xml" Id="R498372b2d8c3426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ca65c9c0d294e1a" /><Relationship Type="http://schemas.openxmlformats.org/officeDocument/2006/relationships/notesMaster" Target="/ppt/notesMasters/notesMaster1.xml" Id="Rdf9f27d553cd41b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e3acfa520e24814" /><Relationship Type="http://schemas.openxmlformats.org/officeDocument/2006/relationships/notesMaster" Target="/ppt/notesMasters/notesMaster1.xml" Id="R4f80de098f4a4e3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494478e1bdd494c" /><Relationship Type="http://schemas.openxmlformats.org/officeDocument/2006/relationships/notesMaster" Target="/ppt/notesMasters/notesMaster1.xml" Id="R1f14535fc5a441e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ba188b96b624152" /><Relationship Type="http://schemas.openxmlformats.org/officeDocument/2006/relationships/notesMaster" Target="/ppt/notesMasters/notesMaster1.xml" Id="R74fcb0422c6841c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1b350eec4fd484d" /><Relationship Type="http://schemas.openxmlformats.org/officeDocument/2006/relationships/notesMaster" Target="/ppt/notesMasters/notesMaster1.xml" Id="Re2cb9e9596d9457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91288e093bd4dd8" /><Relationship Type="http://schemas.openxmlformats.org/officeDocument/2006/relationships/notesMaster" Target="/ppt/notesMasters/notesMaster1.xml" Id="R7dcb0d6c7fc442b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aea85301a724787" /><Relationship Type="http://schemas.openxmlformats.org/officeDocument/2006/relationships/notesMaster" Target="/ppt/notesMasters/notesMaster1.xml" Id="R84b7cc7fb6f3459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8634de320794e6a" /><Relationship Type="http://schemas.openxmlformats.org/officeDocument/2006/relationships/notesMaster" Target="/ppt/notesMasters/notesMaster1.xml" Id="R4335fdb896414be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d22d738d17e43ce" /><Relationship Type="http://schemas.openxmlformats.org/officeDocument/2006/relationships/notesMaster" Target="/ppt/notesMasters/notesMaster1.xml" Id="R8133ab25924249e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cf4f51ef0294a79" /><Relationship Type="http://schemas.openxmlformats.org/officeDocument/2006/relationships/notesMaster" Target="/ppt/notesMasters/notesMaster1.xml" Id="R5a1b24597b2b437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Status: [신규·미보고]</a:t>
            </a:r>
          </a:p>
          <a:p xmlns:a="http://schemas.openxmlformats.org/drawingml/2006/main">
            <a:r>
              <a:t>FMCSA: https://www.fmcsa.dot.gov/sites/fmcsa.dot.gov/files/2026-10/Aurora%20Operations%20Exemption_10-07-2026.pdf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Status: [신규·미보고]</a:t>
            </a:r>
          </a:p>
          <a:p xmlns:a="http://schemas.openxmlformats.org/drawingml/2006/main">
            <a:r>
              <a:t>FMCSA: https://www.fmcsa.dot.gov/sites/fmcsa.dot.gov/files/2026-10/Aurora%20Operations%20Exemption_10-07-2026.pdf</a:t>
            </a:r>
          </a:p>
          <a:p xmlns:a="http://schemas.openxmlformats.org/drawingml/2006/main">
            <a:r>
              <a:t>Reuters: https://www.reuters.com/business/us-grants-aurora-exemption-self-driving-trucks-safety-feature-2026-10-08/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FMCSA decision, pp. 9–19: https://www.fmcsa.dot.gov/sites/fmcsa.dot.gov/files/2026-10/Aurora%20Operations%20Exemption_10-07-2026.pdf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Status: [신규]</a:t>
            </a:r>
          </a:p>
          <a:p xmlns:a="http://schemas.openxmlformats.org/drawingml/2006/main">
            <a:r>
              <a:t>TechCrunch, 2026-10-08: https://techcrunch.com/2026/10/08/uber-and-chinas-pony-ai-plan-to-launch-robotaxis-in-london/</a:t>
            </a:r>
          </a:p>
          <a:p xmlns:a="http://schemas.openxmlformats.org/drawingml/2006/main">
            <a:r>
              <a:t>Uber/Pony.ai background: https://investor.uber.com/news-events/news/press-release-details/2026/Pony-ai-and-Uber-Expand-Partnership-to-Deploy-Over-2000-Robotaxis-in-Europe/default.aspx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Status: [신규]</a:t>
            </a:r>
          </a:p>
          <a:p xmlns:a="http://schemas.openxmlformats.org/drawingml/2006/main">
            <a:r>
              <a:t>XPENG, 2026-10-08: https://www.xpeng.com/pressroom/news/01a11addc34ca0e70a9e8a0282360128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Status: [신규]</a:t>
            </a:r>
          </a:p>
          <a:p xmlns:a="http://schemas.openxmlformats.org/drawingml/2006/main">
            <a:r>
              <a:t>Waymo, 2026-10-08: https://waymo.com/blog/2026/10/waymo-closes-5-billion-debt-financing/</a:t>
            </a:r>
          </a:p>
          <a:p xmlns:a="http://schemas.openxmlformats.org/drawingml/2006/main">
            <a:r>
              <a:t>Reuters: https://www.reuters.com/business/alphabets-waymo-secures-5-billion-term-loan-accelerate-expansion-2026-10-08/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Uber [신규]; Avride, Bolt, Mobileye, 카카오모빌리티, 쏘카: 신규 확인 사항 없음</a:t>
            </a:r>
          </a:p>
          <a:p xmlns:a="http://schemas.openxmlformats.org/drawingml/2006/main">
            <a:r>
              <a:t>Sources: https://www.uber.com/us/en/newsroom/autonomous/ | https://www.avride.ai/ | https://bolt.eu/en/blog/category/autonomous-solutions/ | https://www.mobileye.com/news/ | https://www.kakaomobility.com/newsroom | https://www.socarcorp.kr/blog/772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Status: [중복] 이전 보고 2026-10-08</a:t>
            </a:r>
          </a:p>
          <a:p xmlns:a="http://schemas.openxmlformats.org/drawingml/2006/main">
            <a:r>
              <a:t>신규 확인 사항 없음</a:t>
            </a:r>
          </a:p>
          <a:p xmlns:a="http://schemas.openxmlformats.org/drawingml/2006/main">
            <a:r>
              <a:t>May Mobility: https://maymobility.com/posts/type/company-news/</a:t>
            </a:r>
          </a:p>
          <a:p xmlns:a="http://schemas.openxmlformats.org/drawingml/2006/main">
            <a:r>
              <a:t>SEC: https://www.sec.gov/Archives/edgar/data/2111542/000121390026100367/ea030470201ex99-1.htm</a:t>
            </a:r>
          </a:p>
          <a:p xmlns:a="http://schemas.openxmlformats.org/drawingml/2006/main">
            <a:r>
              <a:t>Lyft Atlanta: https://www.lyft.com/blog/posts/lyft-and-may-mobility-launch-autonomous-vehicles-in-atlanta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f5d2d0cf4f418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3aa45152874aa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6b4340daff44a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3c916241f54d0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3e8b15ba404db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09d0a98a094fc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3CEA16E-1F70-4CDE-879A-FD2BE8D976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2B80EEE-B459-45C6-B802-430E70949BF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C50CA03-4460-4C0D-B425-7A193C0AAF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3AF61C8-F76B-4BF5-A1B3-699F9A9A2F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AEFD344-9C82-4844-98C0-244E056D93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89B97A5-7F67-4DC5-8CE9-464960B8B9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01036DA-57EA-4114-BCE0-D2CBB51DDC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50AD51B-2FE1-4920-A7F1-C727DEFF8A2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E5915F9-6E66-4C04-AABF-41AEEF4E7F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7BC3C15-2FC1-4561-B9AF-83AD84B0314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833e122f37d4e60" /><Relationship Type="http://schemas.openxmlformats.org/officeDocument/2006/relationships/slideLayout" Target="/ppt/slideLayouts/slideLayout1.xml" Id="Rc60e66df681641c4" /><Relationship Type="http://schemas.openxmlformats.org/officeDocument/2006/relationships/slideLayout" Target="/ppt/slideLayouts/slideLayout2.xml" Id="R7bf1ab2fcd794265" /><Relationship Type="http://schemas.openxmlformats.org/officeDocument/2006/relationships/slideLayout" Target="/ppt/slideLayouts/slideLayout3.xml" Id="R7cde878f778f4226" /><Relationship Type="http://schemas.openxmlformats.org/officeDocument/2006/relationships/slideLayout" Target="/ppt/slideLayouts/slideLayout4.xml" Id="Rc07499308e644e86" /><Relationship Type="http://schemas.openxmlformats.org/officeDocument/2006/relationships/slideLayout" Target="/ppt/slideLayouts/slideLayout5.xml" Id="R1b4c956096a44ac7" /><Relationship Type="http://schemas.openxmlformats.org/officeDocument/2006/relationships/slideLayout" Target="/ppt/slideLayouts/slideLayout6.xml" Id="Rff2e02f63cd3472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60e66df681641c4"/>
    <p:sldLayoutId xmlns:r="http://schemas.openxmlformats.org/officeDocument/2006/relationships" id="2147483650" r:id="R7bf1ab2fcd794265"/>
    <p:sldLayoutId xmlns:r="http://schemas.openxmlformats.org/officeDocument/2006/relationships" id="2147483651" r:id="R7cde878f778f4226"/>
    <p:sldLayoutId xmlns:r="http://schemas.openxmlformats.org/officeDocument/2006/relationships" id="2147483652" r:id="Rc07499308e644e86"/>
    <p:sldLayoutId xmlns:r="http://schemas.openxmlformats.org/officeDocument/2006/relationships" id="2147483653" r:id="R1b4c956096a44ac7"/>
    <p:sldLayoutId xmlns:r="http://schemas.openxmlformats.org/officeDocument/2006/relationships" id="2147483654" r:id="Rff2e02f63cd3472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659246f7e54e5a" /><Relationship Type="http://schemas.openxmlformats.org/officeDocument/2006/relationships/notesSlide" Target="/ppt/notesSlides/notesSlide1.xml" Id="R5652c550909845b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5ef514fcd14639" /><Relationship Type="http://schemas.openxmlformats.org/officeDocument/2006/relationships/notesSlide" Target="/ppt/notesSlides/notesSlide2.xml" Id="Rb8e9b306a90341d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e1af115b31416c" /><Relationship Type="http://schemas.openxmlformats.org/officeDocument/2006/relationships/notesSlide" Target="/ppt/notesSlides/notesSlide3.xml" Id="R0f03dcda177746c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fcd3ed5ba7488a" /><Relationship Type="http://schemas.openxmlformats.org/officeDocument/2006/relationships/notesSlide" Target="/ppt/notesSlides/notesSlide4.xml" Id="R499e435713a04c6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795512840a4b07" /><Relationship Type="http://schemas.openxmlformats.org/officeDocument/2006/relationships/notesSlide" Target="/ppt/notesSlides/notesSlide5.xml" Id="R91aad37d75c14fd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d41e24319b4e85" /><Relationship Type="http://schemas.openxmlformats.org/officeDocument/2006/relationships/notesSlide" Target="/ppt/notesSlides/notesSlide6.xml" Id="R2e073a0cd9cc4a9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34152fb17d485e" /><Relationship Type="http://schemas.openxmlformats.org/officeDocument/2006/relationships/notesSlide" Target="/ppt/notesSlides/notesSlide7.xml" Id="Rfbd2f63b5c0246d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a1a9e69dda47f8" /><Relationship Type="http://schemas.openxmlformats.org/officeDocument/2006/relationships/notesSlide" Target="/ppt/notesSlides/notesSlide8.xml" Id="R615ad18119af4d0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6be5cda16e47bc" /><Relationship Type="http://schemas.openxmlformats.org/officeDocument/2006/relationships/notesSlide" Target="/ppt/notesSlides/notesSlide9.xml" Id="Rb72ff53a527b4c5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de85941e85440a" /><Relationship Type="http://schemas.openxmlformats.org/officeDocument/2006/relationships/notesSlide" Target="/ppt/notesSlides/notesSlide10.xml" Id="Rda0c5f0b93d04f7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6dc5fc95584eaf" /><Relationship Type="http://schemas.openxmlformats.org/officeDocument/2006/relationships/notesSlide" Target="/ppt/notesSlides/notesSlide11.xml" Id="R41c6f268a4104c1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4bbc84112646f7" /><Relationship Type="http://schemas.openxmlformats.org/officeDocument/2006/relationships/notesSlide" Target="/ppt/notesSlides/notesSlide12.xml" Id="Rdc96932c8b8e49d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9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CA49AC-832B-44DF-9A3A-675481649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9BA"/>
          </a:solidFill>
          <a:ln xmlns:a="http://schemas.openxmlformats.org/drawingml/2006/main" w="0">
            <a:solidFill>
              <a:srgbClr val="31C9B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BE8FA1-8D1F-4256-8B28-2129E4F39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763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GLOBAL AUTONOMOUS DRIVING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E90AE5-977D-4F26-BA16-20449054B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28750"/>
            <a:ext cx="1028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397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97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97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AUTONOMOUS DRIVING</a:t>
            </a:r>
          </a:p>
          <a:p xmlns:a="http://schemas.openxmlformats.org/drawingml/2006/main">
            <a:pPr>
              <a:defRPr sz="397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97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DAILY REPORT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47DE64-4281-42E1-B019-CA7E36CD2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90900"/>
            <a:ext cx="1047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325" b="1">
                <a:solidFill>
                  <a:srgbClr val="D8E5EE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D8E5E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D8E5EE"/>
                </a:solidFill>
                <a:latin typeface="Bitstream Charter"/>
                <a:ea typeface="Bitstream Charter"/>
                <a:cs typeface="Bitstream Charter"/>
              </a:rPr>
              <a:t>US grants five-year L4 trucking exemption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9A1335-0983-4640-A1B7-0FE675BF7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76900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46"/>
          </a:bodyPr>
          <a:lstStyle xmlns:a="http://schemas.openxmlformats.org/drawingml/2006/main">
            <a:defPPr>
              <a:defRPr sz="1425" b="0">
                <a:solidFill>
                  <a:srgbClr val="AAB7C8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AAB7C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AAB7C8"/>
                </a:solidFill>
                <a:latin typeface="Bitstream Charter"/>
                <a:ea typeface="Bitstream Charter"/>
                <a:cs typeface="Bitstream Charter"/>
              </a:rPr>
              <a:t>2026-10-09</a:t>
            </a:r>
          </a:p>
        </p:txBody>
      </p:sp>
    </p:spTree>
    <p:extLst>
      <p:ext uri="{BB962C8B-B14F-4D97-AF65-F5344CB8AC3E}">
        <p14:creationId xmlns:p14="http://schemas.microsoft.com/office/powerpoint/2010/main" val="16528895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BE5333-4DF2-4250-B474-2D0DB894A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GLOBAL AUTONOMOUS DRIVING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227161-4A27-4C15-A55D-C7F091BE2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39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5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Five-year exemption for L4 trucks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00F916-C93B-46AE-81DD-80F8E4D19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39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9BA"/>
          </a:solidFill>
          <a:ln xmlns:a="http://schemas.openxmlformats.org/drawingml/2006/main" w="0">
            <a:solidFill>
              <a:srgbClr val="31C9B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8F0D1B-F516-452F-9CE4-7541C374B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NEW / PREVIOUSLY UNREPORTED: FEDERAL RULE RELIEF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3AD9A1-6949-4EA2-8F12-D6BA0D57B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3714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36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2026–31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94C187-EBA1-457B-9541-B753C7159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3714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effective October 7, 2026 through October 7, 2031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0714A7-10B1-4AD6-9AE9-CA0649D2F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65722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• Aurora and notified L4 carriers may use cab-mounted warning beacons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• The beacons replace driver-placed warning triangles during stops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• Use is limited to the vehicle's validated operational design domain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• This does not authorize new routes or unrestricted nationwide operation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857F69-7AFD-49C6-BF57-F62328BE1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39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>
            <a:defPPr>
              <a:def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rPr>
              <a:t>2026-10-09   DAILY REPORT   2</a:t>
            </a:r>
          </a:p>
        </p:txBody>
      </p:sp>
    </p:spTree>
    <p:extLst>
      <p:ext uri="{BB962C8B-B14F-4D97-AF65-F5344CB8AC3E}">
        <p14:creationId xmlns:p14="http://schemas.microsoft.com/office/powerpoint/2010/main" val="14774145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9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7721C5-13B1-43C2-A78F-C7E3042B9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9BA"/>
          </a:solidFill>
          <a:ln xmlns:a="http://schemas.openxmlformats.org/drawingml/2006/main" w="0">
            <a:solidFill>
              <a:srgbClr val="31C9B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D36974-D4E1-4169-B4D3-A61769900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0858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DAILY REPORT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812DE7-5213-443C-B850-FFF2A38B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33600"/>
            <a:ext cx="1028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36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Operational safeguards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E1DB49-79A7-4A1C-9A23-54019E04F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766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875" b="0">
                <a:solidFill>
                  <a:srgbClr val="D8E5EE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D8E5E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D8E5EE"/>
                </a:solidFill>
                <a:latin typeface="Bitstream Charter"/>
                <a:ea typeface="Bitstream Charter"/>
                <a:cs typeface="Bitstream Charter"/>
              </a:rPr>
              <a:t>A regulatory pathway for driverless roadside stops</a:t>
            </a:r>
          </a:p>
        </p:txBody>
      </p:sp>
    </p:spTree>
    <p:extLst>
      <p:ext uri="{BB962C8B-B14F-4D97-AF65-F5344CB8AC3E}">
        <p14:creationId xmlns:p14="http://schemas.microsoft.com/office/powerpoint/2010/main" val="1520510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36CDA2-32C6-4207-9E7E-59163323B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GLOBAL AUTONOMOUS DRIVING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7C0E0D-5BD5-4CE9-BE2F-D42445B32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39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5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Conditions attached to the exemption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B2842D-4F36-4B67-AC27-9A822C91E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39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9BA"/>
          </a:solidFill>
          <a:ln xmlns:a="http://schemas.openxmlformats.org/drawingml/2006/main" w="0">
            <a:solidFill>
              <a:srgbClr val="31C9B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C624CC-9026-4111-9677-3283B1978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REGULATION AND SAFETY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62E3ED-D7E5-4615-A27C-81ABC8E3E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3714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36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500K+ mi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AE154C-0202-4538-BF98-8212E0835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3714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Aurora waiver data across 34 trucks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2F970D-6C86-46B5-80D9-226C06AF5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65722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• Beacon activation is required within five minutes of an eligible stop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• SAE J595 Class 1 performance and redundant power are mandatory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• Crashes must be reported within five days; annual reports are required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• Passenger and hazardous-material transport are excluded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AD2214-7CBC-4E6D-B6F7-F473E0ADD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39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>
            <a:defPPr>
              <a:def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rPr>
              <a:t>2026-10-09   DAILY REPORT   4</a:t>
            </a:r>
          </a:p>
        </p:txBody>
      </p:sp>
    </p:spTree>
    <p:extLst>
      <p:ext uri="{BB962C8B-B14F-4D97-AF65-F5344CB8AC3E}">
        <p14:creationId xmlns:p14="http://schemas.microsoft.com/office/powerpoint/2010/main" val="9726233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9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60C49C-5D5C-41ED-8200-52323CA7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9BA"/>
          </a:solidFill>
          <a:ln xmlns:a="http://schemas.openxmlformats.org/drawingml/2006/main" w="0">
            <a:solidFill>
              <a:srgbClr val="31C9B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A0E249-0D00-40BF-946E-0858F6A57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0858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DAILY REPORT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6FD22D-E53B-47FF-8892-E4E26E68C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33600"/>
            <a:ext cx="1028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36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New market entries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D7F9B2-E917-4682-BA2F-44EF20FF8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766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875" b="0">
                <a:solidFill>
                  <a:srgbClr val="D8E5EE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D8E5E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D8E5EE"/>
                </a:solidFill>
                <a:latin typeface="Bitstream Charter"/>
                <a:ea typeface="Bitstream Charter"/>
                <a:cs typeface="Bitstream Charter"/>
              </a:rPr>
              <a:t>Public access expands while driver-out status remains bounded</a:t>
            </a:r>
          </a:p>
        </p:txBody>
      </p:sp>
    </p:spTree>
    <p:extLst>
      <p:ext uri="{BB962C8B-B14F-4D97-AF65-F5344CB8AC3E}">
        <p14:creationId xmlns:p14="http://schemas.microsoft.com/office/powerpoint/2010/main" val="17805613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CD156A-30E4-4B86-BD9A-1E1E6C49C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GLOBAL AUTONOMOUS DRIVING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F4C65F-9314-4D9E-89EB-96E59CF4E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39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5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Uber and Pony.ai add London testing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B499BF-8F2B-4C73-BCD3-731A6D59D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39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9BA"/>
          </a:solidFill>
          <a:ln xmlns:a="http://schemas.openxmlformats.org/drawingml/2006/main" w="0">
            <a:solidFill>
              <a:srgbClr val="31C9B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FBA5F5-D875-4061-ABC2-7A07FBE16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NEW: TESTING PLAN, NOT A SERVICE LAUNCH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8CF262-CB47-4642-B9EB-FD60B1CCB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3714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3600" b="1">
                <a:solidFill>
                  <a:srgbClr val="D9933D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D993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D9933D"/>
                </a:solidFill>
                <a:latin typeface="Bitstream Charter"/>
                <a:ea typeface="Bitstream Charter"/>
                <a:cs typeface="Bitstream Charter"/>
              </a:rPr>
              <a:t>Gen-7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0D8360-150E-490A-9617-6DD556305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3714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Pony.ai vehicles planned for tests within weeks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FC0EF9-DF40-46D9-8104-DF8FF8DFE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65722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• The announcement extends Uber and Pony.ai's European partnership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• No London fleet size or passenger-service date was disclosed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• Fleet ownership and daily operating responsibility remain undisclosed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• Onboard safety-operator and driver-out permit status were not specified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205972-7666-4436-A628-B2ECFFBCC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39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>
            <a:defPPr>
              <a:def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rPr>
              <a:t>2026-10-09   DAILY REPORT   6</a:t>
            </a:r>
          </a:p>
        </p:txBody>
      </p:sp>
    </p:spTree>
    <p:extLst>
      <p:ext uri="{BB962C8B-B14F-4D97-AF65-F5344CB8AC3E}">
        <p14:creationId xmlns:p14="http://schemas.microsoft.com/office/powerpoint/2010/main" val="15280844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98C399-3F40-42AF-B887-E9D4C7961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GLOBAL AUTONOMOUS DRIVING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45D9F1-D8D3-4213-996E-6E965E36D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39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5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XPENG YOYO opens external registration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55FCFB-C07B-4D1C-A22A-B84269101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39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9BA"/>
          </a:solidFill>
          <a:ln xmlns:a="http://schemas.openxmlformats.org/drawingml/2006/main" w="0">
            <a:solidFill>
              <a:srgbClr val="31C9B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92D1D3-3E7C-44A6-9474-4E40B3F0C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NEW: INVITATION-BASED PUBLIC ACCESS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B50581-FC66-4011-ADAE-01587EC1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3714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36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0 driver-seat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D322BC-D98F-425D-962B-FDBFF15AA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3714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safety operator allowed under Guangzhou remote-test qualification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72D3CE-486F-4300-A8AE-1163A787A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65722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• External users can register online using invitation codes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• XPENG previously tested payment and service flow with employees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• The company reports a mapless, lidar-free stack using four Turing chips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• Public fleet size and commercial driver-out service status remain undisclosed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6EF482-06BC-433D-AF26-F81A502D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39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>
            <a:defPPr>
              <a:def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rPr>
              <a:t>2026-10-09   DAILY REPORT   7</a:t>
            </a:r>
          </a:p>
        </p:txBody>
      </p:sp>
    </p:spTree>
    <p:extLst>
      <p:ext uri="{BB962C8B-B14F-4D97-AF65-F5344CB8AC3E}">
        <p14:creationId xmlns:p14="http://schemas.microsoft.com/office/powerpoint/2010/main" val="15030263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9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D0B6B3-D1BC-498A-9B2C-2C608010D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9BA"/>
          </a:solidFill>
          <a:ln xmlns:a="http://schemas.openxmlformats.org/drawingml/2006/main" w="0">
            <a:solidFill>
              <a:srgbClr val="31C9B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E4FB05-726F-4F12-BD3F-F423192C6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0858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DAILY REPORT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7A4016-D17B-4C85-B11E-08F5DA5E2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33600"/>
            <a:ext cx="1028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36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Funding for expansion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1991D2-B73A-4052-8DAF-FBEDB7722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766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875" b="0">
                <a:solidFill>
                  <a:srgbClr val="D8E5EE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D8E5E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D8E5EE"/>
                </a:solidFill>
                <a:latin typeface="Bitstream Charter"/>
                <a:ea typeface="Bitstream Charter"/>
                <a:cs typeface="Bitstream Charter"/>
              </a:rPr>
              <a:t>Commercial-scale autonomy gains a new source of capital</a:t>
            </a:r>
          </a:p>
        </p:txBody>
      </p:sp>
    </p:spTree>
    <p:extLst>
      <p:ext uri="{BB962C8B-B14F-4D97-AF65-F5344CB8AC3E}">
        <p14:creationId xmlns:p14="http://schemas.microsoft.com/office/powerpoint/2010/main" val="107814387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D647C9-544E-466D-9EB6-8D2B7BFCB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GLOBAL AUTONOMOUS DRIVING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72474F-39F7-409A-932D-D62ED3F69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39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5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Waymo closes its first debt financing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3E1814-3518-4CEE-B5A9-80806289F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39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9BA"/>
          </a:solidFill>
          <a:ln xmlns:a="http://schemas.openxmlformats.org/drawingml/2006/main" w="0">
            <a:solidFill>
              <a:srgbClr val="31C9B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364957-EE58-4283-8B07-778751708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NEW: FINANCING COMPLETED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F70D3A-B7A4-4892-A3CE-0DB089E04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3714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36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$5B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F7D75A-0AB7-4E22-AA37-A50CA29F9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3714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term loan closed on October 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AAEC53-081A-478B-B75F-455548C1B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65722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• PIMCO, Blackstone and Sixth Street led the syndicated lenders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• Goldman Sachs served as sole lead bookrunner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• Waymo says the funds support U.S. and international expansion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• The announcement contains no new fleet size or city-launch commitment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88CE05-AC60-4972-BCF1-4049EB735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39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>
            <a:defPPr>
              <a:def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rPr>
              <a:t>2026-10-09   DAILY REPORT   9</a:t>
            </a:r>
          </a:p>
        </p:txBody>
      </p:sp>
    </p:spTree>
    <p:extLst>
      <p:ext uri="{BB962C8B-B14F-4D97-AF65-F5344CB8AC3E}">
        <p14:creationId xmlns:p14="http://schemas.microsoft.com/office/powerpoint/2010/main" val="131059371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9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7E4306-1219-43AD-8788-E96F4F402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9BA"/>
          </a:solidFill>
          <a:ln xmlns:a="http://schemas.openxmlformats.org/drawingml/2006/main" w="0">
            <a:solidFill>
              <a:srgbClr val="31C9B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B6E920-1ECA-4F3A-9A4F-B7BB6DCF3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0858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DAILY REPORT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2A1F99-0D00-4B26-B620-745A0BECF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33600"/>
            <a:ext cx="1028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36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Daily L4 watchlist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C0FAF5-1411-486B-A8EE-81BF2A92A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766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875" b="0">
                <a:solidFill>
                  <a:srgbClr val="D8E5EE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D8E5E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D8E5EE"/>
                </a:solidFill>
                <a:latin typeface="Bitstream Charter"/>
                <a:ea typeface="Bitstream Charter"/>
                <a:cs typeface="Bitstream Charter"/>
              </a:rPr>
              <a:t>Confirmed operating, permit and execution changes only</a:t>
            </a:r>
          </a:p>
        </p:txBody>
      </p:sp>
    </p:spTree>
    <p:extLst>
      <p:ext uri="{BB962C8B-B14F-4D97-AF65-F5344CB8AC3E}">
        <p14:creationId xmlns:p14="http://schemas.microsoft.com/office/powerpoint/2010/main" val="119540904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8F1E9C-968A-42B7-96F4-FF13C84D8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GLOBAL AUTONOMOUS DRIVING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2856F1-FBD7-4EFD-8B49-B990632BE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39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5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Six-company L4 status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2CD280-6271-45EC-91ED-A52190D7F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39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9BA"/>
          </a:solidFill>
          <a:ln xmlns:a="http://schemas.openxmlformats.org/drawingml/2006/main" w="0">
            <a:solidFill>
              <a:srgbClr val="31C9B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311C20-B442-423B-9F5A-6C00B9098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ONE NEW UPDATE ACROSS THE WATCHLIST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BBEE4D-E1DF-4EAD-8C5E-8E1E54409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3714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36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1 / 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23478F-5201-4B34-8EF1-F13799A68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3714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Uber has a new testing plan; five firms are unchanged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3E7E2E-7C05-4419-8FF4-1975FA909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65722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• Uber: Pony.ai Gen-7 London testing planned within weeks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• Avride and Bolt: no new driver-out, permit, ODD or fleet change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• Mobileye: no new test launch or commercial execution change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• Kakao Mobility and Socar: no new L4 service or safety-operator change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B6482E-9545-49BD-BDB9-38B84B918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39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>
            <a:defPPr>
              <a:def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rPr>
              <a:t>2026-10-09   DAILY REPORT   11</a:t>
            </a:r>
          </a:p>
        </p:txBody>
      </p:sp>
    </p:spTree>
    <p:extLst>
      <p:ext uri="{BB962C8B-B14F-4D97-AF65-F5344CB8AC3E}">
        <p14:creationId xmlns:p14="http://schemas.microsoft.com/office/powerpoint/2010/main" val="18010471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CA3BA5-EBD2-4AA9-A4A2-73E8F4481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GLOBAL AUTONOMOUS DRIVING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AE7DBA-A206-40A6-9B64-E06F41986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39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5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May Mobility operating status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FC91A0-2126-49F1-86CD-EEF7DA5B4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39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9BA"/>
          </a:solidFill>
          <a:ln xmlns:a="http://schemas.openxmlformats.org/drawingml/2006/main" w="0">
            <a:solidFill>
              <a:srgbClr val="31C9B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CD1695-711E-4919-B7EB-36CC8155C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DUPLICATE: NO NEW CONFIRMATION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69F8C7-D52A-4306-859B-A0F41EF44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3714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36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550K+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D6EE23-FA10-49B2-ACAC-E0D3DC263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3714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commercial rides claimed cumulatively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124A2B-FFA6-4C76-920F-A3B4D7A7E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65722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• Commercial U.S. locations remain Atlanta, Grand Rapids and Eden Prairie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• Atlanta launched with an onboard safety operator; no removal update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• Arlington with Uber remains a target, not a confirmed launch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• No new driver-out site, SPAC closing or Hyundai tie was confirmed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5A7391-7EE2-4087-9C52-7ED936A9B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39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>
            <a:defPPr>
              <a:def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rPr>
              <a:t>2026-10-09   DAILY REPORT   12</a:t>
            </a:r>
          </a:p>
        </p:txBody>
      </p:sp>
    </p:spTree>
    <p:extLst>
      <p:ext uri="{BB962C8B-B14F-4D97-AF65-F5344CB8AC3E}">
        <p14:creationId xmlns:p14="http://schemas.microsoft.com/office/powerpoint/2010/main" val="8838635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2026-10-08T22:28:37.9300000Z</dcterms:created>
  <dcterms:modified xsi:type="dcterms:W3CDTF">2026-10-08T22:28:37.9300000Z</dcterms:modified>
</coreProperties>
</file>