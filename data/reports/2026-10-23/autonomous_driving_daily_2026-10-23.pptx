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5542e046254f7b" /><Relationship Type="http://schemas.openxmlformats.org/officeDocument/2006/relationships/extended-properties" Target="/docProps/app.xml" Id="R4911c1e217144a37" /><Relationship Type="http://schemas.openxmlformats.org/officeDocument/2006/relationships/officeDocument" Target="/ppt/presentation.xml" Id="Raa6fc55dfed84c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baa39e998d46aa"/>
  </p:sldMasterIdLst>
  <p:notesMasterIdLst>
    <p:notesMasterId xmlns:r="http://schemas.openxmlformats.org/officeDocument/2006/relationships" r:id="Rc6af261341734ed7"/>
  </p:notesMasterIdLst>
  <p:sldIdLst>
    <p:sldId xmlns:r="http://schemas.openxmlformats.org/officeDocument/2006/relationships" id="256" r:id="R2ad8cb0119204aeb"/>
    <p:sldId xmlns:r="http://schemas.openxmlformats.org/officeDocument/2006/relationships" id="257" r:id="R3c4c68898347478c"/>
    <p:sldId xmlns:r="http://schemas.openxmlformats.org/officeDocument/2006/relationships" id="258" r:id="Rfede75404cf542c2"/>
    <p:sldId xmlns:r="http://schemas.openxmlformats.org/officeDocument/2006/relationships" id="259" r:id="Ra34b3cba0bd544c8"/>
    <p:sldId xmlns:r="http://schemas.openxmlformats.org/officeDocument/2006/relationships" id="260" r:id="R3e6d170418f44631"/>
    <p:sldId xmlns:r="http://schemas.openxmlformats.org/officeDocument/2006/relationships" id="261" r:id="R3261978c136e4a97"/>
    <p:sldId xmlns:r="http://schemas.openxmlformats.org/officeDocument/2006/relationships" id="262" r:id="R9709404acb814ce5"/>
    <p:sldId xmlns:r="http://schemas.openxmlformats.org/officeDocument/2006/relationships" id="263" r:id="R6372e99617514fb4"/>
    <p:sldId xmlns:r="http://schemas.openxmlformats.org/officeDocument/2006/relationships" id="264" r:id="R4ef2f72fb58846ed"/>
    <p:sldId xmlns:r="http://schemas.openxmlformats.org/officeDocument/2006/relationships" id="265" r:id="Re1d9cecd4a19456d"/>
    <p:sldId xmlns:r="http://schemas.openxmlformats.org/officeDocument/2006/relationships" id="266" r:id="Raacde7b492a54dd9"/>
    <p:sldId xmlns:r="http://schemas.openxmlformats.org/officeDocument/2006/relationships" id="267" r:id="R7e3c93415c71492d"/>
    <p:sldId xmlns:r="http://schemas.openxmlformats.org/officeDocument/2006/relationships" id="268" r:id="Rffe3a930bd144f23"/>
    <p:sldId xmlns:r="http://schemas.openxmlformats.org/officeDocument/2006/relationships" id="269" r:id="Rc21e046303404c1a"/>
  </p:sldIdLst>
  <p:sldSz cx="9334500" cy="5248275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b847df97c44e30" /><Relationship Type="http://schemas.openxmlformats.org/officeDocument/2006/relationships/slideMaster" Target="/ppt/slideMasters/slideMaster1.xml" Id="R9dbaa39e998d46aa" /><Relationship Type="http://schemas.openxmlformats.org/officeDocument/2006/relationships/notesMaster" Target="/ppt/notesMasters/notesMaster1.xml" Id="Rc6af261341734ed7" /><Relationship Type="http://schemas.openxmlformats.org/officeDocument/2006/relationships/presProps" Target="/ppt/presProps.xml" Id="Rfd0fbe9e0a1d4bbf" /><Relationship Type="http://schemas.openxmlformats.org/officeDocument/2006/relationships/viewProps" Target="/ppt/viewProps.xml" Id="Rd61d8fccb9fd4769" /><Relationship Type="http://schemas.openxmlformats.org/officeDocument/2006/relationships/tableStyles" Target="/ppt/tableStyles.xml" Id="Re015539fbeac48a1" /><Relationship Type="http://schemas.openxmlformats.org/officeDocument/2006/relationships/slide" Target="/ppt/slides/slide1.xml" Id="R2ad8cb0119204aeb" /><Relationship Type="http://schemas.openxmlformats.org/officeDocument/2006/relationships/slide" Target="/ppt/slides/slide2.xml" Id="R3c4c68898347478c" /><Relationship Type="http://schemas.openxmlformats.org/officeDocument/2006/relationships/slide" Target="/ppt/slides/slide3.xml" Id="Rfede75404cf542c2" /><Relationship Type="http://schemas.openxmlformats.org/officeDocument/2006/relationships/slide" Target="/ppt/slides/slide4.xml" Id="Ra34b3cba0bd544c8" /><Relationship Type="http://schemas.openxmlformats.org/officeDocument/2006/relationships/slide" Target="/ppt/slides/slide5.xml" Id="R3e6d170418f44631" /><Relationship Type="http://schemas.openxmlformats.org/officeDocument/2006/relationships/slide" Target="/ppt/slides/slide6.xml" Id="R3261978c136e4a97" /><Relationship Type="http://schemas.openxmlformats.org/officeDocument/2006/relationships/slide" Target="/ppt/slides/slide7.xml" Id="R9709404acb814ce5" /><Relationship Type="http://schemas.openxmlformats.org/officeDocument/2006/relationships/slide" Target="/ppt/slides/slide8.xml" Id="R6372e99617514fb4" /><Relationship Type="http://schemas.openxmlformats.org/officeDocument/2006/relationships/slide" Target="/ppt/slides/slide9.xml" Id="R4ef2f72fb58846ed" /><Relationship Type="http://schemas.openxmlformats.org/officeDocument/2006/relationships/slide" Target="/ppt/slides/slide10.xml" Id="Re1d9cecd4a19456d" /><Relationship Type="http://schemas.openxmlformats.org/officeDocument/2006/relationships/slide" Target="/ppt/slides/slide11.xml" Id="Raacde7b492a54dd9" /><Relationship Type="http://schemas.openxmlformats.org/officeDocument/2006/relationships/slide" Target="/ppt/slides/slide12.xml" Id="R7e3c93415c71492d" /><Relationship Type="http://schemas.openxmlformats.org/officeDocument/2006/relationships/slide" Target="/ppt/slides/slide13.xml" Id="Rffe3a930bd144f23" /><Relationship Type="http://schemas.openxmlformats.org/officeDocument/2006/relationships/slide" Target="/ppt/slides/slide14.xml" Id="Rc21e046303404c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958d30bafd4a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50aed8b7104740" /><Relationship Type="http://schemas.openxmlformats.org/officeDocument/2006/relationships/notesMaster" Target="/ppt/notesMasters/notesMaster1.xml" Id="R691e5976a3554f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425be8087a442d" /><Relationship Type="http://schemas.openxmlformats.org/officeDocument/2006/relationships/notesMaster" Target="/ppt/notesMasters/notesMaster1.xml" Id="R3a2a24de3df44a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7c266ad9d541e6" /><Relationship Type="http://schemas.openxmlformats.org/officeDocument/2006/relationships/notesMaster" Target="/ppt/notesMasters/notesMaster1.xml" Id="Re0d0637fc95049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03c54d961346e6" /><Relationship Type="http://schemas.openxmlformats.org/officeDocument/2006/relationships/notesMaster" Target="/ppt/notesMasters/notesMaster1.xml" Id="Rb77b55e79fec47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d4249ff72746e8" /><Relationship Type="http://schemas.openxmlformats.org/officeDocument/2006/relationships/notesMaster" Target="/ppt/notesMasters/notesMaster1.xml" Id="R6e322272e37c40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58f89d4e7d4a96" /><Relationship Type="http://schemas.openxmlformats.org/officeDocument/2006/relationships/notesMaster" Target="/ppt/notesMasters/notesMaster1.xml" Id="Read7860d01604c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900597e5e14fd1" /><Relationship Type="http://schemas.openxmlformats.org/officeDocument/2006/relationships/notesMaster" Target="/ppt/notesMasters/notesMaster1.xml" Id="R3392272a4ff94b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31699a798f4c2b" /><Relationship Type="http://schemas.openxmlformats.org/officeDocument/2006/relationships/notesMaster" Target="/ppt/notesMasters/notesMaster1.xml" Id="Re715a1c5894a40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8eb6644ac7462f" /><Relationship Type="http://schemas.openxmlformats.org/officeDocument/2006/relationships/notesMaster" Target="/ppt/notesMasters/notesMaster1.xml" Id="Rfb888129a16448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48eb7d62fc43c7" /><Relationship Type="http://schemas.openxmlformats.org/officeDocument/2006/relationships/notesMaster" Target="/ppt/notesMasters/notesMaster1.xml" Id="R475bdda0c2cb46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cdada50b9f4fa7" /><Relationship Type="http://schemas.openxmlformats.org/officeDocument/2006/relationships/notesMaster" Target="/ppt/notesMasters/notesMaster1.xml" Id="R1b7c11cf7bc644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3437cfa84a45d6" /><Relationship Type="http://schemas.openxmlformats.org/officeDocument/2006/relationships/notesMaster" Target="/ppt/notesMasters/notesMaster1.xml" Id="Re2acb18e51d846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d7a0c768cd412e" /><Relationship Type="http://schemas.openxmlformats.org/officeDocument/2006/relationships/notesMaster" Target="/ppt/notesMasters/notesMaster1.xml" Id="R0436f808649448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d2e7f8bd4bf4508" /><Relationship Type="http://schemas.openxmlformats.org/officeDocument/2006/relationships/notesMaster" Target="/ppt/notesMasters/notesMaster1.xml" Id="R5bd3aaa93c6541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[R3] The Verge, Tesla says customers can add their own vehicles to the robotaxi fleet next year, 2026-10-22: https://www.theverge.com/transportation/1016118/tesla-robotaxi-customer-owned-vehicle-fleet-network-q3-2026-earnings</a:t>
            </a:r>
          </a:p>
          <a:p xmlns:a="http://schemas.openxmlformats.org/drawingml/2006/main">
            <a:r>
              <a:t>[R20] May Mobility, May Mobility and NTT Mobility to Launch First Public Rides on Autonomous e-Palette, 2026-09-03: https://maymobility.com/posts/may-mobility-and-ntt-mobility-to-launch-first-public-rides-on-autonomous-e-palette/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[R3] The Verge, Tesla says customers can add their own vehicles to the robotaxi fleet next year, 2026-10-22: https://www.theverge.com/transportation/1016118/tesla-robotaxi-customer-owned-vehicle-fleet-network-q3-2026-earnings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[R4] Tesla Investor Relations, Tesla Releases Third Quarter 2026 Financial Results, 2026-10-21: https://ir.tesla.com/press-release/tesla-releases-third-quarter-2026-financial-results</a:t>
            </a:r>
          </a:p>
          <a:p xmlns:a="http://schemas.openxmlformats.org/drawingml/2006/main">
            <a:r>
              <a:t>[R6] Einride, Einride Deepens Collaboration with NVIDIA: Adopts NVIDIA Alpamayo for Autonomous Trucks, 2026-10-21: https://www.einride.tech/press/3385407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[R8] Uber, Autonomous Articles, 2026-10-23 확인: https://www.uber.com/us/en/newsroom/autonomous/</a:t>
            </a:r>
          </a:p>
          <a:p xmlns:a="http://schemas.openxmlformats.org/drawingml/2006/main">
            <a:r>
              <a:t>[R9] Avride, 공식 홈페이지, 2026-10-23 확인: https://www.avride.ai/</a:t>
            </a:r>
          </a:p>
          <a:p xmlns:a="http://schemas.openxmlformats.org/drawingml/2006/main">
            <a:r>
              <a:t>[R10] Bolt, Press Releases, 2026-10-23 확인: https://bolt.eu/en/blog/category/press-releases/</a:t>
            </a:r>
          </a:p>
          <a:p xmlns:a="http://schemas.openxmlformats.org/drawingml/2006/main">
            <a:r>
              <a:t>[R11] Mobileye, News Releases, 2026-10-23 확인: https://ir.mobileye.com/news-events/news-releases</a:t>
            </a:r>
          </a:p>
          <a:p xmlns:a="http://schemas.openxmlformats.org/drawingml/2006/main">
            <a:r>
              <a:t>[R12] 카카오모빌리티, 뉴스룸, 2026-10-23 확인: https://www.kakaomobility.com/newsroom/news</a:t>
            </a:r>
          </a:p>
          <a:p xmlns:a="http://schemas.openxmlformats.org/drawingml/2006/main">
            <a:r>
              <a:t>[R13] 쏘카, 공식 블로그, 2026-10-23 확인: https://www.socarcorp.kr/blog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[R15] May Mobility·SEC, Business combination announcement, Exhibit 99.1, 2026-09-16: https://www.sec.gov/Archives/edgar/data/2111542/000121390026100367/ea030470201ex99-1.htm</a:t>
            </a:r>
          </a:p>
          <a:p xmlns:a="http://schemas.openxmlformats.org/drawingml/2006/main">
            <a:r>
              <a:t>[R16] NTT Mobility, 나고야 자율주행·온디맨드 실증 개시, 2026-08-12: https://www.ntt-mobility.com/news/20260812/newsrelease-260812/</a:t>
            </a:r>
          </a:p>
          <a:p xmlns:a="http://schemas.openxmlformats.org/drawingml/2006/main">
            <a:r>
              <a:t>[R20] May Mobility, May Mobility and NTT Mobility to Launch First Public Rides on Autonomous e-Palette, 2026-09-03: https://maymobility.com/posts/may-mobility-and-ntt-mobility-to-launch-first-public-rides-on-autonomous-e-palette/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[R16] NTT Mobility, 나고야 자율주행·온디맨드 실증 개시, 2026-08-12: https://www.ntt-mobility.com/news/20260812/newsrelease-260812/</a:t>
            </a:r>
          </a:p>
          <a:p xmlns:a="http://schemas.openxmlformats.org/drawingml/2006/main">
            <a:r>
              <a:t>[R17] May Mobility, First Responder Interaction Protocol: Atlanta, 게시일 미표기·2026-10-23 확인: https://maymobility.com/first-responders/frip-atlanta-georgia</a:t>
            </a:r>
          </a:p>
          <a:p xmlns:a="http://schemas.openxmlformats.org/drawingml/2006/main">
            <a:r>
              <a:t>[R18] May Mobility, May Mobility launches New AV Architecture, 2026-05-20: https://maymobility.com/posts/may-mobility-launches-new-av-architecture/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[R15] May Mobility·SEC, Business combination announcement, Exhibit 99.1, 2026-09-16: https://www.sec.gov/Archives/edgar/data/2111542/000121390026100367/ea030470201ex99-1.htm</a:t>
            </a:r>
          </a:p>
          <a:p xmlns:a="http://schemas.openxmlformats.org/drawingml/2006/main">
            <a:r>
              <a:t>[R19] May Mobility·SEC, Investor presentation, Exhibit 99.2, 2026-09-16: https://www.sec.gov/Archives/edgar/data/2111542/000121390026100367/ea030470201ex99-2.htm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[R1] Reuters, Tesla aims to sell Cybercab robotaxis by end of year despite federal probe, 2026-10-22: https://www.reuters.com/business/autos-transportation/tesla-aims-sell-cybercab-robotaxis-by-end-year-despite-federal-probe-2026-10-22/</a:t>
            </a:r>
          </a:p>
          <a:p xmlns:a="http://schemas.openxmlformats.org/drawingml/2006/main">
            <a:r>
              <a:t>[R6] Einride, Einride Deepens Collaboration with NVIDIA: Adopts NVIDIA Alpamayo for Autonomous Trucks, 2026-10-21: https://www.einride.tech/press/3385407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[R3] The Verge, Tesla says customers can add their own vehicles to the robotaxi fleet next year, 2026-10-22: https://www.theverge.com/transportation/1016118/tesla-robotaxi-customer-owned-vehicle-fleet-network-q3-2026-earnings</a:t>
            </a:r>
          </a:p>
          <a:p xmlns:a="http://schemas.openxmlformats.org/drawingml/2006/main">
            <a:r>
              <a:t>[R6] Einride, Einride Deepens Collaboration with NVIDIA: Adopts NVIDIA Alpamayo for Autonomous Trucks, 2026-10-21: https://www.einride.tech/press/3385407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[R1] Reuters, Tesla aims to sell Cybercab robotaxis by end of year despite federal probe, 2026-10-22: https://www.reuters.com/business/autos-transportation/tesla-aims-sell-cybercab-robotaxis-by-end-year-despite-federal-probe-2026-10-22/</a:t>
            </a:r>
          </a:p>
          <a:p xmlns:a="http://schemas.openxmlformats.org/drawingml/2006/main">
            <a:r>
              <a:t>[R2] EarningsCalls.dev, Tesla Q3 2026 Earnings Call Transcript, 2026-10-21: https://earningscalls.dev/transcripts/tesla-inc_tsla_earnings_call_transcript_2026-10-21</a:t>
            </a:r>
          </a:p>
          <a:p xmlns:a="http://schemas.openxmlformats.org/drawingml/2006/main">
            <a:r>
              <a:t>[R3] The Verge, Tesla says customers can add their own vehicles to the robotaxi fleet next year, 2026-10-22: https://www.theverge.com/transportation/1016118/tesla-robotaxi-customer-owned-vehicle-fleet-network-q3-2026-earnings</a:t>
            </a:r>
          </a:p>
          <a:p xmlns:a="http://schemas.openxmlformats.org/drawingml/2006/main">
            <a:r>
              <a:t>[R4] Tesla Investor Relations, Tesla Releases Third Quarter 2026 Financial Results, 2026-10-21: https://ir.tesla.com/press-release/tesla-releases-third-quarter-2026-financial-results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[R5] Reuters, US opens probe into Tesla self-certification of Cybercab robotaxis, 2026-09-04: https://www.reuters.com/business/autos-transportation/us-auto-safety-regulator-opens-probe-into-nearly-1000-tesla-cybercabs-2026-09-04/</a:t>
            </a:r>
          </a:p>
          <a:p xmlns:a="http://schemas.openxmlformats.org/drawingml/2006/main">
            <a:r>
              <a:t>[R6] Einride, Einride Deepens Collaboration with NVIDIA: Adopts NVIDIA Alpamayo for Autonomous Trucks, 2026-10-21: https://www.einride.tech/press/3385407</a:t>
            </a:r>
          </a:p>
          <a:p xmlns:a="http://schemas.openxmlformats.org/drawingml/2006/main">
            <a:r>
              <a:t>[R7] Reuters, Einride expands Nvidia partnership to deploy AI reasoning model for self-driving trucks, 2026-10-21: https://www.reuters.com/business/autos-transportation/einride-expands-nvidia-partnership-deploy-ai-reasoning-model-self-driving-trucks-2026-10-21/</a:t>
            </a:r>
          </a:p>
          <a:p xmlns:a="http://schemas.openxmlformats.org/drawingml/2006/main">
            <a:r>
              <a:t>[R8] Uber, Autonomous Articles, 2026-10-23 확인: https://www.uber.com/us/en/newsroom/autonomous/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[R9] Avride, 공식 홈페이지, 2026-10-23 확인: https://www.avride.ai/</a:t>
            </a:r>
          </a:p>
          <a:p xmlns:a="http://schemas.openxmlformats.org/drawingml/2006/main">
            <a:r>
              <a:t>[R10] Bolt, Press Releases, 2026-10-23 확인: https://bolt.eu/en/blog/category/press-releases/</a:t>
            </a:r>
          </a:p>
          <a:p xmlns:a="http://schemas.openxmlformats.org/drawingml/2006/main">
            <a:r>
              <a:t>[R11] Mobileye, News Releases, 2026-10-23 확인: https://ir.mobileye.com/news-events/news-releases</a:t>
            </a:r>
          </a:p>
          <a:p xmlns:a="http://schemas.openxmlformats.org/drawingml/2006/main">
            <a:r>
              <a:t>[R12] 카카오모빌리티, 뉴스룸, 2026-10-23 확인: https://www.kakaomobility.com/newsroom/news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[R13] 쏘카, 공식 블로그, 2026-10-23 확인: https://www.socarcorp.kr/blog</a:t>
            </a:r>
          </a:p>
          <a:p xmlns:a="http://schemas.openxmlformats.org/drawingml/2006/main">
            <a:r>
              <a:t>[R14] May Mobility, Company News, 2026-10-23 확인: https://maymobility.com/posts/type/company-news</a:t>
            </a:r>
          </a:p>
          <a:p xmlns:a="http://schemas.openxmlformats.org/drawingml/2006/main">
            <a:r>
              <a:t>[R15] May Mobility·SEC, Business combination announcement, Exhibit 99.1, 2026-09-16: https://www.sec.gov/Archives/edgar/data/2111542/000121390026100367/ea030470201ex99-1.htm</a:t>
            </a:r>
          </a:p>
          <a:p xmlns:a="http://schemas.openxmlformats.org/drawingml/2006/main">
            <a:r>
              <a:t>[R16] NTT Mobility, 나고야 자율주행·온디맨드 실증 개시, 2026-08-12: https://www.ntt-mobility.com/news/20260812/newsrelease-260812/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[R17] May Mobility, First Responder Interaction Protocol: Atlanta, 게시일 미표기·2026-10-23 확인: https://maymobility.com/first-responders/frip-atlanta-georgia</a:t>
            </a:r>
          </a:p>
          <a:p xmlns:a="http://schemas.openxmlformats.org/drawingml/2006/main">
            <a:r>
              <a:t>[R18] May Mobility, May Mobility launches New AV Architecture, 2026-05-20: https://maymobility.com/posts/may-mobility-launches-new-av-architecture/</a:t>
            </a:r>
          </a:p>
          <a:p xmlns:a="http://schemas.openxmlformats.org/drawingml/2006/main">
            <a:r>
              <a:t>[R19] May Mobility·SEC, Investor presentation, Exhibit 99.2, 2026-09-16: https://www.sec.gov/Archives/edgar/data/2111542/000121390026100367/ea030470201ex99-2.htm</a:t>
            </a:r>
          </a:p>
          <a:p xmlns:a="http://schemas.openxmlformats.org/drawingml/2006/main">
            <a:r>
              <a:t>[R20] May Mobility, May Mobility and NTT Mobility to Launch First Public Rides on Autonomous e-Palette, 2026-09-03: https://maymobility.com/posts/may-mobility-and-ntt-mobility-to-launch-first-public-rides-on-autonomous-e-palette/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aee579e28b434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f05af49afb45b1" /><Relationship Type="http://schemas.openxmlformats.org/officeDocument/2006/relationships/slideLayout" Target="/ppt/slideLayouts/slideLayout1.xml" Id="R24297d8bb08e48d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297d8bb08e48d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53f3b6d3243db" /><Relationship Type="http://schemas.openxmlformats.org/officeDocument/2006/relationships/notesSlide" Target="/ppt/notesSlides/notesSlide1.xml" Id="R7abf8efb5aff48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4737caafb4a9c" /><Relationship Type="http://schemas.openxmlformats.org/officeDocument/2006/relationships/notesSlide" Target="/ppt/notesSlides/notesSlide2.xml" Id="Rf48e416b992e4b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48f02a8c54d49" /><Relationship Type="http://schemas.openxmlformats.org/officeDocument/2006/relationships/notesSlide" Target="/ppt/notesSlides/notesSlide3.xml" Id="R6d8aefc6d8354b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efc4f858f4e3b" /><Relationship Type="http://schemas.openxmlformats.org/officeDocument/2006/relationships/notesSlide" Target="/ppt/notesSlides/notesSlide4.xml" Id="R17786cc6650a4f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67495cfa64aa8" /><Relationship Type="http://schemas.openxmlformats.org/officeDocument/2006/relationships/notesSlide" Target="/ppt/notesSlides/notesSlide5.xml" Id="R403a7410ab8e4a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44d2c2d0b4f69" /><Relationship Type="http://schemas.openxmlformats.org/officeDocument/2006/relationships/notesSlide" Target="/ppt/notesSlides/notesSlide6.xml" Id="R1ffd0d4df9f64e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9c91d8ed0404a" /><Relationship Type="http://schemas.openxmlformats.org/officeDocument/2006/relationships/notesSlide" Target="/ppt/notesSlides/notesSlide7.xml" Id="R30fcab80315946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50cee4e544e3d" /><Relationship Type="http://schemas.openxmlformats.org/officeDocument/2006/relationships/notesSlide" Target="/ppt/notesSlides/notesSlide8.xml" Id="R8411c949cf0c49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85c37297b48aa" /><Relationship Type="http://schemas.openxmlformats.org/officeDocument/2006/relationships/notesSlide" Target="/ppt/notesSlides/notesSlide9.xml" Id="R59cf00a39bde40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3125fa7374158" /><Relationship Type="http://schemas.openxmlformats.org/officeDocument/2006/relationships/notesSlide" Target="/ppt/notesSlides/notesSlide10.xml" Id="R5acb6f140bf749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e3a604e2349f2" /><Relationship Type="http://schemas.openxmlformats.org/officeDocument/2006/relationships/notesSlide" Target="/ppt/notesSlides/notesSlide11.xml" Id="R3750f1de8c9341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f43ea8d034a93" /><Relationship Type="http://schemas.openxmlformats.org/officeDocument/2006/relationships/notesSlide" Target="/ppt/notesSlides/notesSlide12.xml" Id="R7a90650b06434b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aa5068543414c" /><Relationship Type="http://schemas.openxmlformats.org/officeDocument/2006/relationships/notesSlide" Target="/ppt/notesSlides/notesSlide13.xml" Id="Rb1eef28a6e1147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1b0c6c193476a" /><Relationship Type="http://schemas.openxmlformats.org/officeDocument/2006/relationships/notesSlide" Target="/ppt/notesSlides/notesSlide14.xml" Id="Ra7516168cc6f4d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EDA4E9C-F60E-44B8-B84D-F506D2E7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Executive Summary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24E181D-230A-4774-9C89-72B0DE26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2026-10-23 · Tesla Cybercab 고객 인도·소유차량 로보택시 편입 계획</a:t>
            </a:r>
            <a:endParaRPr sz="1500"/>
          </a:p>
        </p:txBody>
      </p:sp>
      <p:sp>
        <p:nvSpPr>
          <p:cNvPr id="1030" name="Bullet marker 1-1">
            <a:extLst xmlns:a="http://schemas.openxmlformats.org/drawingml/2006/main">
              <a:ext uri="{FF2B5EF4-FFF2-40B4-BE49-F238E27FC236}">
                <a16:creationId xmlns:a16="http://schemas.microsoft.com/office/drawing/2014/main" id="{AF4ADB60-9EC7-4A4E-9D8F-8DC6E03B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1" name="Bullet text 1-1">
            <a:extLst xmlns:a="http://schemas.openxmlformats.org/drawingml/2006/main">
              <a:ext uri="{FF2B5EF4-FFF2-40B4-BE49-F238E27FC236}">
                <a16:creationId xmlns:a16="http://schemas.microsoft.com/office/drawing/2014/main" id="{E99AC60D-869D-4297-9278-C25D91A5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0000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[신규·계획] Tesla: 2026년 말까지 소규모 Cybercab을 외부 고객에게 인도하고, 2027년 2분기 일부 고객 소유 차량을 로보택시 차량군에 편입하겠다는 목표를 실적 설명회에서 제시했다.R1 [R3]</a:t>
            </a:r>
            <a:endParaRPr sz="1500"/>
          </a:p>
        </p:txBody>
      </p:sp>
      <p:sp>
        <p:nvSpPr>
          <p:cNvPr id="1032" name="Bullet marker 1-2">
            <a:extLst xmlns:a="http://schemas.openxmlformats.org/drawingml/2006/main">
              <a:ext uri="{FF2B5EF4-FFF2-40B4-BE49-F238E27FC236}">
                <a16:creationId xmlns:a16="http://schemas.microsoft.com/office/drawing/2014/main" id="{8BC6830F-0B9E-46BE-80E2-DF2C201B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6666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3" name="Bullet text 1-2">
            <a:extLst xmlns:a="http://schemas.openxmlformats.org/drawingml/2006/main">
              <a:ext uri="{FF2B5EF4-FFF2-40B4-BE49-F238E27FC236}">
                <a16:creationId xmlns:a16="http://schemas.microsoft.com/office/drawing/2014/main" id="{05F455D4-6202-4B87-A7B6-6EA9E3C3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6666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실행 구분: 두 일정은 실제 판매·편입 달성이 아니라 규제 승인, 지오펜스와 차량군 관리 요건을 전제로 한 계획이다.R1 [R3]</a:t>
            </a:r>
            <a:endParaRPr sz="1500"/>
          </a:p>
        </p:txBody>
      </p:sp>
      <p:sp>
        <p:nvSpPr>
          <p:cNvPr id="1034" name="Bullet marker 1-3">
            <a:extLst xmlns:a="http://schemas.openxmlformats.org/drawingml/2006/main">
              <a:ext uri="{FF2B5EF4-FFF2-40B4-BE49-F238E27FC236}">
                <a16:creationId xmlns:a16="http://schemas.microsoft.com/office/drawing/2014/main" id="{D36BA013-E568-4C5C-8B1C-3E809B60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3333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5" name="Bullet text 1-3">
            <a:extLst xmlns:a="http://schemas.openxmlformats.org/drawingml/2006/main">
              <a:ext uri="{FF2B5EF4-FFF2-40B4-BE49-F238E27FC236}">
                <a16:creationId xmlns:a16="http://schemas.microsoft.com/office/drawing/2014/main" id="{7E912DDD-2F2F-4407-B647-2308511F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3332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[신규 확인·계획] Einride: NVIDIA Alpamayo를 안전 아키텍처 안에서 shadow mode로 평가하고 2027년 하반기 실도로 평가를 목표로 한다.R6</a:t>
            </a:r>
            <a:endParaRPr sz="1500"/>
          </a:p>
        </p:txBody>
      </p:sp>
      <p:sp>
        <p:nvSpPr>
          <p:cNvPr id="1036" name="Bullet marker 1-4">
            <a:extLst xmlns:a="http://schemas.openxmlformats.org/drawingml/2006/main">
              <a:ext uri="{FF2B5EF4-FFF2-40B4-BE49-F238E27FC236}">
                <a16:creationId xmlns:a16="http://schemas.microsoft.com/office/drawing/2014/main" id="{344F3B2C-9864-45C8-98A5-93EF9EC5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9998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7" name="Bullet text 1-4">
            <a:extLst xmlns:a="http://schemas.openxmlformats.org/drawingml/2006/main">
              <a:ext uri="{FF2B5EF4-FFF2-40B4-BE49-F238E27FC236}">
                <a16:creationId xmlns:a16="http://schemas.microsoft.com/office/drawing/2014/main" id="{A18B9ACA-5BDC-42D5-BBAE-B562262E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9998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지정 6개사: Uber·Avride·Bolt·Mobileye·카카오모빌리티·쏘카에서 신규 L4 운행·허가·무인 전환을 확인하지 못했다. Mobileye의 10월 22일 발표는 AEB 개발 프로세스 인증으로 L4 상태 변화가 아니다.R8R10R12</a:t>
            </a:r>
            <a:endParaRPr sz="1500"/>
          </a:p>
        </p:txBody>
      </p:sp>
      <p:sp>
        <p:nvSpPr>
          <p:cNvPr id="1038" name="Bullet marker 1-5">
            <a:extLst xmlns:a="http://schemas.openxmlformats.org/drawingml/2006/main">
              <a:ext uri="{FF2B5EF4-FFF2-40B4-BE49-F238E27FC236}">
                <a16:creationId xmlns:a16="http://schemas.microsoft.com/office/drawing/2014/main" id="{A69AC049-7EE5-46EE-ACF4-2C00F1D1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06664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9" name="Bullet text 1-5">
            <a:extLst xmlns:a="http://schemas.openxmlformats.org/drawingml/2006/main">
              <a:ext uri="{FF2B5EF4-FFF2-40B4-BE49-F238E27FC236}">
                <a16:creationId xmlns:a16="http://schemas.microsoft.com/office/drawing/2014/main" id="{4710145A-F083-4AA9-BB5F-2BE7A25D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6664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May Mobility [중복] · 이전 보고 2026-10-22: 신규 확인 사항 없음. 실제 서비스 지역, 안전요원, 운영 실적과 SPAC 일정을 재점검했다.R14R16R18 [R20]</a:t>
            </a:r>
            <a:endParaRPr sz="1500"/>
          </a:p>
        </p:txBody>
      </p:sp>
      <p:sp>
        <p:nvSpPr>
          <p:cNvPr id="1040" name="Bullet marker 1-6">
            <a:extLst xmlns:a="http://schemas.openxmlformats.org/drawingml/2006/main">
              <a:ext uri="{FF2B5EF4-FFF2-40B4-BE49-F238E27FC236}">
                <a16:creationId xmlns:a16="http://schemas.microsoft.com/office/drawing/2014/main" id="{A6086B9C-0F58-465A-967D-1C2FE523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4333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41" name="Bullet text 1-6">
            <a:extLst xmlns:a="http://schemas.openxmlformats.org/drawingml/2006/main">
              <a:ext uri="{FF2B5EF4-FFF2-40B4-BE49-F238E27FC236}">
                <a16:creationId xmlns:a16="http://schemas.microsoft.com/office/drawing/2014/main" id="{9383C0A5-3B17-4965-B0FA-65615B3A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3330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May Mobility [중복] · 이전 보고 2026-10-21: 신규 확인 사항 없음. 서비스·안전요원·실적·SPAC을 재점검했다. [R12][R13][R14][R15][R17]</a:t>
            </a: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042" name="Footer 1">
            <a:extLst xmlns:a="http://schemas.openxmlformats.org/drawingml/2006/main">
              <a:ext uri="{FF2B5EF4-FFF2-40B4-BE49-F238E27FC236}">
                <a16:creationId xmlns:a16="http://schemas.microsoft.com/office/drawing/2014/main" id="{E0DD0FC2-338D-44F2-AD88-D5884175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90000"/>
            <a:ext cx="8350000" cy="3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확인 기준: 2026-10-23 한국시간 아침. 이전 발송본과 대조해 동일 사건·수치의 재보도를 제외했다.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747105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05A59DA-3F6C-441D-8B11-939C8CDA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주요 신규 업데이트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98BC213-C8F8-45FB-B695-B9EACACB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[신규] Tesla Cybercab 고객 인도·소유차량 편입 계획</a:t>
            </a:r>
            <a:endParaRPr sz="1500"/>
          </a:p>
        </p:txBody>
      </p:sp>
      <p:sp>
        <p:nvSpPr>
          <p:cNvPr id="1060" name="Bullet marker 2-1">
            <a:extLst xmlns:a="http://schemas.openxmlformats.org/drawingml/2006/main">
              <a:ext uri="{FF2B5EF4-FFF2-40B4-BE49-F238E27FC236}">
                <a16:creationId xmlns:a16="http://schemas.microsoft.com/office/drawing/2014/main" id="{4255ACCD-AFAA-4C7E-B133-F6B297B5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61" name="Bullet text 2-1">
            <a:extLst xmlns:a="http://schemas.openxmlformats.org/drawingml/2006/main">
              <a:ext uri="{FF2B5EF4-FFF2-40B4-BE49-F238E27FC236}">
                <a16:creationId xmlns:a16="http://schemas.microsoft.com/office/drawing/2014/main" id="{715A77BC-72EF-4EAB-8C1D-CBA62048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발표일 2026-10-21 · 보도일 2026-10-22 · 미국: Tesla 차량공학 부사장 Lars Moravy는 2026년 말까지 Cybercab을 고객에게 인도하기 시작하겠다고 말했다.R1</a:t>
            </a:r>
            <a:endParaRPr sz="1500"/>
          </a:p>
        </p:txBody>
      </p:sp>
      <p:sp>
        <p:nvSpPr>
          <p:cNvPr id="1062" name="Bullet marker 2-2">
            <a:extLst xmlns:a="http://schemas.openxmlformats.org/drawingml/2006/main">
              <a:ext uri="{FF2B5EF4-FFF2-40B4-BE49-F238E27FC236}">
                <a16:creationId xmlns:a16="http://schemas.microsoft.com/office/drawing/2014/main" id="{D5291910-2039-4A08-8F51-453C4064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86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63" name="Bullet text 2-2">
            <a:extLst xmlns:a="http://schemas.openxmlformats.org/drawingml/2006/main">
              <a:ext uri="{FF2B5EF4-FFF2-40B4-BE49-F238E27FC236}">
                <a16:creationId xmlns:a16="http://schemas.microsoft.com/office/drawing/2014/main" id="{C28F41A6-02FA-4769-BB45-7F84E9A1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6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규모·용도: 초기 인도는 소규모로 시작하며, Elon Musk는 Cybercab 대부분을 Tesla가 소유해 운송 서비스에 사용할 것이라고 설명했다.R1</a:t>
            </a:r>
            <a:endParaRPr sz="1500"/>
          </a:p>
        </p:txBody>
      </p:sp>
      <p:sp>
        <p:nvSpPr>
          <p:cNvPr id="1064" name="Bullet marker 2-3">
            <a:extLst xmlns:a="http://schemas.openxmlformats.org/drawingml/2006/main">
              <a:ext uri="{FF2B5EF4-FFF2-40B4-BE49-F238E27FC236}">
                <a16:creationId xmlns:a16="http://schemas.microsoft.com/office/drawing/2014/main" id="{E939AC48-0D8F-4B55-8DA1-D617D4A8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52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65" name="Bullet text 2-3">
            <a:extLst xmlns:a="http://schemas.openxmlformats.org/drawingml/2006/main">
              <a:ext uri="{FF2B5EF4-FFF2-40B4-BE49-F238E27FC236}">
                <a16:creationId xmlns:a16="http://schemas.microsoft.com/office/drawing/2014/main" id="{B44A2CCE-B1D6-4B62-9458-475E27BD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예정 시점 2027년 2분기: Tesla 자율주행 부사장 Ashok Elluswamy는 일부 고객 소유 차량을 로보택시 차량군에 편입할 수 있을 것으로 예상했다.R2</a:t>
            </a:r>
            <a:endParaRPr sz="1500"/>
          </a:p>
        </p:txBody>
      </p:sp>
      <p:sp>
        <p:nvSpPr>
          <p:cNvPr id="1066" name="Bullet marker 2-4">
            <a:extLst xmlns:a="http://schemas.openxmlformats.org/drawingml/2006/main">
              <a:ext uri="{FF2B5EF4-FFF2-40B4-BE49-F238E27FC236}">
                <a16:creationId xmlns:a16="http://schemas.microsoft.com/office/drawing/2014/main" id="{369C9F54-1558-4C99-AAFB-09D46510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8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67" name="Bullet text 2-4">
            <a:extLst xmlns:a="http://schemas.openxmlformats.org/drawingml/2006/main">
              <a:ext uri="{FF2B5EF4-FFF2-40B4-BE49-F238E27FC236}">
                <a16:creationId xmlns:a16="http://schemas.microsoft.com/office/drawing/2014/main" id="{3D092231-BA32-4455-B0DF-BFEA413B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8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기술·운영 조건: 고객 차량은 V15 계열 소프트웨어 외에 Tesla의 지오펜스와 차량군 관리 체계에 들어갈 수 있어야 한다.R2</a:t>
            </a:r>
            <a:endParaRPr sz="1500"/>
          </a:p>
        </p:txBody>
      </p:sp>
      <p:sp>
        <p:nvSpPr>
          <p:cNvPr id="1068" name="Bullet marker 2-5">
            <a:extLst xmlns:a="http://schemas.openxmlformats.org/drawingml/2006/main">
              <a:ext uri="{FF2B5EF4-FFF2-40B4-BE49-F238E27FC236}">
                <a16:creationId xmlns:a16="http://schemas.microsoft.com/office/drawing/2014/main" id="{2C7F29CC-937A-40CA-BBEE-B1463E56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84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69" name="Bullet text 2-5">
            <a:extLst xmlns:a="http://schemas.openxmlformats.org/drawingml/2006/main">
              <a:ext uri="{FF2B5EF4-FFF2-40B4-BE49-F238E27FC236}">
                <a16:creationId xmlns:a16="http://schemas.microsoft.com/office/drawing/2014/main" id="{43A2A93A-8EC9-4756-A421-E982FF4D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4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아직 확인되지 않은 것: 고객 판매 가격·인도 대수·대상 지역·허가 완료 여부와 고객 차량의 실제 무인 유상 운행 개시일은 공개되지 않았다.R1 [R3]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6485889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7FA24D4-2880-4B94-B5D2-D065AB2B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기업/지역별 상세 내용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883D455-62AE-4FDD-94CE-389D5EF9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Tesla·미국 / Einride·자율주행 화물</a:t>
            </a:r>
            <a:endParaRPr sz="1500"/>
          </a:p>
        </p:txBody>
      </p:sp>
      <p:sp>
        <p:nvSpPr>
          <p:cNvPr id="1090" name="Bullet marker 3-1">
            <a:extLst xmlns:a="http://schemas.openxmlformats.org/drawingml/2006/main">
              <a:ext uri="{FF2B5EF4-FFF2-40B4-BE49-F238E27FC236}">
                <a16:creationId xmlns:a16="http://schemas.microsoft.com/office/drawing/2014/main" id="{E9D0C07A-5606-454F-83E6-5CC8C692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1" name="Bullet text 3-1">
            <a:extLst xmlns:a="http://schemas.openxmlformats.org/drawingml/2006/main">
              <a:ext uri="{FF2B5EF4-FFF2-40B4-BE49-F238E27FC236}">
                <a16:creationId xmlns:a16="http://schemas.microsoft.com/office/drawing/2014/main" id="{C3C51FF2-2DD2-471E-A57D-8E1637EB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Tesla Cybercab: 현재 Texas 생산분은 Tesla 내부 로보택시 차량군에 투입되고 있다. Tesla는 10월 21일 3분기 실적을 공식 게시했고, 외부 고객 인도 목표는 이어진 설명회에서 소유·차량군 관리 경험을 축적하기 위한 초기 단계로 설명됐다.R1 [R4]</a:t>
            </a:r>
            <a:endParaRPr sz="1500"/>
          </a:p>
        </p:txBody>
      </p:sp>
      <p:sp>
        <p:nvSpPr>
          <p:cNvPr id="1092" name="Bullet marker 3-2">
            <a:extLst xmlns:a="http://schemas.openxmlformats.org/drawingml/2006/main">
              <a:ext uri="{FF2B5EF4-FFF2-40B4-BE49-F238E27FC236}">
                <a16:creationId xmlns:a16="http://schemas.microsoft.com/office/drawing/2014/main" id="{0D7D1E8E-0AF5-4D9D-813D-4E9F8D1C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86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3" name="Bullet text 3-2">
            <a:extLst xmlns:a="http://schemas.openxmlformats.org/drawingml/2006/main">
              <a:ext uri="{FF2B5EF4-FFF2-40B4-BE49-F238E27FC236}">
                <a16:creationId xmlns:a16="http://schemas.microsoft.com/office/drawing/2014/main" id="{D76DA1B6-54CF-44E5-A28B-9BEB7B0A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6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Tesla 고객 차량: 2027년 2분기 목표는 일부 차량의 편입 계획이다. 공개 자료는 대상 하드웨어 세대, 보험 구조와 지역별 사업 허가를 확정하지 않았다.R2</a:t>
            </a:r>
            <a:endParaRPr sz="1500"/>
          </a:p>
        </p:txBody>
      </p:sp>
      <p:sp>
        <p:nvSpPr>
          <p:cNvPr id="1094" name="Bullet marker 3-3">
            <a:extLst xmlns:a="http://schemas.openxmlformats.org/drawingml/2006/main">
              <a:ext uri="{FF2B5EF4-FFF2-40B4-BE49-F238E27FC236}">
                <a16:creationId xmlns:a16="http://schemas.microsoft.com/office/drawing/2014/main" id="{8DF22295-6623-458C-86D2-94AD5D6B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52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5" name="Bullet text 3-3">
            <a:extLst xmlns:a="http://schemas.openxmlformats.org/drawingml/2006/main">
              <a:ext uri="{FF2B5EF4-FFF2-40B4-BE49-F238E27FC236}">
                <a16:creationId xmlns:a16="http://schemas.microsoft.com/office/drawing/2014/main" id="{4CE58A06-73FB-4BDA-A31A-81EE0A7F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규제 맥락: NHTSA는 조향장치·페달이 없는 Cybercab의 연방 안전기준 자기인증 근거를 조사 중이며, Reuters는 Tesla 답변 기한을 2026년 10월 30일로 보도했다.R1</a:t>
            </a:r>
            <a:endParaRPr sz="1500"/>
          </a:p>
        </p:txBody>
      </p:sp>
      <p:sp>
        <p:nvSpPr>
          <p:cNvPr id="1096" name="Bullet marker 3-4">
            <a:extLst xmlns:a="http://schemas.openxmlformats.org/drawingml/2006/main">
              <a:ext uri="{FF2B5EF4-FFF2-40B4-BE49-F238E27FC236}">
                <a16:creationId xmlns:a16="http://schemas.microsoft.com/office/drawing/2014/main" id="{0C6E00BB-42C6-4E13-BC4C-90FD9286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8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7" name="Bullet text 3-4">
            <a:extLst xmlns:a="http://schemas.openxmlformats.org/drawingml/2006/main">
              <a:ext uri="{FF2B5EF4-FFF2-40B4-BE49-F238E27FC236}">
                <a16:creationId xmlns:a16="http://schemas.microsoft.com/office/drawing/2014/main" id="{EC4432ED-2B23-4E39-AD99-D7C453F0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8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Einride 발표일 2026-10-21: Einride는 Alpamayo를 자체 운행 데이터로 후학습·증류하고, 기존 제어기가 차량 권한을 유지하는 shadow mode에서 성능을 비교할 계획이다. [R6]</a:t>
            </a:r>
            <a:endParaRPr sz="1500"/>
          </a:p>
        </p:txBody>
      </p:sp>
      <p:sp>
        <p:nvSpPr>
          <p:cNvPr id="1098" name="Bullet marker 3-5">
            <a:extLst xmlns:a="http://schemas.openxmlformats.org/drawingml/2006/main">
              <a:ext uri="{FF2B5EF4-FFF2-40B4-BE49-F238E27FC236}">
                <a16:creationId xmlns:a16="http://schemas.microsoft.com/office/drawing/2014/main" id="{3A229B9A-B7B1-4F15-BA14-E78B3722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84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9" name="Bullet text 3-5">
            <a:extLst xmlns:a="http://schemas.openxmlformats.org/drawingml/2006/main">
              <a:ext uri="{FF2B5EF4-FFF2-40B4-BE49-F238E27FC236}">
                <a16:creationId xmlns:a16="http://schemas.microsoft.com/office/drawing/2014/main" id="{421F8A5A-AE8E-41EB-BB44-44C5F12D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4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Einride 예정 시점: 2027년 하반기 실도로 평가가 목표다. 오늘 확인된 변화는 모델 평가·통합 계획이며 신규 무인 화물노선 개시가 아니다.R6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6695218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C9A1F5D-4660-4D9F-8BF3-03C2A1B8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지정 6개사 L4 점검</a:t>
            </a:r>
            <a:endParaRPr sz="225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FEAAC9F-4705-4999-8D53-5EAC7F26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96727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28C8DEF-A1BB-438A-BBD1-F98E95C4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74304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40825F-F5B0-4B16-890A-63557179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51881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442B6C3-254C-41F8-961D-DB68C064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9458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2572343-FA8F-4469-A914-6B3D9469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07035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2C38B52-8A07-40F8-95F6-C323225E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84612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D91CF20-3608-41CC-9EF4-2A07C977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62189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09B1E8F-9C38-441D-8E22-D419E98C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28876"/>
            <a:ext cx="8588121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175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graphicFrame>
        <p:nvGraphicFramePr>
          <p:cNvPr id="904" name="Editable source table">
            <a:extLst xmlns:a="http://schemas.openxmlformats.org/drawingml/2006/main">
              <a:ext uri="{FF2B5EF4-FFF2-40B4-BE49-F238E27FC236}">
                <a16:creationId xmlns:a16="http://schemas.microsoft.com/office/drawing/2014/main" id="{0FA7E418-92A5-49E2-BBE3-DA1B97571D6A}"/>
              </a:ext>
            </a:extLst>
          </p:cNvPr>
          <p:cNvGraphicFramePr/>
          <p:nvPr/>
        </p:nvGraphicFramePr>
        <p:xfrm>
          <a:off xmlns:a="http://schemas.openxmlformats.org/drawingml/2006/main" x="438150" y="823912"/>
          <a:ext xmlns:a="http://schemas.openxmlformats.org/drawingml/2006/main" cx="8458200" cy="264303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66168"/>
                <a:gridCol w="2964954"/>
                <a:gridCol w="3527078"/>
              </a:tblGrid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기업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이전 보고 이후 확인 결과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점검 출처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Uber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신규 무인 운행·허가·지역 확대 미확인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Autonomous Newsroom [R8]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Avride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무인 단계·차량 규모 변화 미확인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홈페이지 [R9]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Bolt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10월 21일 Alpamayo·Madrid 계획 이후 추가 실행 변화 미확인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보도자료 [R10]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Mobileye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L4 확인 사항 없음. 10월 22일 TÜV SÜD 인증은 AEB 개발 프로세스의 ISO 21448 적합성 점검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News Releases [R11]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카카오모빌리티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L4 허가·무인 운행·상용 지역 변화 미확인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뉴스룸 [R12]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쏘카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L4 상용 운행·허가 변화 미확인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블로그 [R13]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765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2FDF4F4-39A7-45A2-A263-8B3C8B5F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May Mobility 심층 점검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FEC05E8-69D2-4D67-9FDB-F04D791D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[중복] 이전 보고 2026-10-22 · 신규 확인 사항 없음</a:t>
            </a:r>
            <a:endParaRPr sz="1500"/>
          </a:p>
        </p:txBody>
      </p:sp>
      <p:sp>
        <p:nvSpPr>
          <p:cNvPr id="705" name="Subheading 5">
            <a:extLst xmlns:a="http://schemas.openxmlformats.org/drawingml/2006/main">
              <a:ext uri="{FF2B5EF4-FFF2-40B4-BE49-F238E27FC236}">
                <a16:creationId xmlns:a16="http://schemas.microsoft.com/office/drawing/2014/main" id="{EE4587E3-7390-4D0C-ACF5-932A68D1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43013"/>
            <a:ext cx="820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① 실제 서비스 지역</a:t>
            </a:r>
            <a:endParaRPr sz="1500"/>
          </a:p>
        </p:txBody>
      </p:sp>
      <p:sp>
        <p:nvSpPr>
          <p:cNvPr id="1150" name="Bullet marker 5-1">
            <a:extLst xmlns:a="http://schemas.openxmlformats.org/drawingml/2006/main">
              <a:ext uri="{FF2B5EF4-FFF2-40B4-BE49-F238E27FC236}">
                <a16:creationId xmlns:a16="http://schemas.microsoft.com/office/drawing/2014/main" id="{FAA654DF-356E-44FB-80FD-A805F3A1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51" name="Bullet text 5-1">
            <a:extLst xmlns:a="http://schemas.openxmlformats.org/drawingml/2006/main">
              <a:ext uri="{FF2B5EF4-FFF2-40B4-BE49-F238E27FC236}">
                <a16:creationId xmlns:a16="http://schemas.microsoft.com/office/drawing/2014/main" id="{C0E9FB4D-F00C-40BA-A18F-9DCB6C49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미국 상용: 9월 16일 SEC 자료는 Atlanta, Eden Prairie와 Grand Rapids를 현재 상업 운영 지역으로 명시한다. 오늘 새로 개시한 지역은 아니다. [R15]</a:t>
            </a:r>
            <a:endParaRPr sz="1500"/>
          </a:p>
        </p:txBody>
      </p:sp>
      <p:sp>
        <p:nvSpPr>
          <p:cNvPr id="1152" name="Bullet marker 5-2">
            <a:extLst xmlns:a="http://schemas.openxmlformats.org/drawingml/2006/main">
              <a:ext uri="{FF2B5EF4-FFF2-40B4-BE49-F238E27FC236}">
                <a16:creationId xmlns:a16="http://schemas.microsoft.com/office/drawing/2014/main" id="{885FB200-15F8-4C98-80FD-76F321F7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2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53" name="Bullet text 5-2">
            <a:extLst xmlns:a="http://schemas.openxmlformats.org/drawingml/2006/main">
              <a:ext uri="{FF2B5EF4-FFF2-40B4-BE49-F238E27FC236}">
                <a16:creationId xmlns:a16="http://schemas.microsoft.com/office/drawing/2014/main" id="{EC4A5819-3298-4011-B4A2-C98EA3FB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Arlington·Uber: 2026년 4분기부터 2027년 1분기 사이 개시 목표이며, 이번 점검에서 실제 개시 달성을 추가 확인하지 못했다.R14</a:t>
            </a:r>
            <a:endParaRPr sz="1500"/>
          </a:p>
        </p:txBody>
      </p:sp>
      <p:sp>
        <p:nvSpPr>
          <p:cNvPr id="1154" name="Bullet marker 5-3">
            <a:extLst xmlns:a="http://schemas.openxmlformats.org/drawingml/2006/main">
              <a:ext uri="{FF2B5EF4-FFF2-40B4-BE49-F238E27FC236}">
                <a16:creationId xmlns:a16="http://schemas.microsoft.com/office/drawing/2014/main" id="{78C4460E-C4A6-4128-B4A4-005B0743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8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55" name="Bullet text 5-3">
            <a:extLst xmlns:a="http://schemas.openxmlformats.org/drawingml/2006/main">
              <a:ext uri="{FF2B5EF4-FFF2-40B4-BE49-F238E27FC236}">
                <a16:creationId xmlns:a16="http://schemas.microsoft.com/office/drawing/2014/main" id="{E45870B9-82A0-42DC-929A-DAE85FAD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나고야: 2026년 9월 11일부터 2027년 3월 19일까지 평일 실증을 진행하며 차량 3대와 승하차 지점 5곳을 운영 설계로 제시한다. [R16]</a:t>
            </a:r>
            <a:endParaRPr sz="1500"/>
          </a:p>
        </p:txBody>
      </p:sp>
      <p:sp>
        <p:nvSpPr>
          <p:cNvPr id="1156" name="Bullet marker 5-4">
            <a:extLst xmlns:a="http://schemas.openxmlformats.org/drawingml/2006/main">
              <a:ext uri="{FF2B5EF4-FFF2-40B4-BE49-F238E27FC236}">
                <a16:creationId xmlns:a16="http://schemas.microsoft.com/office/drawing/2014/main" id="{9C0A8E78-2914-4DEE-9045-A323078A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4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57" name="Bullet text 5-4">
            <a:extLst xmlns:a="http://schemas.openxmlformats.org/drawingml/2006/main">
              <a:ext uri="{FF2B5EF4-FFF2-40B4-BE49-F238E27FC236}">
                <a16:creationId xmlns:a16="http://schemas.microsoft.com/office/drawing/2014/main" id="{BBECCF03-3FFC-4DBB-98DA-DA83FEC5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e-Palette: NTT Mobility와 May Mobility는 공공도로 배치와 향후 운전석 무인 L4를 목표로 발표했다. 오늘 실제 무인 상용 개시를 확인한 것은 아니다. [R20]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5355406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6E0098C-93F1-45CC-9D4A-DCD6C464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[중복] 이전 보고 2026-10-22 · 신규 확인 사항 없음</a:t>
            </a:r>
            <a:endParaRPr sz="1500"/>
          </a:p>
        </p:txBody>
      </p:sp>
      <p:sp>
        <p:nvSpPr>
          <p:cNvPr id="706" name="Subheading 6">
            <a:extLst xmlns:a="http://schemas.openxmlformats.org/drawingml/2006/main">
              <a:ext uri="{FF2B5EF4-FFF2-40B4-BE49-F238E27FC236}">
                <a16:creationId xmlns:a16="http://schemas.microsoft.com/office/drawing/2014/main" id="{6393B169-0136-4077-BF25-C3E87DDA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43013"/>
            <a:ext cx="820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② 안전요원·무인 수준 / 기술·ODD</a:t>
            </a:r>
            <a:endParaRPr sz="1500"/>
          </a:p>
        </p:txBody>
      </p:sp>
      <p:sp>
        <p:nvSpPr>
          <p:cNvPr id="1180" name="Bullet marker 6-1">
            <a:extLst xmlns:a="http://schemas.openxmlformats.org/drawingml/2006/main">
              <a:ext uri="{FF2B5EF4-FFF2-40B4-BE49-F238E27FC236}">
                <a16:creationId xmlns:a16="http://schemas.microsoft.com/office/drawing/2014/main" id="{D4A03F95-5F4A-4BCE-A144-1313D63D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81" name="Bullet text 6-1">
            <a:extLst xmlns:a="http://schemas.openxmlformats.org/drawingml/2006/main">
              <a:ext uri="{FF2B5EF4-FFF2-40B4-BE49-F238E27FC236}">
                <a16:creationId xmlns:a16="http://schemas.microsoft.com/office/drawing/2014/main" id="{4BE02B9C-1E49-4911-96AE-FCCD726E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Atlanta: 공식 긴급대응 지침은 Midtown Toyota Sienna 운전석의 Safety Operator 탑승을 명시한다. [R17]</a:t>
            </a:r>
            <a:endParaRPr sz="1500"/>
          </a:p>
        </p:txBody>
      </p:sp>
      <p:sp>
        <p:nvSpPr>
          <p:cNvPr id="1182" name="Bullet marker 6-2">
            <a:extLst xmlns:a="http://schemas.openxmlformats.org/drawingml/2006/main">
              <a:ext uri="{FF2B5EF4-FFF2-40B4-BE49-F238E27FC236}">
                <a16:creationId xmlns:a16="http://schemas.microsoft.com/office/drawing/2014/main" id="{24AB4742-3613-4C47-BC18-FD04A614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2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83" name="Bullet text 6-2">
            <a:extLst xmlns:a="http://schemas.openxmlformats.org/drawingml/2006/main">
              <a:ext uri="{FF2B5EF4-FFF2-40B4-BE49-F238E27FC236}">
                <a16:creationId xmlns:a16="http://schemas.microsoft.com/office/drawing/2014/main" id="{F6BEE0C4-9ED7-4A7E-979B-9E585C3B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나고야: NTT 안내는 향후 승무원 없는 L4 운행을 상정한 실증이다. 현재 운전석 무인 허가·운행 달성을 뜻하지 않는다. [R16]</a:t>
            </a:r>
            <a:endParaRPr sz="1500"/>
          </a:p>
        </p:txBody>
      </p:sp>
      <p:sp>
        <p:nvSpPr>
          <p:cNvPr id="1184" name="Bullet marker 6-3">
            <a:extLst xmlns:a="http://schemas.openxmlformats.org/drawingml/2006/main">
              <a:ext uri="{FF2B5EF4-FFF2-40B4-BE49-F238E27FC236}">
                <a16:creationId xmlns:a16="http://schemas.microsoft.com/office/drawing/2014/main" id="{40AC5E27-3D07-425C-B4EA-2606277C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8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85" name="Bullet text 6-3">
            <a:extLst xmlns:a="http://schemas.openxmlformats.org/drawingml/2006/main">
              <a:ext uri="{FF2B5EF4-FFF2-40B4-BE49-F238E27FC236}">
                <a16:creationId xmlns:a16="http://schemas.microsoft.com/office/drawing/2014/main" id="{38747B8C-CDD9-4BA8-9066-824F38B2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5세대 기술: 회사는 딥러닝, 예측 월드 모델과 추론 엔진을 차량 내에서 결합한다고 설명한다. 지역별 허가나 안전요원 제거 실적과 구분한다. [R18]</a:t>
            </a:r>
            <a:endParaRPr sz="1500"/>
          </a:p>
        </p:txBody>
      </p:sp>
      <p:sp>
        <p:nvSpPr>
          <p:cNvPr id="1186" name="Bullet marker 6-4">
            <a:extLst xmlns:a="http://schemas.openxmlformats.org/drawingml/2006/main">
              <a:ext uri="{FF2B5EF4-FFF2-40B4-BE49-F238E27FC236}">
                <a16:creationId xmlns:a16="http://schemas.microsoft.com/office/drawing/2014/main" id="{A4110EA9-991F-42FE-8448-F6011759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4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87" name="Bullet text 6-4">
            <a:extLst xmlns:a="http://schemas.openxmlformats.org/drawingml/2006/main">
              <a:ext uri="{FF2B5EF4-FFF2-40B4-BE49-F238E27FC236}">
                <a16:creationId xmlns:a16="http://schemas.microsoft.com/office/drawing/2014/main" id="{21C1B306-DC74-46D9-8071-5D6001C3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ODD 한계: 최신 속도·기상·도로별 전체 ODD와 추가 안전요원 철수는 공개자료에서 확인하지 못했다.R14R17</a:t>
            </a:r>
            <a:endParaRPr sz="1500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E0EAA9C-8716-4B3D-B6DF-22778C2C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May Mobility 심층 점검</a:t>
            </a:r>
            <a:endParaRPr sz="2250"/>
          </a:p>
        </p:txBody>
      </p:sp>
    </p:spTree>
    <p:extLst>
      <p:ext uri="{BB962C8B-B14F-4D97-AF65-F5344CB8AC3E}">
        <p14:creationId xmlns:p14="http://schemas.microsoft.com/office/powerpoint/2010/main" val="12991268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D41ACF-CC26-432F-BC7B-8E1962B6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May Mobility 심층 점검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C17C57-9302-484D-B14F-470BEC62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[중복] 이전 보고 2026-10-22 · 신규 확인 사항 없음</a:t>
            </a:r>
            <a:endParaRPr sz="1500"/>
          </a:p>
        </p:txBody>
      </p:sp>
      <p:sp>
        <p:nvSpPr>
          <p:cNvPr id="707" name="Subheading 7">
            <a:extLst xmlns:a="http://schemas.openxmlformats.org/drawingml/2006/main">
              <a:ext uri="{FF2B5EF4-FFF2-40B4-BE49-F238E27FC236}">
                <a16:creationId xmlns:a16="http://schemas.microsoft.com/office/drawing/2014/main" id="{50A88524-C980-45A6-9A6A-4DC0ED14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43013"/>
            <a:ext cx="820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③ 차량·운영 실적 / ④ 투자·SPAC 일정</a:t>
            </a:r>
            <a:endParaRPr sz="1500"/>
          </a:p>
        </p:txBody>
      </p:sp>
      <p:sp>
        <p:nvSpPr>
          <p:cNvPr id="1210" name="Bullet marker 7-1">
            <a:extLst xmlns:a="http://schemas.openxmlformats.org/drawingml/2006/main">
              <a:ext uri="{FF2B5EF4-FFF2-40B4-BE49-F238E27FC236}">
                <a16:creationId xmlns:a16="http://schemas.microsoft.com/office/drawing/2014/main" id="{B66C3604-188E-444B-92F2-C9ECD784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1" name="Bullet text 7-1">
            <a:extLst xmlns:a="http://schemas.openxmlformats.org/drawingml/2006/main">
              <a:ext uri="{FF2B5EF4-FFF2-40B4-BE49-F238E27FC236}">
                <a16:creationId xmlns:a16="http://schemas.microsoft.com/office/drawing/2014/main" id="{6B872026-580F-4957-AE9C-642E2C04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누적 실적: 2026년 9월 16일 기준 상업 승차 55만 회 초과, 110만 마일과 driver-out 배치 3건이다. 모든 지역이 무인이라는 뜻은 아니다. [R15]</a:t>
            </a:r>
            <a:endParaRPr sz="1500"/>
          </a:p>
        </p:txBody>
      </p:sp>
      <p:sp>
        <p:nvSpPr>
          <p:cNvPr id="1212" name="Bullet marker 7-2">
            <a:extLst xmlns:a="http://schemas.openxmlformats.org/drawingml/2006/main">
              <a:ext uri="{FF2B5EF4-FFF2-40B4-BE49-F238E27FC236}">
                <a16:creationId xmlns:a16="http://schemas.microsoft.com/office/drawing/2014/main" id="{AC0F9192-947E-4D82-B38E-907281FC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83489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3" name="Bullet text 7-2">
            <a:extLst xmlns:a="http://schemas.openxmlformats.org/drawingml/2006/main">
              <a:ext uri="{FF2B5EF4-FFF2-40B4-BE49-F238E27FC236}">
                <a16:creationId xmlns:a16="http://schemas.microsoft.com/office/drawing/2014/main" id="{D039CB3D-A541-42DE-9DE3-25EA319B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3489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AaaS: 파트너가 차량 소유·차고 운영·유지보수를 맡고 May Mobility가 자율주행 기술을 제공하는 모델을 제시한다.R15</a:t>
            </a:r>
            <a:endParaRPr sz="1500"/>
          </a:p>
        </p:txBody>
      </p:sp>
      <p:sp>
        <p:nvSpPr>
          <p:cNvPr id="1214" name="Bullet marker 7-3">
            <a:extLst xmlns:a="http://schemas.openxmlformats.org/drawingml/2006/main">
              <a:ext uri="{FF2B5EF4-FFF2-40B4-BE49-F238E27FC236}">
                <a16:creationId xmlns:a16="http://schemas.microsoft.com/office/drawing/2014/main" id="{92983FEC-583E-49D9-8A42-99D7A7F1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00116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5" name="Bullet text 7-3">
            <a:extLst xmlns:a="http://schemas.openxmlformats.org/drawingml/2006/main">
              <a:ext uri="{FF2B5EF4-FFF2-40B4-BE49-F238E27FC236}">
                <a16:creationId xmlns:a16="http://schemas.microsoft.com/office/drawing/2014/main" id="{D8CC23E8-88BD-4D96-88B6-3BDBFD93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116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SPAC 발표값: 기업가치 약 14억 달러, 최대 조달 3억3,700만 달러와 PIPE 1억2,000만 달러이며 환매·종결 조건의 영향을 받는다. [R15]</a:t>
            </a:r>
            <a:endParaRPr sz="1500"/>
          </a:p>
        </p:txBody>
      </p:sp>
      <p:sp>
        <p:nvSpPr>
          <p:cNvPr id="1216" name="Bullet marker 7-4">
            <a:extLst xmlns:a="http://schemas.openxmlformats.org/drawingml/2006/main">
              <a:ext uri="{FF2B5EF4-FFF2-40B4-BE49-F238E27FC236}">
                <a16:creationId xmlns:a16="http://schemas.microsoft.com/office/drawing/2014/main" id="{A0EC3BBF-C4B5-4B73-B2C9-D763B845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16743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7" name="Bullet text 7-4">
            <a:extLst xmlns:a="http://schemas.openxmlformats.org/drawingml/2006/main">
              <a:ext uri="{FF2B5EF4-FFF2-40B4-BE49-F238E27FC236}">
                <a16:creationId xmlns:a16="http://schemas.microsoft.com/office/drawing/2014/main" id="{060901C9-EABE-4399-B058-8381EB3C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6743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종결 목표: 투자자 자료는 2027년 1분기를 제시한다. 합병·상장 완료는 추가 확인하지 못했다.R14 [R19]</a:t>
            </a:r>
            <a:endParaRPr sz="1500"/>
          </a:p>
        </p:txBody>
      </p:sp>
      <p:sp>
        <p:nvSpPr>
          <p:cNvPr id="1218" name="Bullet marker 7-5">
            <a:extLst xmlns:a="http://schemas.openxmlformats.org/drawingml/2006/main">
              <a:ext uri="{FF2B5EF4-FFF2-40B4-BE49-F238E27FC236}">
                <a16:creationId xmlns:a16="http://schemas.microsoft.com/office/drawing/2014/main" id="{854DF30B-F301-47CF-B003-C55B3B28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3337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9" name="Bullet text 7-5">
            <a:extLst xmlns:a="http://schemas.openxmlformats.org/drawingml/2006/main">
              <a:ext uri="{FF2B5EF4-FFF2-40B4-BE49-F238E27FC236}">
                <a16:creationId xmlns:a16="http://schemas.microsoft.com/office/drawing/2014/main" id="{40CF16FC-D0BE-45C8-B900-AA56D089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337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현대자동차: 신규 직접 계약·차량 적용 근거는 확인되지 않았다. [R15]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9362496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9C080AB-C486-4F6E-9E84-ADD39A80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규제·안전</a:t>
            </a:r>
            <a:endParaRPr sz="2250"/>
          </a:p>
        </p:txBody>
      </p:sp>
      <p:sp>
        <p:nvSpPr>
          <p:cNvPr id="1240" name="Bullet marker 8-1">
            <a:extLst xmlns:a="http://schemas.openxmlformats.org/drawingml/2006/main">
              <a:ext uri="{FF2B5EF4-FFF2-40B4-BE49-F238E27FC236}">
                <a16:creationId xmlns:a16="http://schemas.microsoft.com/office/drawing/2014/main" id="{6770C92F-5EDA-4308-A44A-ACC2411A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41" name="Bullet text 8-1">
            <a:extLst xmlns:a="http://schemas.openxmlformats.org/drawingml/2006/main">
              <a:ext uri="{FF2B5EF4-FFF2-40B4-BE49-F238E27FC236}">
                <a16:creationId xmlns:a16="http://schemas.microsoft.com/office/drawing/2014/main" id="{A0BDE690-9095-427A-8E35-C45876BD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Cybercab 자기인증 조사: NHTSA는 수동 조작 장치가 없는 차량에 기존 FMVSS가 어떻게 적용되는지와 Tesla의 자기인증 근거를 확인 중이다.R1</a:t>
            </a:r>
            <a:endParaRPr sz="1500"/>
          </a:p>
        </p:txBody>
      </p:sp>
      <p:sp>
        <p:nvSpPr>
          <p:cNvPr id="1242" name="Bullet marker 8-2">
            <a:extLst xmlns:a="http://schemas.openxmlformats.org/drawingml/2006/main">
              <a:ext uri="{FF2B5EF4-FFF2-40B4-BE49-F238E27FC236}">
                <a16:creationId xmlns:a16="http://schemas.microsoft.com/office/drawing/2014/main" id="{5B5A8FDC-7111-4117-B5F8-3C9483EB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8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43" name="Bullet text 8-2">
            <a:extLst xmlns:a="http://schemas.openxmlformats.org/drawingml/2006/main">
              <a:ext uri="{FF2B5EF4-FFF2-40B4-BE49-F238E27FC236}">
                <a16:creationId xmlns:a16="http://schemas.microsoft.com/office/drawing/2014/main" id="{D53B1FD4-7109-4263-B745-DAE6F876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답변 기한: Reuters는 Tesla가 2026년 10월 30일까지 조사 요청에 답해야 한다고 보도했다. [R1]</a:t>
            </a:r>
            <a:endParaRPr sz="1500"/>
          </a:p>
        </p:txBody>
      </p:sp>
      <p:sp>
        <p:nvSpPr>
          <p:cNvPr id="1244" name="Bullet marker 8-3">
            <a:extLst xmlns:a="http://schemas.openxmlformats.org/drawingml/2006/main">
              <a:ext uri="{FF2B5EF4-FFF2-40B4-BE49-F238E27FC236}">
                <a16:creationId xmlns:a16="http://schemas.microsoft.com/office/drawing/2014/main" id="{7183365D-5DE1-472A-A0C0-9DCB2CF1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4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45" name="Bullet text 8-3">
            <a:extLst xmlns:a="http://schemas.openxmlformats.org/drawingml/2006/main">
              <a:ext uri="{FF2B5EF4-FFF2-40B4-BE49-F238E27FC236}">
                <a16:creationId xmlns:a16="http://schemas.microsoft.com/office/drawing/2014/main" id="{2F74F247-EE9A-4F17-98E6-ECEB084E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고객 차량 편입: 지오펜스·차량군 관리 외에도 지역별 무인 유상운송 허가와 보험 문제가 남아 있으며, Tesla는 완료 지역을 공개하지 않았다.R2</a:t>
            </a:r>
            <a:endParaRPr sz="1500"/>
          </a:p>
        </p:txBody>
      </p:sp>
      <p:sp>
        <p:nvSpPr>
          <p:cNvPr id="1246" name="Bullet marker 8-4">
            <a:extLst xmlns:a="http://schemas.openxmlformats.org/drawingml/2006/main">
              <a:ext uri="{FF2B5EF4-FFF2-40B4-BE49-F238E27FC236}">
                <a16:creationId xmlns:a16="http://schemas.microsoft.com/office/drawing/2014/main" id="{E42CE2C3-A214-40C7-94DB-EDC8C260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0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47" name="Bullet text 8-4">
            <a:extLst xmlns:a="http://schemas.openxmlformats.org/drawingml/2006/main">
              <a:ext uri="{FF2B5EF4-FFF2-40B4-BE49-F238E27FC236}">
                <a16:creationId xmlns:a16="http://schemas.microsoft.com/office/drawing/2014/main" id="{E1A0818E-C85F-4DE1-B2E2-70AB41EC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Einride shadow mode: Alpamayo는 평가 단계에서 차량을 제어하지 않고 기존 안전 시스템이 권한을 유지한다. [R6]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0046814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FB871FC-5CB1-432D-ACA7-A62F2B6D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기술·공급망</a:t>
            </a:r>
            <a:endParaRPr sz="2250"/>
          </a:p>
        </p:txBody>
      </p:sp>
      <p:sp>
        <p:nvSpPr>
          <p:cNvPr id="1270" name="Bullet marker 9-1">
            <a:extLst xmlns:a="http://schemas.openxmlformats.org/drawingml/2006/main">
              <a:ext uri="{FF2B5EF4-FFF2-40B4-BE49-F238E27FC236}">
                <a16:creationId xmlns:a16="http://schemas.microsoft.com/office/drawing/2014/main" id="{7B754F4A-D65D-4661-8550-39B1B15E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71" name="Bullet text 9-1">
            <a:extLst xmlns:a="http://schemas.openxmlformats.org/drawingml/2006/main">
              <a:ext uri="{FF2B5EF4-FFF2-40B4-BE49-F238E27FC236}">
                <a16:creationId xmlns:a16="http://schemas.microsoft.com/office/drawing/2014/main" id="{9663B968-E977-4240-BEF7-E0DEF8BF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Einride·NVIDIA: Einride는 NVIDIA Hyperion 위에서 Alpamayo를 평가하고, 자사 화물 운행 데이터로 모델을 후학습·증류할 계획이다.R6</a:t>
            </a:r>
            <a:endParaRPr sz="1500"/>
          </a:p>
        </p:txBody>
      </p:sp>
      <p:sp>
        <p:nvSpPr>
          <p:cNvPr id="1272" name="Bullet marker 9-2">
            <a:extLst xmlns:a="http://schemas.openxmlformats.org/drawingml/2006/main">
              <a:ext uri="{FF2B5EF4-FFF2-40B4-BE49-F238E27FC236}">
                <a16:creationId xmlns:a16="http://schemas.microsoft.com/office/drawing/2014/main" id="{DDB011FD-B6BD-4BC4-BA18-4DA16DB0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8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73" name="Bullet text 9-2">
            <a:extLst xmlns:a="http://schemas.openxmlformats.org/drawingml/2006/main">
              <a:ext uri="{FF2B5EF4-FFF2-40B4-BE49-F238E27FC236}">
                <a16:creationId xmlns:a16="http://schemas.microsoft.com/office/drawing/2014/main" id="{E829100F-072F-4FF2-868B-210FEE02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안전 경계: Alpamayo는 주행 장면을 해석하고 행동을 제안하지만 Einride 안전 아키텍처가 최종 차량 권한을 유지한다. [R6]</a:t>
            </a:r>
            <a:endParaRPr sz="1500"/>
          </a:p>
        </p:txBody>
      </p:sp>
      <p:sp>
        <p:nvSpPr>
          <p:cNvPr id="1274" name="Bullet marker 9-3">
            <a:extLst xmlns:a="http://schemas.openxmlformats.org/drawingml/2006/main">
              <a:ext uri="{FF2B5EF4-FFF2-40B4-BE49-F238E27FC236}">
                <a16:creationId xmlns:a16="http://schemas.microsoft.com/office/drawing/2014/main" id="{4B3DED9F-70CD-4D8A-88A9-A68FD226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4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75" name="Bullet text 9-3">
            <a:extLst xmlns:a="http://schemas.openxmlformats.org/drawingml/2006/main">
              <a:ext uri="{FF2B5EF4-FFF2-40B4-BE49-F238E27FC236}">
                <a16:creationId xmlns:a16="http://schemas.microsoft.com/office/drawing/2014/main" id="{4617369F-5E89-4B9D-9DC8-DA3F052C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적용 범위: 고속도로와 거점 간 화물 경로 확장이 목표이며, 구체적인 2027년 평가 노선·차량 수·무인 상용 전환일은 공개하지 않았다. [R6]</a:t>
            </a:r>
            <a:endParaRPr sz="1500"/>
          </a:p>
        </p:txBody>
      </p:sp>
      <p:sp>
        <p:nvSpPr>
          <p:cNvPr id="1276" name="Bullet marker 9-4">
            <a:extLst xmlns:a="http://schemas.openxmlformats.org/drawingml/2006/main">
              <a:ext uri="{FF2B5EF4-FFF2-40B4-BE49-F238E27FC236}">
                <a16:creationId xmlns:a16="http://schemas.microsoft.com/office/drawing/2014/main" id="{84E54330-DF18-4CF3-8FA1-6647DE94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0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77" name="Bullet text 9-4">
            <a:extLst xmlns:a="http://schemas.openxmlformats.org/drawingml/2006/main">
              <a:ext uri="{FF2B5EF4-FFF2-40B4-BE49-F238E27FC236}">
                <a16:creationId xmlns:a16="http://schemas.microsoft.com/office/drawing/2014/main" id="{99B641AE-F16A-409C-8E46-222AC04F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Tesla 플랫폼 전환: Cybercab 외부 인도와 고객 차량 편입 계획은 전용 로보택시와 소비자 차량을 하나의 차량군 관리 체계에 연결하려는 일정이다. 실제 실행은 확인되지 않았다.R1 [R3]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2516364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0" name="Reference title 10">
            <a:extLst xmlns:a="http://schemas.openxmlformats.org/drawingml/2006/main">
              <a:ext uri="{FF2B5EF4-FFF2-40B4-BE49-F238E27FC236}">
                <a16:creationId xmlns:a16="http://schemas.microsoft.com/office/drawing/2014/main" id="{4C11DCC9-CD94-428F-8C8B-07AC4443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01" name="Reference subtitle 10">
            <a:extLst xmlns:a="http://schemas.openxmlformats.org/drawingml/2006/main">
              <a:ext uri="{FF2B5EF4-FFF2-40B4-BE49-F238E27FC236}">
                <a16:creationId xmlns:a16="http://schemas.microsoft.com/office/drawing/2014/main" id="{8479726C-0A26-48F2-B593-7A45A040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1–4</a:t>
            </a:r>
            <a:endParaRPr sz="1500"/>
          </a:p>
        </p:txBody>
      </p:sp>
      <p:sp>
        <p:nvSpPr>
          <p:cNvPr id="1700" name="Reference marker 10-1">
            <a:extLst xmlns:a="http://schemas.openxmlformats.org/drawingml/2006/main">
              <a:ext uri="{FF2B5EF4-FFF2-40B4-BE49-F238E27FC236}">
                <a16:creationId xmlns:a16="http://schemas.microsoft.com/office/drawing/2014/main" id="{D34EA3AE-65BC-47AB-9A2F-D6C4DF58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01" name="Reference text 10-1">
            <a:extLst xmlns:a="http://schemas.openxmlformats.org/drawingml/2006/main">
              <a:ext uri="{FF2B5EF4-FFF2-40B4-BE49-F238E27FC236}">
                <a16:creationId xmlns:a16="http://schemas.microsoft.com/office/drawing/2014/main" id="{794B798D-75C7-4688-B42B-FAE466D2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[R1] Reuters, Tesla aims to sell Cybercab robotaxis by end of year despite federal probe, 2026-10-22: https://www.reuters.com/business/autos-transportation/tesla-aims-sell-cybercab-robotaxis-by-end-year-despite-federal-probe-2026-10-22/</a:t>
            </a:r>
            <a:endParaRPr sz="1050"/>
          </a:p>
        </p:txBody>
      </p:sp>
      <p:sp>
        <p:nvSpPr>
          <p:cNvPr id="1702" name="Reference marker 10-2">
            <a:extLst xmlns:a="http://schemas.openxmlformats.org/drawingml/2006/main">
              <a:ext uri="{FF2B5EF4-FFF2-40B4-BE49-F238E27FC236}">
                <a16:creationId xmlns:a16="http://schemas.microsoft.com/office/drawing/2014/main" id="{EA1D634C-41A0-483E-BEC5-93135018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03" name="Reference text 10-2">
            <a:extLst xmlns:a="http://schemas.openxmlformats.org/drawingml/2006/main">
              <a:ext uri="{FF2B5EF4-FFF2-40B4-BE49-F238E27FC236}">
                <a16:creationId xmlns:a16="http://schemas.microsoft.com/office/drawing/2014/main" id="{86D59CF0-E8FA-4B05-9444-496E035C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[R2] EarningsCalls.dev, Tesla Q3 2026 Earnings Call Transcript, 2026-10-21: https://earningscalls.dev/transcripts/tesla-inc_tsla_earnings_call_transcript_2026-10-21</a:t>
            </a:r>
            <a:endParaRPr sz="1050"/>
          </a:p>
        </p:txBody>
      </p:sp>
      <p:sp>
        <p:nvSpPr>
          <p:cNvPr id="1704" name="Reference marker 10-3">
            <a:extLst xmlns:a="http://schemas.openxmlformats.org/drawingml/2006/main">
              <a:ext uri="{FF2B5EF4-FFF2-40B4-BE49-F238E27FC236}">
                <a16:creationId xmlns:a16="http://schemas.microsoft.com/office/drawing/2014/main" id="{DC26F101-EB1F-42E8-9169-B2E60841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38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05" name="Reference text 10-3">
            <a:extLst xmlns:a="http://schemas.openxmlformats.org/drawingml/2006/main">
              <a:ext uri="{FF2B5EF4-FFF2-40B4-BE49-F238E27FC236}">
                <a16:creationId xmlns:a16="http://schemas.microsoft.com/office/drawing/2014/main" id="{49141882-3201-4FB6-8242-EFB3679A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38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[R3] The Verge, Tesla says customers can add their own vehicles to the robotaxi fleet next year, 2026-10-22: https://www.theverge.com/transportation/1016118/tesla-robotaxi-customer-owned-vehicle-fleet-network-q3-2026-earnings</a:t>
            </a:r>
            <a:endParaRPr sz="1050"/>
          </a:p>
        </p:txBody>
      </p:sp>
      <p:sp>
        <p:nvSpPr>
          <p:cNvPr id="1706" name="Reference marker 10-4">
            <a:extLst xmlns:a="http://schemas.openxmlformats.org/drawingml/2006/main">
              <a:ext uri="{FF2B5EF4-FFF2-40B4-BE49-F238E27FC236}">
                <a16:creationId xmlns:a16="http://schemas.microsoft.com/office/drawing/2014/main" id="{283D1262-5DCB-42A7-83EB-C75F53AC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94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07" name="Reference text 10-4">
            <a:extLst xmlns:a="http://schemas.openxmlformats.org/drawingml/2006/main">
              <a:ext uri="{FF2B5EF4-FFF2-40B4-BE49-F238E27FC236}">
                <a16:creationId xmlns:a16="http://schemas.microsoft.com/office/drawing/2014/main" id="{2F7D3F12-E698-491D-B9FF-A78F3368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94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[R4] Tesla Investor Relations, Tesla Releases Third Quarter 2026 Financial Results, 2026-10-21: https://ir.tesla.com/press-release/tesla-releases-third-quarter-2026-financial-results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5692611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20" name="Reference title 11">
            <a:extLst xmlns:a="http://schemas.openxmlformats.org/drawingml/2006/main">
              <a:ext uri="{FF2B5EF4-FFF2-40B4-BE49-F238E27FC236}">
                <a16:creationId xmlns:a16="http://schemas.microsoft.com/office/drawing/2014/main" id="{AF33BD41-DEAA-40BB-B1F5-96BDA227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21" name="Reference subtitle 11">
            <a:extLst xmlns:a="http://schemas.openxmlformats.org/drawingml/2006/main">
              <a:ext uri="{FF2B5EF4-FFF2-40B4-BE49-F238E27FC236}">
                <a16:creationId xmlns:a16="http://schemas.microsoft.com/office/drawing/2014/main" id="{293D7ACB-D0D8-453A-9D3E-71E473DB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5–8</a:t>
            </a:r>
            <a:endParaRPr sz="1500"/>
          </a:p>
        </p:txBody>
      </p:sp>
      <p:sp>
        <p:nvSpPr>
          <p:cNvPr id="1720" name="Reference marker 11-1">
            <a:extLst xmlns:a="http://schemas.openxmlformats.org/drawingml/2006/main">
              <a:ext uri="{FF2B5EF4-FFF2-40B4-BE49-F238E27FC236}">
                <a16:creationId xmlns:a16="http://schemas.microsoft.com/office/drawing/2014/main" id="{8E2329A7-1D15-405A-92B7-EB9FF20B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21" name="Reference text 11-1">
            <a:extLst xmlns:a="http://schemas.openxmlformats.org/drawingml/2006/main">
              <a:ext uri="{FF2B5EF4-FFF2-40B4-BE49-F238E27FC236}">
                <a16:creationId xmlns:a16="http://schemas.microsoft.com/office/drawing/2014/main" id="{1C185E7C-614C-4A0D-B49E-270CD1A4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[R5] Reuters, US opens probe into Tesla self-certification of Cybercab robotaxis, 2026-09-04: https://www.reuters.com/business/autos-transportation/us-auto-safety-regulator-opens-probe-into-nearly-1000-tesla-cybercabs-2026-09-04/</a:t>
            </a:r>
            <a:endParaRPr sz="1050"/>
          </a:p>
        </p:txBody>
      </p:sp>
      <p:sp>
        <p:nvSpPr>
          <p:cNvPr id="1722" name="Reference marker 11-2">
            <a:extLst xmlns:a="http://schemas.openxmlformats.org/drawingml/2006/main">
              <a:ext uri="{FF2B5EF4-FFF2-40B4-BE49-F238E27FC236}">
                <a16:creationId xmlns:a16="http://schemas.microsoft.com/office/drawing/2014/main" id="{B70F9720-5EB1-4668-B658-DF7DD830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23" name="Reference text 11-2">
            <a:extLst xmlns:a="http://schemas.openxmlformats.org/drawingml/2006/main">
              <a:ext uri="{FF2B5EF4-FFF2-40B4-BE49-F238E27FC236}">
                <a16:creationId xmlns:a16="http://schemas.microsoft.com/office/drawing/2014/main" id="{F752552D-05A2-45D3-BFC3-5DB5E48B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[R6] Einride, Einride Deepens Collaboration with NVIDIA: Adopts NVIDIA Alpamayo for Autonomous Trucks, 2026-10-21: https://www.einride.tech/press/3385407</a:t>
            </a:r>
            <a:endParaRPr sz="1050"/>
          </a:p>
        </p:txBody>
      </p:sp>
      <p:sp>
        <p:nvSpPr>
          <p:cNvPr id="1724" name="Reference marker 11-3">
            <a:extLst xmlns:a="http://schemas.openxmlformats.org/drawingml/2006/main">
              <a:ext uri="{FF2B5EF4-FFF2-40B4-BE49-F238E27FC236}">
                <a16:creationId xmlns:a16="http://schemas.microsoft.com/office/drawing/2014/main" id="{D0E21534-DDD5-4606-9FBB-708AF5EB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38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25" name="Reference text 11-3">
            <a:extLst xmlns:a="http://schemas.openxmlformats.org/drawingml/2006/main">
              <a:ext uri="{FF2B5EF4-FFF2-40B4-BE49-F238E27FC236}">
                <a16:creationId xmlns:a16="http://schemas.microsoft.com/office/drawing/2014/main" id="{15D8A9E8-0095-415D-9DC3-17B699BB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38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[R7] Reuters, Einride expands Nvidia partnership to deploy AI reasoning model for self-driving trucks, 2026-10-21: https://www.reuters.com/business/autos-transportation/einride-expands-nvidia-partnership-deploy-ai-reasoning-model-self-driving-trucks-2026-10-21/</a:t>
            </a:r>
            <a:endParaRPr sz="1050"/>
          </a:p>
        </p:txBody>
      </p:sp>
      <p:sp>
        <p:nvSpPr>
          <p:cNvPr id="1726" name="Reference marker 11-4">
            <a:extLst xmlns:a="http://schemas.openxmlformats.org/drawingml/2006/main">
              <a:ext uri="{FF2B5EF4-FFF2-40B4-BE49-F238E27FC236}">
                <a16:creationId xmlns:a16="http://schemas.microsoft.com/office/drawing/2014/main" id="{80609077-CFFD-4E5A-8E95-32985C9B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94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27" name="Reference text 11-4">
            <a:extLst xmlns:a="http://schemas.openxmlformats.org/drawingml/2006/main">
              <a:ext uri="{FF2B5EF4-FFF2-40B4-BE49-F238E27FC236}">
                <a16:creationId xmlns:a16="http://schemas.microsoft.com/office/drawing/2014/main" id="{DB88362F-7BE5-4DCA-A7EF-12D19FE9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94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[R8] Uber, Autonomous Articles, 2026-10-23 확인: https://www.uber.com/us/en/newsroom/autonomous/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543700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0" name="Reference title 12">
            <a:extLst xmlns:a="http://schemas.openxmlformats.org/drawingml/2006/main">
              <a:ext uri="{FF2B5EF4-FFF2-40B4-BE49-F238E27FC236}">
                <a16:creationId xmlns:a16="http://schemas.microsoft.com/office/drawing/2014/main" id="{8DDE6B02-F37B-49E4-B7E1-3FD5E5A9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41" name="Reference subtitle 12">
            <a:extLst xmlns:a="http://schemas.openxmlformats.org/drawingml/2006/main">
              <a:ext uri="{FF2B5EF4-FFF2-40B4-BE49-F238E27FC236}">
                <a16:creationId xmlns:a16="http://schemas.microsoft.com/office/drawing/2014/main" id="{68469EC8-2088-45AF-9104-0649BF5C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9–12</a:t>
            </a:r>
            <a:endParaRPr sz="1500"/>
          </a:p>
        </p:txBody>
      </p:sp>
      <p:sp>
        <p:nvSpPr>
          <p:cNvPr id="1740" name="Reference marker 12-1">
            <a:extLst xmlns:a="http://schemas.openxmlformats.org/drawingml/2006/main">
              <a:ext uri="{FF2B5EF4-FFF2-40B4-BE49-F238E27FC236}">
                <a16:creationId xmlns:a16="http://schemas.microsoft.com/office/drawing/2014/main" id="{1BD22C31-FF70-4246-B88C-2C09D87B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41" name="Reference text 12-1">
            <a:extLst xmlns:a="http://schemas.openxmlformats.org/drawingml/2006/main">
              <a:ext uri="{FF2B5EF4-FFF2-40B4-BE49-F238E27FC236}">
                <a16:creationId xmlns:a16="http://schemas.microsoft.com/office/drawing/2014/main" id="{24564A60-E3D4-4483-BBFF-982BF322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[R9] Avride, 공식 홈페이지, 2026-10-23 확인: https://www.avride.ai/</a:t>
            </a:r>
            <a:endParaRPr sz="1050"/>
          </a:p>
        </p:txBody>
      </p:sp>
      <p:sp>
        <p:nvSpPr>
          <p:cNvPr id="1742" name="Reference marker 12-2">
            <a:extLst xmlns:a="http://schemas.openxmlformats.org/drawingml/2006/main">
              <a:ext uri="{FF2B5EF4-FFF2-40B4-BE49-F238E27FC236}">
                <a16:creationId xmlns:a16="http://schemas.microsoft.com/office/drawing/2014/main" id="{BF70F848-5BB8-4ABB-998E-846BE0E0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43" name="Reference text 12-2">
            <a:extLst xmlns:a="http://schemas.openxmlformats.org/drawingml/2006/main">
              <a:ext uri="{FF2B5EF4-FFF2-40B4-BE49-F238E27FC236}">
                <a16:creationId xmlns:a16="http://schemas.microsoft.com/office/drawing/2014/main" id="{11EB1FFE-6BC6-4224-844D-B4A84AFF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[R10] Bolt, Press Releases, 2026-10-23 확인: https://bolt.eu/en/blog/category/press-releases/</a:t>
            </a:r>
            <a:endParaRPr sz="1050"/>
          </a:p>
        </p:txBody>
      </p:sp>
      <p:sp>
        <p:nvSpPr>
          <p:cNvPr id="1744" name="Reference marker 12-3">
            <a:extLst xmlns:a="http://schemas.openxmlformats.org/drawingml/2006/main">
              <a:ext uri="{FF2B5EF4-FFF2-40B4-BE49-F238E27FC236}">
                <a16:creationId xmlns:a16="http://schemas.microsoft.com/office/drawing/2014/main" id="{43BADAE3-3257-4908-B89A-E76C5EC9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38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45" name="Reference text 12-3">
            <a:extLst xmlns:a="http://schemas.openxmlformats.org/drawingml/2006/main">
              <a:ext uri="{FF2B5EF4-FFF2-40B4-BE49-F238E27FC236}">
                <a16:creationId xmlns:a16="http://schemas.microsoft.com/office/drawing/2014/main" id="{F1CCB076-48EB-4AE7-BCE5-2161D7D5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38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[R11] Mobileye, News Releases, 2026-10-23 확인: https://ir.mobileye.com/news-events/news-releases</a:t>
            </a:r>
            <a:endParaRPr sz="1050"/>
          </a:p>
        </p:txBody>
      </p:sp>
      <p:sp>
        <p:nvSpPr>
          <p:cNvPr id="1746" name="Reference marker 12-4">
            <a:extLst xmlns:a="http://schemas.openxmlformats.org/drawingml/2006/main">
              <a:ext uri="{FF2B5EF4-FFF2-40B4-BE49-F238E27FC236}">
                <a16:creationId xmlns:a16="http://schemas.microsoft.com/office/drawing/2014/main" id="{EE8D1A8F-B61F-4438-A6FF-C2545C9F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94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47" name="Reference text 12-4">
            <a:extLst xmlns:a="http://schemas.openxmlformats.org/drawingml/2006/main">
              <a:ext uri="{FF2B5EF4-FFF2-40B4-BE49-F238E27FC236}">
                <a16:creationId xmlns:a16="http://schemas.microsoft.com/office/drawing/2014/main" id="{3618CD8F-28D9-4068-A11E-1A1D355E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94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[R12] 카카오모빌리티, 뉴스룸, 2026-10-23 확인: https://www.kakaomobility.com/newsroom/news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3705506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60" name="Reference title 13">
            <a:extLst xmlns:a="http://schemas.openxmlformats.org/drawingml/2006/main">
              <a:ext uri="{FF2B5EF4-FFF2-40B4-BE49-F238E27FC236}">
                <a16:creationId xmlns:a16="http://schemas.microsoft.com/office/drawing/2014/main" id="{D8146F54-E77A-42EB-8E64-98D9DD0B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61" name="Reference subtitle 13">
            <a:extLst xmlns:a="http://schemas.openxmlformats.org/drawingml/2006/main">
              <a:ext uri="{FF2B5EF4-FFF2-40B4-BE49-F238E27FC236}">
                <a16:creationId xmlns:a16="http://schemas.microsoft.com/office/drawing/2014/main" id="{DC3B56B1-FDC1-4C83-870A-BA6D0765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13–16</a:t>
            </a:r>
            <a:endParaRPr sz="1500"/>
          </a:p>
        </p:txBody>
      </p:sp>
      <p:sp>
        <p:nvSpPr>
          <p:cNvPr id="1760" name="Reference marker 13-1">
            <a:extLst xmlns:a="http://schemas.openxmlformats.org/drawingml/2006/main">
              <a:ext uri="{FF2B5EF4-FFF2-40B4-BE49-F238E27FC236}">
                <a16:creationId xmlns:a16="http://schemas.microsoft.com/office/drawing/2014/main" id="{339BD6AB-C8AD-4139-A53E-9CE963B1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61" name="Reference text 13-1">
            <a:extLst xmlns:a="http://schemas.openxmlformats.org/drawingml/2006/main">
              <a:ext uri="{FF2B5EF4-FFF2-40B4-BE49-F238E27FC236}">
                <a16:creationId xmlns:a16="http://schemas.microsoft.com/office/drawing/2014/main" id="{663E0D4A-EF50-4B36-8B79-08F18F7E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[R13] 쏘카, 공식 블로그, 2026-10-23 확인: https://www.socarcorp.kr/blog</a:t>
            </a:r>
            <a:endParaRPr sz="1050"/>
          </a:p>
        </p:txBody>
      </p:sp>
      <p:sp>
        <p:nvSpPr>
          <p:cNvPr id="1762" name="Reference marker 13-2">
            <a:extLst xmlns:a="http://schemas.openxmlformats.org/drawingml/2006/main">
              <a:ext uri="{FF2B5EF4-FFF2-40B4-BE49-F238E27FC236}">
                <a16:creationId xmlns:a16="http://schemas.microsoft.com/office/drawing/2014/main" id="{90393B8D-AA0A-4E23-BE0A-AE6E287A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63" name="Reference text 13-2">
            <a:extLst xmlns:a="http://schemas.openxmlformats.org/drawingml/2006/main">
              <a:ext uri="{FF2B5EF4-FFF2-40B4-BE49-F238E27FC236}">
                <a16:creationId xmlns:a16="http://schemas.microsoft.com/office/drawing/2014/main" id="{5D5E008B-CBD1-4337-B488-C3BC711F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[R14] May Mobility, Company News, 2026-10-23 확인: https://maymobility.com/posts/type/company-news</a:t>
            </a:r>
            <a:endParaRPr sz="1050"/>
          </a:p>
        </p:txBody>
      </p:sp>
      <p:sp>
        <p:nvSpPr>
          <p:cNvPr id="1764" name="Reference marker 13-3">
            <a:extLst xmlns:a="http://schemas.openxmlformats.org/drawingml/2006/main">
              <a:ext uri="{FF2B5EF4-FFF2-40B4-BE49-F238E27FC236}">
                <a16:creationId xmlns:a16="http://schemas.microsoft.com/office/drawing/2014/main" id="{5F786F5D-D74B-410B-9084-F5CA33F9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38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65" name="Reference text 13-3">
            <a:extLst xmlns:a="http://schemas.openxmlformats.org/drawingml/2006/main">
              <a:ext uri="{FF2B5EF4-FFF2-40B4-BE49-F238E27FC236}">
                <a16:creationId xmlns:a16="http://schemas.microsoft.com/office/drawing/2014/main" id="{F29A1040-9A01-40B6-B932-41402015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38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[R15] May Mobility·SEC, Business combination announcement, Exhibit 99.1, 2026-09-16: https://www.sec.gov/Archives/edgar/data/2111542/000121390026100367/ea030470201ex99-1.htm</a:t>
            </a:r>
            <a:endParaRPr sz="1050"/>
          </a:p>
        </p:txBody>
      </p:sp>
      <p:sp>
        <p:nvSpPr>
          <p:cNvPr id="1766" name="Reference marker 13-4">
            <a:extLst xmlns:a="http://schemas.openxmlformats.org/drawingml/2006/main">
              <a:ext uri="{FF2B5EF4-FFF2-40B4-BE49-F238E27FC236}">
                <a16:creationId xmlns:a16="http://schemas.microsoft.com/office/drawing/2014/main" id="{E1D678A0-3F74-4C48-821C-AC8D1FF4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94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67" name="Reference text 13-4">
            <a:extLst xmlns:a="http://schemas.openxmlformats.org/drawingml/2006/main">
              <a:ext uri="{FF2B5EF4-FFF2-40B4-BE49-F238E27FC236}">
                <a16:creationId xmlns:a16="http://schemas.microsoft.com/office/drawing/2014/main" id="{3508F99E-C4EB-4FBC-AC8C-495852A0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94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[R16] NTT Mobility, 나고야 자율주행·온디맨드 실증 개시, 2026-08-12: https://www.ntt-mobility.com/news/20260812/newsrelease-260812/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9231294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0" name="Reference title 14">
            <a:extLst xmlns:a="http://schemas.openxmlformats.org/drawingml/2006/main">
              <a:ext uri="{FF2B5EF4-FFF2-40B4-BE49-F238E27FC236}">
                <a16:creationId xmlns:a16="http://schemas.microsoft.com/office/drawing/2014/main" id="{7B9F562B-4F0D-43A4-8164-A3746454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81" name="Reference subtitle 14">
            <a:extLst xmlns:a="http://schemas.openxmlformats.org/drawingml/2006/main">
              <a:ext uri="{FF2B5EF4-FFF2-40B4-BE49-F238E27FC236}">
                <a16:creationId xmlns:a16="http://schemas.microsoft.com/office/drawing/2014/main" id="{4A2C87AE-1D02-4EF6-B463-85B7F639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17–20</a:t>
            </a:r>
            <a:endParaRPr sz="1500"/>
          </a:p>
        </p:txBody>
      </p:sp>
      <p:sp>
        <p:nvSpPr>
          <p:cNvPr id="1780" name="Reference marker 14-1">
            <a:extLst xmlns:a="http://schemas.openxmlformats.org/drawingml/2006/main">
              <a:ext uri="{FF2B5EF4-FFF2-40B4-BE49-F238E27FC236}">
                <a16:creationId xmlns:a16="http://schemas.microsoft.com/office/drawing/2014/main" id="{D2867F3B-1B2A-464E-9547-26E80280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81" name="Reference text 14-1">
            <a:extLst xmlns:a="http://schemas.openxmlformats.org/drawingml/2006/main">
              <a:ext uri="{FF2B5EF4-FFF2-40B4-BE49-F238E27FC236}">
                <a16:creationId xmlns:a16="http://schemas.microsoft.com/office/drawing/2014/main" id="{94805AF6-5F5F-4B51-9F75-3873B2FF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[R17] May Mobility, First Responder Interaction Protocol: Atlanta, 게시일 미표기·2026-10-23 확인: https://maymobility.com/first-responders/frip-atlanta-georgia</a:t>
            </a:r>
            <a:endParaRPr sz="1050"/>
          </a:p>
        </p:txBody>
      </p:sp>
      <p:sp>
        <p:nvSpPr>
          <p:cNvPr id="1782" name="Reference marker 14-2">
            <a:extLst xmlns:a="http://schemas.openxmlformats.org/drawingml/2006/main">
              <a:ext uri="{FF2B5EF4-FFF2-40B4-BE49-F238E27FC236}">
                <a16:creationId xmlns:a16="http://schemas.microsoft.com/office/drawing/2014/main" id="{833A2EE4-6BBB-425D-BBA5-8890A1DA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83" name="Reference text 14-2">
            <a:extLst xmlns:a="http://schemas.openxmlformats.org/drawingml/2006/main">
              <a:ext uri="{FF2B5EF4-FFF2-40B4-BE49-F238E27FC236}">
                <a16:creationId xmlns:a16="http://schemas.microsoft.com/office/drawing/2014/main" id="{587D0E97-91E2-4668-AFA9-C73FCA9F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[R18] May Mobility, May Mobility launches New AV Architecture, 2026-05-20: https://maymobility.com/posts/may-mobility-launches-new-av-architecture/</a:t>
            </a:r>
            <a:endParaRPr sz="1050"/>
          </a:p>
        </p:txBody>
      </p:sp>
      <p:sp>
        <p:nvSpPr>
          <p:cNvPr id="1784" name="Reference marker 14-3">
            <a:extLst xmlns:a="http://schemas.openxmlformats.org/drawingml/2006/main">
              <a:ext uri="{FF2B5EF4-FFF2-40B4-BE49-F238E27FC236}">
                <a16:creationId xmlns:a16="http://schemas.microsoft.com/office/drawing/2014/main" id="{236A52D4-6BEC-4855-AC03-DBCAA559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0" y="2382012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</a:p>
        </p:txBody>
      </p:sp>
      <p:sp>
        <p:nvSpPr>
          <p:cNvPr id="1785" name="Reference text 14-3">
            <a:extLst xmlns:a="http://schemas.openxmlformats.org/drawingml/2006/main">
              <a:ext uri="{FF2B5EF4-FFF2-40B4-BE49-F238E27FC236}">
                <a16:creationId xmlns:a16="http://schemas.microsoft.com/office/drawing/2014/main" id="{51E30782-B8EF-4DBA-B674-643FDD78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10" y="2382012"/>
            <a:ext cx="8303990" cy="4299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[R19] May Mobility·SEC, Investor presentation, Exhibit 99.2, 2026-09-16: https://www.sec.gov/Archives/edgar/data/2111542/000121390026100367/ea030470201ex99-2.htm</a:t>
            </a:r>
          </a:p>
        </p:txBody>
      </p:sp>
      <p:sp>
        <p:nvSpPr>
          <p:cNvPr id="1786" name="Reference marker 14-4">
            <a:extLst xmlns:a="http://schemas.openxmlformats.org/drawingml/2006/main">
              <a:ext uri="{FF2B5EF4-FFF2-40B4-BE49-F238E27FC236}">
                <a16:creationId xmlns:a16="http://schemas.microsoft.com/office/drawing/2014/main" id="{45388335-3957-4941-8BF5-4ED05E38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0" y="2941987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</a:p>
        </p:txBody>
      </p:sp>
      <p:sp>
        <p:nvSpPr>
          <p:cNvPr id="1787" name="Reference text 14-4">
            <a:extLst xmlns:a="http://schemas.openxmlformats.org/drawingml/2006/main">
              <a:ext uri="{FF2B5EF4-FFF2-40B4-BE49-F238E27FC236}">
                <a16:creationId xmlns:a16="http://schemas.microsoft.com/office/drawing/2014/main" id="{79206FBD-278B-4686-9548-8677086E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10" y="2941987"/>
            <a:ext cx="8303990" cy="4299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[R20] May Mobility, May Mobility and NTT Mobility to Launch First Public Rides on Autonomous e-Palette, 2026-09-03: https://maymobility.com/posts/may-mobility-and-ntt-mobility-to-launch-first-public-rides-on-autonomous-e-palette/</a:t>
            </a:r>
          </a:p>
        </p:txBody>
      </p:sp>
    </p:spTree>
    <p:extLst>
      <p:ext uri="{BB962C8B-B14F-4D97-AF65-F5344CB8AC3E}">
        <p14:creationId xmlns:p14="http://schemas.microsoft.com/office/powerpoint/2010/main" val="79557276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2026-10-22T22:40:41.1670000Z</dcterms:created>
  <dcterms:modified xsi:type="dcterms:W3CDTF">2026-10-22T22:40:41.1670000Z</dcterms:modified>
</coreProperties>
</file>