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b9e97baad42ac" /><Relationship Type="http://schemas.openxmlformats.org/officeDocument/2006/relationships/extended-properties" Target="/docProps/app.xml" Id="Rdff0f3ab803b490c" /><Relationship Type="http://schemas.openxmlformats.org/officeDocument/2006/relationships/officeDocument" Target="/ppt/presentation.xml" Id="Rd976d434ed5248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d40e4d3fc4b1c"/>
  </p:sldMasterIdLst>
  <p:notesMasterIdLst>
    <p:notesMasterId xmlns:r="http://schemas.openxmlformats.org/officeDocument/2006/relationships" r:id="R84874de916da4253"/>
  </p:notesMasterIdLst>
  <p:sldIdLst>
    <p:sldId xmlns:r="http://schemas.openxmlformats.org/officeDocument/2006/relationships" id="256" r:id="R9be1c83117ef4830"/>
    <p:sldId xmlns:r="http://schemas.openxmlformats.org/officeDocument/2006/relationships" id="257" r:id="R3b937b178a7e4131"/>
    <p:sldId xmlns:r="http://schemas.openxmlformats.org/officeDocument/2006/relationships" id="258" r:id="R18e43b91e5aa486a"/>
    <p:sldId xmlns:r="http://schemas.openxmlformats.org/officeDocument/2006/relationships" id="259" r:id="Rfec6c9236c034971"/>
    <p:sldId xmlns:r="http://schemas.openxmlformats.org/officeDocument/2006/relationships" id="260" r:id="Ra960f62646b24f14"/>
    <p:sldId xmlns:r="http://schemas.openxmlformats.org/officeDocument/2006/relationships" id="261" r:id="Rb36875df0e5946d7"/>
    <p:sldId xmlns:r="http://schemas.openxmlformats.org/officeDocument/2006/relationships" id="262" r:id="R1dc24e5b428a4473"/>
    <p:sldId xmlns:r="http://schemas.openxmlformats.org/officeDocument/2006/relationships" id="263" r:id="Ra099d99c7d104fc6"/>
    <p:sldId xmlns:r="http://schemas.openxmlformats.org/officeDocument/2006/relationships" id="264" r:id="R2cb7acf2b9774442"/>
    <p:sldId xmlns:r="http://schemas.openxmlformats.org/officeDocument/2006/relationships" id="265" r:id="Rff1ae72ae10448be"/>
    <p:sldId xmlns:r="http://schemas.openxmlformats.org/officeDocument/2006/relationships" id="266" r:id="Rec3f11eb332a410c"/>
    <p:sldId xmlns:r="http://schemas.openxmlformats.org/officeDocument/2006/relationships" id="267" r:id="Rb1547613cd6e4dc8"/>
    <p:sldId xmlns:r="http://schemas.openxmlformats.org/officeDocument/2006/relationships" id="268" r:id="R88f7f08bc3204a04"/>
    <p:sldId xmlns:r="http://schemas.openxmlformats.org/officeDocument/2006/relationships" id="269" r:id="R52d19fb5b1664c41"/>
  </p:sldIdLst>
  <p:sldSz cx="9334500" cy="5248275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381a6109f44675" /><Relationship Type="http://schemas.openxmlformats.org/officeDocument/2006/relationships/slideMaster" Target="/ppt/slideMasters/slideMaster1.xml" Id="R4add40e4d3fc4b1c" /><Relationship Type="http://schemas.openxmlformats.org/officeDocument/2006/relationships/notesMaster" Target="/ppt/notesMasters/notesMaster1.xml" Id="R84874de916da4253" /><Relationship Type="http://schemas.openxmlformats.org/officeDocument/2006/relationships/presProps" Target="/ppt/presProps.xml" Id="R1ece16378c1f4b59" /><Relationship Type="http://schemas.openxmlformats.org/officeDocument/2006/relationships/viewProps" Target="/ppt/viewProps.xml" Id="Re06fc90fb9ff454c" /><Relationship Type="http://schemas.openxmlformats.org/officeDocument/2006/relationships/tableStyles" Target="/ppt/tableStyles.xml" Id="R73f70570ccdc42ca" /><Relationship Type="http://schemas.openxmlformats.org/officeDocument/2006/relationships/slide" Target="/ppt/slides/slide1.xml" Id="R9be1c83117ef4830" /><Relationship Type="http://schemas.openxmlformats.org/officeDocument/2006/relationships/slide" Target="/ppt/slides/slide2.xml" Id="R3b937b178a7e4131" /><Relationship Type="http://schemas.openxmlformats.org/officeDocument/2006/relationships/slide" Target="/ppt/slides/slide3.xml" Id="R18e43b91e5aa486a" /><Relationship Type="http://schemas.openxmlformats.org/officeDocument/2006/relationships/slide" Target="/ppt/slides/slide4.xml" Id="Rfec6c9236c034971" /><Relationship Type="http://schemas.openxmlformats.org/officeDocument/2006/relationships/slide" Target="/ppt/slides/slide5.xml" Id="Ra960f62646b24f14" /><Relationship Type="http://schemas.openxmlformats.org/officeDocument/2006/relationships/slide" Target="/ppt/slides/slide6.xml" Id="Rb36875df0e5946d7" /><Relationship Type="http://schemas.openxmlformats.org/officeDocument/2006/relationships/slide" Target="/ppt/slides/slide7.xml" Id="R1dc24e5b428a4473" /><Relationship Type="http://schemas.openxmlformats.org/officeDocument/2006/relationships/slide" Target="/ppt/slides/slide8.xml" Id="Ra099d99c7d104fc6" /><Relationship Type="http://schemas.openxmlformats.org/officeDocument/2006/relationships/slide" Target="/ppt/slides/slide9.xml" Id="R2cb7acf2b9774442" /><Relationship Type="http://schemas.openxmlformats.org/officeDocument/2006/relationships/slide" Target="/ppt/slides/slide10.xml" Id="Rff1ae72ae10448be" /><Relationship Type="http://schemas.openxmlformats.org/officeDocument/2006/relationships/slide" Target="/ppt/slides/slide11.xml" Id="Rec3f11eb332a410c" /><Relationship Type="http://schemas.openxmlformats.org/officeDocument/2006/relationships/slide" Target="/ppt/slides/slide12.xml" Id="Rb1547613cd6e4dc8" /><Relationship Type="http://schemas.openxmlformats.org/officeDocument/2006/relationships/slide" Target="/ppt/slides/slide13.xml" Id="R88f7f08bc3204a04" /><Relationship Type="http://schemas.openxmlformats.org/officeDocument/2006/relationships/slide" Target="/ppt/slides/slide14.xml" Id="R52d19fb5b1664c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f08c0ae4f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432e0687f44be" /><Relationship Type="http://schemas.openxmlformats.org/officeDocument/2006/relationships/notesMaster" Target="/ppt/notesMasters/notesMaster1.xml" Id="R638f4ee1158d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b4dc45aa2b47e5" /><Relationship Type="http://schemas.openxmlformats.org/officeDocument/2006/relationships/notesMaster" Target="/ppt/notesMasters/notesMaster1.xml" Id="R39b384b58565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d1ba6bad0d4900" /><Relationship Type="http://schemas.openxmlformats.org/officeDocument/2006/relationships/notesMaster" Target="/ppt/notesMasters/notesMaster1.xml" Id="R735f30a76c0e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c0824dcc0a436a" /><Relationship Type="http://schemas.openxmlformats.org/officeDocument/2006/relationships/notesMaster" Target="/ppt/notesMasters/notesMaster1.xml" Id="R7b83cb5a5733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3c70a1fa84d38" /><Relationship Type="http://schemas.openxmlformats.org/officeDocument/2006/relationships/notesMaster" Target="/ppt/notesMasters/notesMaster1.xml" Id="R6b4fae408121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9b4b3245234a60" /><Relationship Type="http://schemas.openxmlformats.org/officeDocument/2006/relationships/notesMaster" Target="/ppt/notesMasters/notesMaster1.xml" Id="Rf9bbc7086bbc46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37bd0781cf47db" /><Relationship Type="http://schemas.openxmlformats.org/officeDocument/2006/relationships/notesMaster" Target="/ppt/notesMasters/notesMaster1.xml" Id="Rd230430f44e348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4dfac0fd0e4f8f" /><Relationship Type="http://schemas.openxmlformats.org/officeDocument/2006/relationships/notesMaster" Target="/ppt/notesMasters/notesMaster1.xml" Id="Rce7c664c012e4a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1d5c1dbee443a" /><Relationship Type="http://schemas.openxmlformats.org/officeDocument/2006/relationships/notesMaster" Target="/ppt/notesMasters/notesMaster1.xml" Id="Rc35e2b01bb5e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b7eb80998d4910" /><Relationship Type="http://schemas.openxmlformats.org/officeDocument/2006/relationships/notesMaster" Target="/ppt/notesMasters/notesMaster1.xml" Id="Rbd9d8b45d2f741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da4394afed4b51" /><Relationship Type="http://schemas.openxmlformats.org/officeDocument/2006/relationships/notesMaster" Target="/ppt/notesMasters/notesMaster1.xml" Id="Rc338c8aa001744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c1a0afaa654127" /><Relationship Type="http://schemas.openxmlformats.org/officeDocument/2006/relationships/notesMaster" Target="/ppt/notesMasters/notesMaster1.xml" Id="Rbca5715ef81d47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25195606f44a8a" /><Relationship Type="http://schemas.openxmlformats.org/officeDocument/2006/relationships/notesMaster" Target="/ppt/notesMasters/notesMaster1.xml" Id="Rdc0c14b3e57e49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f531f106664d95" /><Relationship Type="http://schemas.openxmlformats.org/officeDocument/2006/relationships/notesMaster" Target="/ppt/notesMasters/notesMaster1.xml" Id="Rd17e47a1dd54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Tesla Robotaxi, Houston bigger service area now live, 2026-10-26 [원문 미확인]: https://x.com/robotaxi/status/2114713219411660978</a:t>
            </a:r>
          </a:p>
          <a:p xmlns:a="http://schemas.openxmlformats.org/drawingml/2006/main">
            <a:r>
              <a:t>[R2] Houston Chronicle, Tesla's robotaxi service expands across parts of Houston, 2026-10-26: https://www.houstonchronicle.com/news/houston-texas/transportation/article/houston-tesla-robotaxi-expansion-22494979.php</a:t>
            </a:r>
          </a:p>
          <a:p xmlns:a="http://schemas.openxmlformats.org/drawingml/2006/main">
            <a:r>
              <a:t>[R3] Uber, Autonomous Articles, 2026-10-27 확인: https://www.uber.com/us/en/newsroom/autonomous/</a:t>
            </a:r>
          </a:p>
          <a:p xmlns:a="http://schemas.openxmlformats.org/drawingml/2006/main">
            <a:r>
              <a:t>[R4] Avride, 공식 홈페이지, 2026-10-27 확인: https://www.avride.ai/</a:t>
            </a:r>
          </a:p>
          <a:p xmlns:a="http://schemas.openxmlformats.org/drawingml/2006/main">
            <a:r>
              <a:t>[R5] Bolt, Press Releases, 2026-10-27 확인: https://bolt.eu/en/blog/category/press-releases/</a:t>
            </a:r>
          </a:p>
          <a:p xmlns:a="http://schemas.openxmlformats.org/drawingml/2006/main">
            <a:r>
              <a:t>[R6] Mobileye, News, 2026-10-27 확인: https://www.mobileye.com/news/</a:t>
            </a:r>
          </a:p>
          <a:p xmlns:a="http://schemas.openxmlformats.org/drawingml/2006/main">
            <a:r>
              <a:t>[R7] 카카오모빌리티, 뉴스룸, 2026-10-27 확인: https://www.kakaomobility.com/newsroom/news</a:t>
            </a:r>
          </a:p>
          <a:p xmlns:a="http://schemas.openxmlformats.org/drawingml/2006/main">
            <a:r>
              <a:t>[R8] 쏘카, 공식 블로그, 2026-10-27 확인: https://www.socarcorp.kr/blog</a:t>
            </a:r>
          </a:p>
          <a:p xmlns:a="http://schemas.openxmlformats.org/drawingml/2006/main">
            <a:r>
              <a:t>[R9] May Mobility, Company News, 2026-10-27 확인: https://maymobility.com/posts/type/company-news</a:t>
            </a:r>
          </a:p>
          <a:p xmlns:a="http://schemas.openxmlformats.org/drawingml/2006/main">
            <a:r>
              <a:t>[R10] California DMV, Autonomous Vehicle Permit Holders, 2026-10-21·22 갱신·2026-10-27 확인: https://qr.dmv.ca.gov/portal/vehicle-industry-services/autonomous-vehicles/autonomous-vehicle-testing-permit-holders/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Tesla Robotaxi, Houston bigger service area now live, 2026-10-26 [원문 미확인]: https://x.com/robotaxi/status/2114713219411660978</a:t>
            </a:r>
          </a:p>
          <a:p xmlns:a="http://schemas.openxmlformats.org/drawingml/2006/main">
            <a:r>
              <a:t>[R2] Houston Chronicle, Tesla's robotaxi service expands across parts of Houston, 2026-10-26: https://www.houstonchronicle.com/news/houston-texas/transportation/article/houston-tesla-robotaxi-expansion-22494979.php</a:t>
            </a:r>
          </a:p>
          <a:p xmlns:a="http://schemas.openxmlformats.org/drawingml/2006/main">
            <a:r>
              <a:t>[R17] Channel NewsAsia·Reuters, Tesla expands robotaxi service to Dallas, Houston, 2026-04-19: https://www.channelnewsasia.com/business/tesla-expands-robotaxi-service-dallas-houston-6065716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Tesla Robotaxi, Houston bigger service area now live, 2026-10-26 [원문 미확인]: https://x.com/robotaxi/status/2114713219411660978</a:t>
            </a:r>
          </a:p>
          <a:p xmlns:a="http://schemas.openxmlformats.org/drawingml/2006/main">
            <a:r>
              <a:t>[R2] Houston Chronicle, Tesla's robotaxi service expands across parts of Houston, 2026-10-26: https://www.houstonchronicle.com/news/houston-texas/transportation/article/houston-tesla-robotaxi-expansion-22494979.php</a:t>
            </a:r>
          </a:p>
          <a:p xmlns:a="http://schemas.openxmlformats.org/drawingml/2006/main">
            <a:r>
              <a:t>[R17] Channel NewsAsia·Reuters, Tesla expands robotaxi service to Dallas, Houston, 2026-04-19: https://www.channelnewsasia.com/business/tesla-expands-robotaxi-service-dallas-houston-6065716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[R3] Uber, Autonomous Articles, 2026-10-27 확인: https://www.uber.com/us/en/newsroom/autonomous/</a:t>
            </a:r>
          </a:p>
          <a:p xmlns:a="http://schemas.openxmlformats.org/drawingml/2006/main">
            <a:r>
              <a:t>[R4] Avride, 공식 홈페이지, 2026-10-27 확인: https://www.avride.ai/</a:t>
            </a:r>
          </a:p>
          <a:p xmlns:a="http://schemas.openxmlformats.org/drawingml/2006/main">
            <a:r>
              <a:t>[R5] Bolt, Press Releases, 2026-10-27 확인: https://bolt.eu/en/blog/category/press-releases/</a:t>
            </a:r>
          </a:p>
          <a:p xmlns:a="http://schemas.openxmlformats.org/drawingml/2006/main">
            <a:r>
              <a:t>[R6] Mobileye, News, 2026-10-27 확인: https://www.mobileye.com/news/</a:t>
            </a:r>
          </a:p>
          <a:p xmlns:a="http://schemas.openxmlformats.org/drawingml/2006/main">
            <a:r>
              <a:t>[R7] 카카오모빌리티, 뉴스룸, 2026-10-27 확인: https://www.kakaomobility.com/newsroom/news</a:t>
            </a:r>
          </a:p>
          <a:p xmlns:a="http://schemas.openxmlformats.org/drawingml/2006/main">
            <a:r>
              <a:t>[R8] 쏘카, 공식 블로그, 2026-10-27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2026-10-27 확인: https://maymobility.com/posts/type/company-news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[R20]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[R10] California DMV, Autonomous Vehicle Permit Holders, 2026-10-21·22 갱신·2026-10-27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[R13] May Mobility, First Responder Interaction Protocol: Atlanta, 게시일 미표기·2026-10-27 확인: https://maymobility.com/first-responders/frip-atlanta-georgia</a:t>
            </a:r>
          </a:p>
          <a:p xmlns:a="http://schemas.openxmlformats.org/drawingml/2006/main">
            <a:r>
              <a:t>[R14]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[R17] Channel NewsAsia·Reuters, Tesla expands robotaxi service to Dallas, Houston, 2026-04-19: https://www.channelnewsasia.com/business/tesla-expands-robotaxi-service-dallas-houston-6065716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2026-10-27 확인: https://maymobility.com/posts/type/company-news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[R18]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[R19]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[R20]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Tesla Robotaxi, Houston bigger service area now live, 2026-10-26 [원문 미확인]: https://x.com/robotaxi/status/2114713219411660978</a:t>
            </a:r>
          </a:p>
          <a:p xmlns:a="http://schemas.openxmlformats.org/drawingml/2006/main">
            <a:r>
              <a:t>[R2] Houston Chronicle, Tesla's robotaxi service expands across parts of Houston, 2026-10-26: https://www.houstonchronicle.com/news/houston-texas/transportation/article/houston-tesla-robotaxi-expansion-22494979.php</a:t>
            </a:r>
          </a:p>
          <a:p xmlns:a="http://schemas.openxmlformats.org/drawingml/2006/main">
            <a:r>
              <a:t>[R3] Uber, Autonomous Articles, 2026-10-27 확인: https://www.uber.com/us/en/newsroom/autonomous/</a:t>
            </a:r>
          </a:p>
          <a:p xmlns:a="http://schemas.openxmlformats.org/drawingml/2006/main">
            <a:r>
              <a:t>[R4] Avride, 공식 홈페이지, 2026-10-27 확인: https://www.avride.ai/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[R5] Bolt, Press Releases, 2026-10-27 확인: https://bolt.eu/en/blog/category/press-releases/</a:t>
            </a:r>
          </a:p>
          <a:p xmlns:a="http://schemas.openxmlformats.org/drawingml/2006/main">
            <a:r>
              <a:t>[R6] Mobileye, News, 2026-10-27 확인: https://www.mobileye.com/news/</a:t>
            </a:r>
          </a:p>
          <a:p xmlns:a="http://schemas.openxmlformats.org/drawingml/2006/main">
            <a:r>
              <a:t>[R7] 카카오모빌리티, 뉴스룸, 2026-10-27 확인: https://www.kakaomobility.com/newsroom/news</a:t>
            </a:r>
          </a:p>
          <a:p xmlns:a="http://schemas.openxmlformats.org/drawingml/2006/main">
            <a:r>
              <a:t>[R8] 쏘카, 공식 블로그, 2026-10-27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2026-10-27 확인: https://maymobility.com/posts/type/company-news</a:t>
            </a:r>
          </a:p>
          <a:p xmlns:a="http://schemas.openxmlformats.org/drawingml/2006/main">
            <a:r>
              <a:t>[R10] California DMV, Autonomous Vehicle Permit Holders, 2026-10-21·22 갱신·2026-10-27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May Mobility, First Responder Interaction Protocol: Atlanta, 게시일 미표기·2026-10-27 확인: https://maymobility.com/first-responders/frip-atlanta-georgia</a:t>
            </a:r>
          </a:p>
          <a:p xmlns:a="http://schemas.openxmlformats.org/drawingml/2006/main">
            <a:r>
              <a:t>[R14]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[R17] Channel NewsAsia·Reuters, Tesla expands robotaxi service to Dallas, Houston, 2026-04-19: https://www.channelnewsasia.com/business/tesla-expands-robotaxi-service-dallas-houston-6065716</a:t>
            </a:r>
          </a:p>
          <a:p xmlns:a="http://schemas.openxmlformats.org/drawingml/2006/main">
            <a:r>
              <a:t>[R18]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[R19]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[R20]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a739fdb0949c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59f702a1fc4b01" /><Relationship Type="http://schemas.openxmlformats.org/officeDocument/2006/relationships/slideLayout" Target="/ppt/slideLayouts/slideLayout1.xml" Id="R6293281833034a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3281833034a5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725e3654c4a05" /><Relationship Type="http://schemas.openxmlformats.org/officeDocument/2006/relationships/notesSlide" Target="/ppt/notesSlides/notesSlide1.xml" Id="R02a17de29951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75363912f4d1b" /><Relationship Type="http://schemas.openxmlformats.org/officeDocument/2006/relationships/notesSlide" Target="/ppt/notesSlides/notesSlide2.xml" Id="R493f68eb8217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dc5b32aba4b62" /><Relationship Type="http://schemas.openxmlformats.org/officeDocument/2006/relationships/notesSlide" Target="/ppt/notesSlides/notesSlide3.xml" Id="R496bc4d00594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c91e4a71443b" /><Relationship Type="http://schemas.openxmlformats.org/officeDocument/2006/relationships/notesSlide" Target="/ppt/notesSlides/notesSlide4.xml" Id="R4be50c937360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161d6aa3b47b8" /><Relationship Type="http://schemas.openxmlformats.org/officeDocument/2006/relationships/notesSlide" Target="/ppt/notesSlides/notesSlide5.xml" Id="R8fcdd330bffc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7f950f0004f3d" /><Relationship Type="http://schemas.openxmlformats.org/officeDocument/2006/relationships/notesSlide" Target="/ppt/notesSlides/notesSlide6.xml" Id="R4a829d72b512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77a5bf0cb45b4" /><Relationship Type="http://schemas.openxmlformats.org/officeDocument/2006/relationships/notesSlide" Target="/ppt/notesSlides/notesSlide7.xml" Id="R7c7ed450a9dd4f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7404e92f14969" /><Relationship Type="http://schemas.openxmlformats.org/officeDocument/2006/relationships/notesSlide" Target="/ppt/notesSlides/notesSlide8.xml" Id="Ra8f15274902c42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7b9d0770542dc" /><Relationship Type="http://schemas.openxmlformats.org/officeDocument/2006/relationships/notesSlide" Target="/ppt/notesSlides/notesSlide9.xml" Id="R59194ed3cb3442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1a3c1103f45ec" /><Relationship Type="http://schemas.openxmlformats.org/officeDocument/2006/relationships/notesSlide" Target="/ppt/notesSlides/notesSlide10.xml" Id="R457f7797ccb7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0cc8c95f44ec7" /><Relationship Type="http://schemas.openxmlformats.org/officeDocument/2006/relationships/notesSlide" Target="/ppt/notesSlides/notesSlide11.xml" Id="R8a8f5f5a12374f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e6174eb4b4d21" /><Relationship Type="http://schemas.openxmlformats.org/officeDocument/2006/relationships/notesSlide" Target="/ppt/notesSlides/notesSlide12.xml" Id="R9b85ce3ed67f46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78584e03b463d" /><Relationship Type="http://schemas.openxmlformats.org/officeDocument/2006/relationships/notesSlide" Target="/ppt/notesSlides/notesSlide13.xml" Id="R43db4b7f360944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6704733204e20" /><Relationship Type="http://schemas.openxmlformats.org/officeDocument/2006/relationships/notesSlide" Target="/ppt/notesSlides/notesSlide14.xml" Id="R94ffcbd8ee984d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DA4E9C-F60E-44B8-B84D-F506D2E7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Executive Summary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4E181D-230A-4774-9C89-72B0DE2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2026-10-27 · Tesla 휴스턴 무인 로보택시 운행구역 확대</a:t>
            </a:r>
            <a:endParaRPr sz="1500"/>
          </a:p>
        </p:txBody>
      </p:sp>
      <p:sp>
        <p:nvSpPr>
          <p:cNvPr id="1030" name="Bullet marker 1-1">
            <a:extLst xmlns:a="http://schemas.openxmlformats.org/drawingml/2006/main">
              <a:ext uri="{FF2B5EF4-FFF2-40B4-BE49-F238E27FC236}">
                <a16:creationId xmlns:a16="http://schemas.microsoft.com/office/drawing/2014/main" id="{AF4ADB60-9EC7-4A4E-9D8F-8DC6E03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1" name="Bullet text 1-1">
            <a:extLst xmlns:a="http://schemas.openxmlformats.org/drawingml/2006/main">
              <a:ext uri="{FF2B5EF4-FFF2-40B4-BE49-F238E27FC236}">
                <a16:creationId xmlns:a16="http://schemas.microsoft.com/office/drawing/2014/main" id="{E99AC60D-869D-4297-9278-C25D91A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00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[신규·상용/무인] Tesla: 10월 26일 Houston 로보택시 구역을 Jersey Village에서 도심·Montrose·Midtown 등으로 확대했다. 운전자·전좌석 안전요원 없는 상용 운행이다. [R1] [R2]</a:t>
            </a:r>
            <a:endParaRPr sz="1500"/>
          </a:p>
        </p:txBody>
      </p:sp>
      <p:sp>
        <p:nvSpPr>
          <p:cNvPr id="1032" name="Bullet marker 1-2">
            <a:extLst xmlns:a="http://schemas.openxmlformats.org/drawingml/2006/main">
              <a:ext uri="{FF2B5EF4-FFF2-40B4-BE49-F238E27FC236}">
                <a16:creationId xmlns:a16="http://schemas.microsoft.com/office/drawing/2014/main" id="{8BC6830F-0B9E-46BE-80E2-DF2C201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666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3" name="Bullet text 1-2">
            <a:extLst xmlns:a="http://schemas.openxmlformats.org/drawingml/2006/main">
              <a:ext uri="{FF2B5EF4-FFF2-40B4-BE49-F238E27FC236}">
                <a16:creationId xmlns:a16="http://schemas.microsoft.com/office/drawing/2014/main" id="{05F455D4-6202-4B87-A7B6-6EA9E3C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6666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출처 확인: 공식 X는 [원문 미확인]이며, 공개 기사로 게시일·지도·운행구역을 확인했다. [R1] [R2]</a:t>
            </a:r>
            <a:endParaRPr sz="1500"/>
          </a:p>
        </p:txBody>
      </p:sp>
      <p:sp>
        <p:nvSpPr>
          <p:cNvPr id="1034" name="Bullet marker 1-3">
            <a:extLst xmlns:a="http://schemas.openxmlformats.org/drawingml/2006/main">
              <a:ext uri="{FF2B5EF4-FFF2-40B4-BE49-F238E27FC236}">
                <a16:creationId xmlns:a16="http://schemas.microsoft.com/office/drawing/2014/main" id="{D36BA013-E568-4C5C-8B1C-3E809B6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333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5" name="Bullet text 1-3">
            <a:extLst xmlns:a="http://schemas.openxmlformats.org/drawingml/2006/main">
              <a:ext uri="{FF2B5EF4-FFF2-40B4-BE49-F238E27FC236}">
                <a16:creationId xmlns:a16="http://schemas.microsoft.com/office/drawing/2014/main" id="{7E912DDD-2F2F-4407-B647-2308511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332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운영 변화: 실행된 서비스 지역 확대다. 차량 수·신규 허가·전체 구역 면적은 공개되지 않았다. [R2]</a:t>
            </a:r>
            <a:endParaRPr sz="1500"/>
          </a:p>
        </p:txBody>
      </p:sp>
      <p:sp>
        <p:nvSpPr>
          <p:cNvPr id="1036" name="Bullet marker 1-4">
            <a:extLst xmlns:a="http://schemas.openxmlformats.org/drawingml/2006/main">
              <a:ext uri="{FF2B5EF4-FFF2-40B4-BE49-F238E27FC236}">
                <a16:creationId xmlns:a16="http://schemas.microsoft.com/office/drawing/2014/main" id="{344F3B2C-9864-45C8-98A5-93EF9EC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9998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7" name="Bullet text 1-4">
            <a:extLst xmlns:a="http://schemas.openxmlformats.org/drawingml/2006/main">
              <a:ext uri="{FF2B5EF4-FFF2-40B4-BE49-F238E27FC236}">
                <a16:creationId xmlns:a16="http://schemas.microsoft.com/office/drawing/2014/main" id="{A18B9ACA-5BDC-42D5-BBAE-B562262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9998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지정 6개사: 모두 신규 L4 운행·허가·무인 전환 확인 사항 없음. [R3] [R4] [R5] [R6] [R7] [R8]</a:t>
            </a:r>
            <a:endParaRPr sz="1500"/>
          </a:p>
        </p:txBody>
      </p:sp>
      <p:sp>
        <p:nvSpPr>
          <p:cNvPr id="1038" name="Bullet marker 1-5">
            <a:extLst xmlns:a="http://schemas.openxmlformats.org/drawingml/2006/main">
              <a:ext uri="{FF2B5EF4-FFF2-40B4-BE49-F238E27FC236}">
                <a16:creationId xmlns:a16="http://schemas.microsoft.com/office/drawing/2014/main" id="{A69AC049-7EE5-46EE-ACF4-2C00F1D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6664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9" name="Bullet text 1-5">
            <a:extLst xmlns:a="http://schemas.openxmlformats.org/drawingml/2006/main">
              <a:ext uri="{FF2B5EF4-FFF2-40B4-BE49-F238E27FC236}">
                <a16:creationId xmlns:a16="http://schemas.microsoft.com/office/drawing/2014/main" id="{4710145A-F083-4AA9-BB5F-2BE7A25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6664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[중복] 이전 보고 2026-10-26 · 신규 확인 사항 없음: 서비스·무인·SPAC 종결 변화 미확인. [R9] [R10]</a:t>
            </a:r>
            <a:endParaRPr sz="1500"/>
          </a:p>
        </p:txBody>
      </p:sp>
      <p:sp>
        <p:nvSpPr>
          <p:cNvPr id="1040" name="Bullet marker 1-6">
            <a:extLst xmlns:a="http://schemas.openxmlformats.org/drawingml/2006/main">
              <a:ext uri="{FF2B5EF4-FFF2-40B4-BE49-F238E27FC236}">
                <a16:creationId xmlns:a16="http://schemas.microsoft.com/office/drawing/2014/main" id="{A6086B9C-0F58-465A-967D-1C2FE52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333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41" name="Bullet text 1-6">
            <a:extLst xmlns:a="http://schemas.openxmlformats.org/drawingml/2006/main">
              <a:ext uri="{FF2B5EF4-FFF2-40B4-BE49-F238E27FC236}">
                <a16:creationId xmlns:a16="http://schemas.microsoft.com/office/drawing/2014/main" id="{9383C0A5-3B17-4965-B0FA-65615B3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333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범위 구분: 신규 규제 결정은 확인되지 않아 지리적 운영 확대만 반영했다. [R2]</a:t>
            </a:r>
            <a:endParaRPr sz="1500"/>
          </a:p>
        </p:txBody>
      </p:sp>
      <p:sp>
        <p:nvSpPr>
          <p:cNvPr id="1042" name="Footer 1">
            <a:extLst xmlns:a="http://schemas.openxmlformats.org/drawingml/2006/main">
              <a:ext uri="{FF2B5EF4-FFF2-40B4-BE49-F238E27FC236}">
                <a16:creationId xmlns:a16="http://schemas.microsoft.com/office/drawing/2014/main" id="{E0DD0FC2-338D-44F2-AD88-D58841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90000"/>
            <a:ext cx="83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기준: 2026-10-27 한국시간 아침. 2026-10-26 발송본과 대조해 May Mobility 외 동일 사건·수치의 재보도를 제외했다.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471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5A59DA-3F6C-441D-8B11-939C8CD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주요 신규 업데이트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8BC213-C8F8-45FB-B695-B9EACA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[신규] Tesla 휴스턴 무인 로보택시 서비스 지역 확대</a:t>
            </a:r>
            <a:endParaRPr sz="1500"/>
          </a:p>
        </p:txBody>
      </p:sp>
      <p:sp>
        <p:nvSpPr>
          <p:cNvPr id="1060" name="Bullet marker 2-1">
            <a:extLst xmlns:a="http://schemas.openxmlformats.org/drawingml/2006/main">
              <a:ext uri="{FF2B5EF4-FFF2-40B4-BE49-F238E27FC236}">
                <a16:creationId xmlns:a16="http://schemas.microsoft.com/office/drawing/2014/main" id="{4255ACCD-AFAA-4C7E-B133-F6B297B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1" name="Bullet text 2-1">
            <a:extLst xmlns:a="http://schemas.openxmlformats.org/drawingml/2006/main">
              <a:ext uri="{FF2B5EF4-FFF2-40B4-BE49-F238E27FC236}">
                <a16:creationId xmlns:a16="http://schemas.microsoft.com/office/drawing/2014/main" id="{715A77BC-72EF-4EAB-8C1D-CBA6204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발표·시행일 2026-10-26 · 단계: 상용/무인: Tesla Robotaxi 계정은 확대 구역이 즉시 이용 가능하다고 게시했고, 현지 매체가 같은 날 실제 서비스 지역 확대를 확인했다. [R1] [R2]</a:t>
            </a:r>
            <a:endParaRPr sz="1500"/>
          </a:p>
        </p:txBody>
      </p:sp>
      <p:sp>
        <p:nvSpPr>
          <p:cNvPr id="1062" name="Bullet marker 2-2">
            <a:extLst xmlns:a="http://schemas.openxmlformats.org/drawingml/2006/main">
              <a:ext uri="{FF2B5EF4-FFF2-40B4-BE49-F238E27FC236}">
                <a16:creationId xmlns:a16="http://schemas.microsoft.com/office/drawing/2014/main" id="{D5291910-2039-4A08-8F51-453C406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3" name="Bullet text 2-2">
            <a:extLst xmlns:a="http://schemas.openxmlformats.org/drawingml/2006/main">
              <a:ext uri="{FF2B5EF4-FFF2-40B4-BE49-F238E27FC236}">
                <a16:creationId xmlns:a16="http://schemas.microsoft.com/office/drawing/2014/main" id="{C28F41A6-02FA-4769-BB45-7F84E9A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당사자·지역: Tesla의 Houston 서비스는 기존 Jersey Village 인근 약 20제곱마일 구역을 유지하면서 Bellaire·The Heights·Montrose·Midtown·Downtown·East Downtown 일부로 연결됐다. [R2]</a:t>
            </a:r>
            <a:endParaRPr sz="1500"/>
          </a:p>
        </p:txBody>
      </p:sp>
      <p:sp>
        <p:nvSpPr>
          <p:cNvPr id="1064" name="Bullet marker 2-3">
            <a:extLst xmlns:a="http://schemas.openxmlformats.org/drawingml/2006/main">
              <a:ext uri="{FF2B5EF4-FFF2-40B4-BE49-F238E27FC236}">
                <a16:creationId xmlns:a16="http://schemas.microsoft.com/office/drawing/2014/main" id="{E939AC48-0D8F-4B55-8DA1-D617D4A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5" name="Bullet text 2-3">
            <a:extLst xmlns:a="http://schemas.openxmlformats.org/drawingml/2006/main">
              <a:ext uri="{FF2B5EF4-FFF2-40B4-BE49-F238E27FC236}">
                <a16:creationId xmlns:a16="http://schemas.microsoft.com/office/drawing/2014/main" id="{B44A2CCE-B1D6-4B62-9458-475E27B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무인 수준: Houston Chronicle은 Model Y 차량에 인간 운전자와 전좌석 안전요원이 없다고 보도했다. 2026년 4월 Dallas·Houston 개시 당시 공개 보도도 운전자·전좌석 모니터가 없는 운행을 확인했다. [R2] [R17]</a:t>
            </a:r>
            <a:endParaRPr sz="1500"/>
          </a:p>
        </p:txBody>
      </p:sp>
      <p:sp>
        <p:nvSpPr>
          <p:cNvPr id="1066" name="Bullet marker 2-4">
            <a:extLst xmlns:a="http://schemas.openxmlformats.org/drawingml/2006/main">
              <a:ext uri="{FF2B5EF4-FFF2-40B4-BE49-F238E27FC236}">
                <a16:creationId xmlns:a16="http://schemas.microsoft.com/office/drawing/2014/main" id="{369C9F54-1558-4C99-AAFB-09D4651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7" name="Bullet text 2-4">
            <a:extLst xmlns:a="http://schemas.openxmlformats.org/drawingml/2006/main">
              <a:ext uri="{FF2B5EF4-FFF2-40B4-BE49-F238E27FC236}">
                <a16:creationId xmlns:a16="http://schemas.microsoft.com/office/drawing/2014/main" id="{3D092231-BA32-4455-B0DF-BFEA41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확인되지 않은 것: 확대 구역의 총면적, 추가 차량 수, 일일 유료 운행 건수와 별도의 신규 허가 취득은 공개자료에서 확인되지 않았다. [R2]</a:t>
            </a:r>
            <a:endParaRPr sz="1500"/>
          </a:p>
        </p:txBody>
      </p:sp>
      <p:sp>
        <p:nvSpPr>
          <p:cNvPr id="1068" name="Bullet marker 2-5">
            <a:extLst xmlns:a="http://schemas.openxmlformats.org/drawingml/2006/main">
              <a:ext uri="{FF2B5EF4-FFF2-40B4-BE49-F238E27FC236}">
                <a16:creationId xmlns:a16="http://schemas.microsoft.com/office/drawing/2014/main" id="{2C7F29CC-937A-40CA-BBEE-B1463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9" name="Bullet text 2-5">
            <a:extLst xmlns:a="http://schemas.openxmlformats.org/drawingml/2006/main">
              <a:ext uri="{FF2B5EF4-FFF2-40B4-BE49-F238E27FC236}">
                <a16:creationId xmlns:a16="http://schemas.microsoft.com/office/drawing/2014/main" id="{43A2A93A-8EC9-4756-A421-E982FF4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원문 접근 구분: 공식 X 게시물은 [원문 미확인]으로 표시하고, 공개 기사에서 확인한 구역·운행 수준만 사실로 사용했다. [R1] [R2]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858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FA24D4-2880-4B94-B5D2-D065AB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기업/지역별 상세 내용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3D455-62AE-4FDD-94CE-389D5EF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Tesla · Houston</a:t>
            </a:r>
            <a:endParaRPr sz="1500"/>
          </a:p>
        </p:txBody>
      </p:sp>
      <p:sp>
        <p:nvSpPr>
          <p:cNvPr id="1090" name="Bullet marker 3-1">
            <a:extLst xmlns:a="http://schemas.openxmlformats.org/drawingml/2006/main">
              <a:ext uri="{FF2B5EF4-FFF2-40B4-BE49-F238E27FC236}">
                <a16:creationId xmlns:a16="http://schemas.microsoft.com/office/drawing/2014/main" id="{E9D0C07A-5606-454F-83E6-5CC8C69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1" name="Bullet text 3-1">
            <a:extLst xmlns:a="http://schemas.openxmlformats.org/drawingml/2006/main">
              <a:ext uri="{FF2B5EF4-FFF2-40B4-BE49-F238E27FC236}">
                <a16:creationId xmlns:a16="http://schemas.microsoft.com/office/drawing/2014/main" id="{C3C51FF2-2DD2-471E-A57D-8E1637E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기존 운영: Tesla는 2026년 4월 Houston 북서부에서 로보택시 서비스를 시작했고, 당시 차량은 운전자와 전좌석 안전요원 없이 운행한다고 공개됐다. [R17]</a:t>
            </a:r>
            <a:endParaRPr sz="1500"/>
          </a:p>
        </p:txBody>
      </p:sp>
      <p:sp>
        <p:nvSpPr>
          <p:cNvPr id="1092" name="Bullet marker 3-2">
            <a:extLst xmlns:a="http://schemas.openxmlformats.org/drawingml/2006/main">
              <a:ext uri="{FF2B5EF4-FFF2-40B4-BE49-F238E27FC236}">
                <a16:creationId xmlns:a16="http://schemas.microsoft.com/office/drawing/2014/main" id="{0D7D1E8E-0AF5-4D9D-813D-4E9F8D1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3" name="Bullet text 3-2">
            <a:extLst xmlns:a="http://schemas.openxmlformats.org/drawingml/2006/main">
              <a:ext uri="{FF2B5EF4-FFF2-40B4-BE49-F238E27FC236}">
                <a16:creationId xmlns:a16="http://schemas.microsoft.com/office/drawing/2014/main" id="{D76DA1B6-54CF-44E5-A28B-9BEB7B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이번 변화: 10월 26일 지도상 운행구역이 Jersey Village에서 Houston 중심부와 인접 지역까지 확대됐다. [R1] [R2]</a:t>
            </a:r>
            <a:endParaRPr sz="1500"/>
          </a:p>
        </p:txBody>
      </p:sp>
      <p:sp>
        <p:nvSpPr>
          <p:cNvPr id="1094" name="Bullet marker 3-3">
            <a:extLst xmlns:a="http://schemas.openxmlformats.org/drawingml/2006/main">
              <a:ext uri="{FF2B5EF4-FFF2-40B4-BE49-F238E27FC236}">
                <a16:creationId xmlns:a16="http://schemas.microsoft.com/office/drawing/2014/main" id="{8DF22295-6623-458C-86D2-94AD5D6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5" name="Bullet text 3-3">
            <a:extLst xmlns:a="http://schemas.openxmlformats.org/drawingml/2006/main">
              <a:ext uri="{FF2B5EF4-FFF2-40B4-BE49-F238E27FC236}">
                <a16:creationId xmlns:a16="http://schemas.microsoft.com/office/drawing/2014/main" id="{4CE58A06-73FB-4BDA-A31A-81EE0A7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차량: 현지 보도는 현재 Houston 서비스가 Model Y를 사용한다고 명시했다. [R2]</a:t>
            </a:r>
            <a:endParaRPr sz="1500"/>
          </a:p>
        </p:txBody>
      </p:sp>
      <p:sp>
        <p:nvSpPr>
          <p:cNvPr id="1096" name="Bullet marker 3-4">
            <a:extLst xmlns:a="http://schemas.openxmlformats.org/drawingml/2006/main">
              <a:ext uri="{FF2B5EF4-FFF2-40B4-BE49-F238E27FC236}">
                <a16:creationId xmlns:a16="http://schemas.microsoft.com/office/drawing/2014/main" id="{0C6E00BB-42C6-4E13-BC4C-90FD928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7" name="Bullet text 3-4">
            <a:extLst xmlns:a="http://schemas.openxmlformats.org/drawingml/2006/main">
              <a:ext uri="{FF2B5EF4-FFF2-40B4-BE49-F238E27FC236}">
                <a16:creationId xmlns:a16="http://schemas.microsoft.com/office/drawing/2014/main" id="{EC4432ED-2B23-4E39-AD99-D7C453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상용·무인 구분: 이용자 호출이 가능한 서비스 지역의 실제 확대이며, 단순 시험·계획 발표와 구분된다. [R2]</a:t>
            </a:r>
            <a:endParaRPr sz="1500"/>
          </a:p>
        </p:txBody>
      </p:sp>
      <p:sp>
        <p:nvSpPr>
          <p:cNvPr id="1098" name="Bullet marker 3-5">
            <a:extLst xmlns:a="http://schemas.openxmlformats.org/drawingml/2006/main">
              <a:ext uri="{FF2B5EF4-FFF2-40B4-BE49-F238E27FC236}">
                <a16:creationId xmlns:a16="http://schemas.microsoft.com/office/drawing/2014/main" id="{3A229B9A-B7B1-4F15-BA14-E78B372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9" name="Bullet text 3-5">
            <a:extLst xmlns:a="http://schemas.openxmlformats.org/drawingml/2006/main">
              <a:ext uri="{FF2B5EF4-FFF2-40B4-BE49-F238E27FC236}">
                <a16:creationId xmlns:a16="http://schemas.microsoft.com/office/drawing/2014/main" id="{421F8A5A-AE8E-41EB-BB44-44C5F12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미확인 사항: 전체 차량 규모, 각 지역별 배차 가능 시간, 원격지원 운영 방식과 신규 규제 승인 여부는 공개되지 않았다. [R2]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952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9A1F5D-4660-4D9F-8BF3-03C2A1B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지정 6개사 L4 점검</a:t>
            </a:r>
            <a:endParaRPr sz="22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EAAC9F-4705-4999-8D53-5EAC7F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96727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8C8DEF-A1BB-438A-BBD1-F98E95C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74304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40825F-F5B0-4B16-890A-63557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1881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42B6C3-254C-41F8-961D-DB68C06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9458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572343-FA8F-4469-A914-6B3D946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7035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C38B52-8A07-40F8-95F6-C323225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4612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1CF20-3608-41CC-9EF4-2A07C97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2189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09B1E8F-9C38-441D-8E22-D419E98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8876"/>
            <a:ext cx="8588121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75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graphicFrame>
        <p:nvGraphicFramePr>
          <p:cNvPr id="904" name="Editable source table">
            <a:extLst xmlns:a="http://schemas.openxmlformats.org/drawingml/2006/main">
              <a:ext uri="{FF2B5EF4-FFF2-40B4-BE49-F238E27FC236}">
                <a16:creationId xmlns:a16="http://schemas.microsoft.com/office/drawing/2014/main" id="{313DDAC8-2ED5-4AA7-AC22-2BBEA0B3C226}"/>
              </a:ext>
            </a:extLst>
          </p:cNvPr>
          <p:cNvGraphicFramePr/>
          <p:nvPr/>
        </p:nvGraphicFramePr>
        <p:xfrm>
          <a:off xmlns:a="http://schemas.openxmlformats.org/drawingml/2006/main" x="438150" y="823912"/>
          <a:ext xmlns:a="http://schemas.openxmlformats.org/drawingml/2006/main" cx="8458200" cy="264303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보고 이후 확인 결과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출처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Uber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무인 운행·허가·지역 확대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Autonomous Newsroom [R3]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Avride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무인 단계·허가·차량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홈페이지 [R4]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Bolt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대파리 계획 이후 실행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Press Releases [R5]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Mobileye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22일 AEB 인증은 L4 사업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News [R6]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카카오모빌리티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ITS 전시는 신규 L4 운행·허가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뉴스룸 [R7]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쏘카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26일 주차·충전 뉴스는 L4 사업과 무관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블로그 [R8]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6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FDF4F4-39A7-45A2-A263-8B3C8B5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C05E8-69D2-4D67-9FDB-F04D79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2026-10-26 · 신규 확인 사항 없음</a:t>
            </a:r>
            <a:endParaRPr sz="1500"/>
          </a:p>
        </p:txBody>
      </p:sp>
      <p:sp>
        <p:nvSpPr>
          <p:cNvPr id="705" name="Subheading 5">
            <a:extLst xmlns:a="http://schemas.openxmlformats.org/drawingml/2006/main">
              <a:ext uri="{FF2B5EF4-FFF2-40B4-BE49-F238E27FC236}">
                <a16:creationId xmlns:a16="http://schemas.microsoft.com/office/drawing/2014/main" id="{EE4587E3-7390-4D0C-ACF5-932A6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① 실제 서비스 지역</a:t>
            </a:r>
            <a:endParaRPr sz="1500"/>
          </a:p>
        </p:txBody>
      </p:sp>
      <p:sp>
        <p:nvSpPr>
          <p:cNvPr id="1150" name="Bullet marker 5-1">
            <a:extLst xmlns:a="http://schemas.openxmlformats.org/drawingml/2006/main">
              <a:ext uri="{FF2B5EF4-FFF2-40B4-BE49-F238E27FC236}">
                <a16:creationId xmlns:a16="http://schemas.microsoft.com/office/drawing/2014/main" id="{FAA654DF-356E-44FB-80FD-A805F3A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1" name="Bullet text 5-1">
            <a:extLst xmlns:a="http://schemas.openxmlformats.org/drawingml/2006/main">
              <a:ext uri="{FF2B5EF4-FFF2-40B4-BE49-F238E27FC236}">
                <a16:creationId xmlns:a16="http://schemas.microsoft.com/office/drawing/2014/main" id="{C0E9FB4D-F00C-40BA-A18F-9DCB6C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신규 서비스·무인 전환 확인 사항 없음. 회사 뉴스 인덱스의 최신 회사 발표는 2026년 9월 16일 SPAC 공지로 유지됐다. [R9] [R20]</a:t>
            </a:r>
            <a:endParaRPr sz="1500"/>
          </a:p>
        </p:txBody>
      </p:sp>
      <p:sp>
        <p:nvSpPr>
          <p:cNvPr id="1152" name="Bullet marker 5-2">
            <a:extLst xmlns:a="http://schemas.openxmlformats.org/drawingml/2006/main">
              <a:ext uri="{FF2B5EF4-FFF2-40B4-BE49-F238E27FC236}">
                <a16:creationId xmlns:a16="http://schemas.microsoft.com/office/drawing/2014/main" id="{885FB200-15F8-4C98-80FD-76F321F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3" name="Bullet text 5-2">
            <a:extLst xmlns:a="http://schemas.openxmlformats.org/drawingml/2006/main">
              <a:ext uri="{FF2B5EF4-FFF2-40B4-BE49-F238E27FC236}">
                <a16:creationId xmlns:a16="http://schemas.microsoft.com/office/drawing/2014/main" id="{EC4A5819-3298-4011-B4A2-C98EA3F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미국 상용 [중복]: SEC 자료는 Atlanta, Eden Prairie와 Grand Rapids를 상업 운영 지역으로 명시한다. [R11]</a:t>
            </a:r>
            <a:endParaRPr sz="1500"/>
          </a:p>
        </p:txBody>
      </p:sp>
      <p:sp>
        <p:nvSpPr>
          <p:cNvPr id="1154" name="Bullet marker 5-3">
            <a:extLst xmlns:a="http://schemas.openxmlformats.org/drawingml/2006/main">
              <a:ext uri="{FF2B5EF4-FFF2-40B4-BE49-F238E27FC236}">
                <a16:creationId xmlns:a16="http://schemas.microsoft.com/office/drawing/2014/main" id="{78C4460E-C4A6-4128-B4A4-005B074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5" name="Bullet text 5-3">
            <a:extLst xmlns:a="http://schemas.openxmlformats.org/drawingml/2006/main">
              <a:ext uri="{FF2B5EF4-FFF2-40B4-BE49-F238E27FC236}">
                <a16:creationId xmlns:a16="http://schemas.microsoft.com/office/drawing/2014/main" id="{E45870B9-82A0-42DC-929A-DAE85FA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Arlington·Uber [중복]: 개시 목표는 2026년 4분기~2027년 1분기이며, 실제 개시는 추가 확인되지 않았다. [R11] [R15]</a:t>
            </a:r>
            <a:endParaRPr sz="1500"/>
          </a:p>
        </p:txBody>
      </p:sp>
      <p:sp>
        <p:nvSpPr>
          <p:cNvPr id="1156" name="Bullet marker 5-4">
            <a:extLst xmlns:a="http://schemas.openxmlformats.org/drawingml/2006/main">
              <a:ext uri="{FF2B5EF4-FFF2-40B4-BE49-F238E27FC236}">
                <a16:creationId xmlns:a16="http://schemas.microsoft.com/office/drawing/2014/main" id="{9C0A8E78-2914-4DEE-9045-A323078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7" name="Bullet text 5-4">
            <a:extLst xmlns:a="http://schemas.openxmlformats.org/drawingml/2006/main">
              <a:ext uri="{FF2B5EF4-FFF2-40B4-BE49-F238E27FC236}">
                <a16:creationId xmlns:a16="http://schemas.microsoft.com/office/drawing/2014/main" id="{BBECCF03-3FFC-4DBB-98DA-DA83FEC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나고야·e-Palette [중복]: 2026년 9월 11일~2027년 3월 19일 평일 실증으로 차량 3대와 승하차 지점 5곳을 제시했다. 현재 운전석 무인 상용 서비스 개시를 뜻하지 않는다. [R12] [R16]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55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E0098C-93F1-45CC-9D4A-DCD6C46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2026-10-26 · 신규 확인 사항 없음</a:t>
            </a:r>
            <a:endParaRPr sz="1500"/>
          </a:p>
        </p:txBody>
      </p:sp>
      <p:sp>
        <p:nvSpPr>
          <p:cNvPr id="706" name="Subheading 6">
            <a:extLst xmlns:a="http://schemas.openxmlformats.org/drawingml/2006/main">
              <a:ext uri="{FF2B5EF4-FFF2-40B4-BE49-F238E27FC236}">
                <a16:creationId xmlns:a16="http://schemas.microsoft.com/office/drawing/2014/main" id="{6393B169-0136-4077-BF25-C3E87DD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② 안전요원·무인 수준 / 기술·ODD</a:t>
            </a:r>
            <a:endParaRPr sz="1500"/>
          </a:p>
        </p:txBody>
      </p:sp>
      <p:sp>
        <p:nvSpPr>
          <p:cNvPr id="1180" name="Bullet marker 6-1">
            <a:extLst xmlns:a="http://schemas.openxmlformats.org/drawingml/2006/main">
              <a:ext uri="{FF2B5EF4-FFF2-40B4-BE49-F238E27FC236}">
                <a16:creationId xmlns:a16="http://schemas.microsoft.com/office/drawing/2014/main" id="{D4A03F95-5F4A-4BCE-A144-1313D63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1" name="Bullet text 6-1">
            <a:extLst xmlns:a="http://schemas.openxmlformats.org/drawingml/2006/main">
              <a:ext uri="{FF2B5EF4-FFF2-40B4-BE49-F238E27FC236}">
                <a16:creationId xmlns:a16="http://schemas.microsoft.com/office/drawing/2014/main" id="{4BE02B9C-1E49-4911-96AE-FCCD726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California [중복]: DMV의 2026년 10월 21일·22일 갱신 명단에서 May Mobility는 ‘Testing with a Driver’에만 포함되고 무인 시험·배치 명단에는 없다. [R10]</a:t>
            </a:r>
            <a:endParaRPr sz="1500"/>
          </a:p>
        </p:txBody>
      </p:sp>
      <p:sp>
        <p:nvSpPr>
          <p:cNvPr id="1182" name="Bullet marker 6-2">
            <a:extLst xmlns:a="http://schemas.openxmlformats.org/drawingml/2006/main">
              <a:ext uri="{FF2B5EF4-FFF2-40B4-BE49-F238E27FC236}">
                <a16:creationId xmlns:a16="http://schemas.microsoft.com/office/drawing/2014/main" id="{24AB4742-3613-4C47-BC18-FD04A6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3" name="Bullet text 6-2">
            <a:extLst xmlns:a="http://schemas.openxmlformats.org/drawingml/2006/main">
              <a:ext uri="{FF2B5EF4-FFF2-40B4-BE49-F238E27FC236}">
                <a16:creationId xmlns:a16="http://schemas.microsoft.com/office/drawing/2014/main" id="{F6BEE0C4-9ED7-4A7E-979B-9E585C3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Atlanta [중복]: 공식 긴급대응 지침은 Toyota Sienna 운전석 Safety Operator 탑승을 명시한다. [R13]</a:t>
            </a:r>
            <a:endParaRPr sz="1500"/>
          </a:p>
        </p:txBody>
      </p:sp>
      <p:sp>
        <p:nvSpPr>
          <p:cNvPr id="1184" name="Bullet marker 6-3">
            <a:extLst xmlns:a="http://schemas.openxmlformats.org/drawingml/2006/main">
              <a:ext uri="{FF2B5EF4-FFF2-40B4-BE49-F238E27FC236}">
                <a16:creationId xmlns:a16="http://schemas.microsoft.com/office/drawing/2014/main" id="{40AC5E27-3D07-425C-B4EA-2606277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5" name="Bullet text 6-3">
            <a:extLst xmlns:a="http://schemas.openxmlformats.org/drawingml/2006/main">
              <a:ext uri="{FF2B5EF4-FFF2-40B4-BE49-F238E27FC236}">
                <a16:creationId xmlns:a16="http://schemas.microsoft.com/office/drawing/2014/main" id="{38747B8C-CDD9-4BA8-9066-824F38B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 [중복]: 안내문은 향후 승무원 없는 L4를 상정한 실증이며 현재 운전석 무인 허가·달성을 뜻하지 않는다. [R12] [R16]</a:t>
            </a:r>
            <a:endParaRPr sz="1500"/>
          </a:p>
        </p:txBody>
      </p:sp>
      <p:sp>
        <p:nvSpPr>
          <p:cNvPr id="1186" name="Bullet marker 6-4">
            <a:extLst xmlns:a="http://schemas.openxmlformats.org/drawingml/2006/main">
              <a:ext uri="{FF2B5EF4-FFF2-40B4-BE49-F238E27FC236}">
                <a16:creationId xmlns:a16="http://schemas.microsoft.com/office/drawing/2014/main" id="{A4110EA9-991F-42FE-8448-F601175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7" name="Bullet text 6-4">
            <a:extLst xmlns:a="http://schemas.openxmlformats.org/drawingml/2006/main">
              <a:ext uri="{FF2B5EF4-FFF2-40B4-BE49-F238E27FC236}">
                <a16:creationId xmlns:a16="http://schemas.microsoft.com/office/drawing/2014/main" id="{21C1B306-DC74-46D9-8071-5D6001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기술·ODD [중복]: 5세대 구조는 딥러닝, 차량 내 월드 모델과 추론 엔진을 결합한다. 최신 속도·기상·도로별 전체 ODD와 추가 안전요원 철수는 공개자료에서 확인되지 않았다. [R14] [R17]</a:t>
            </a:r>
            <a:endParaRPr sz="15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EAA9C-8716-4B3D-B6DF-22778C2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2991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D41ACF-CC26-432F-BC7B-8E1962B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C17C57-9302-484D-B14F-470BEC6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2026-10-26 · 신규 확인 사항 없음</a:t>
            </a:r>
            <a:endParaRPr sz="1500"/>
          </a:p>
        </p:txBody>
      </p:sp>
      <p:sp>
        <p:nvSpPr>
          <p:cNvPr id="707" name="Subheading 7">
            <a:extLst xmlns:a="http://schemas.openxmlformats.org/drawingml/2006/main">
              <a:ext uri="{FF2B5EF4-FFF2-40B4-BE49-F238E27FC236}">
                <a16:creationId xmlns:a16="http://schemas.microsoft.com/office/drawing/2014/main" id="{50A88524-C980-45A6-9A6A-4DC0ED1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③ 차량·운영 실적 / ④ 투자·SPAC 일정</a:t>
            </a:r>
            <a:endParaRPr sz="1500"/>
          </a:p>
        </p:txBody>
      </p:sp>
      <p:sp>
        <p:nvSpPr>
          <p:cNvPr id="1210" name="Bullet marker 7-1">
            <a:extLst xmlns:a="http://schemas.openxmlformats.org/drawingml/2006/main">
              <a:ext uri="{FF2B5EF4-FFF2-40B4-BE49-F238E27FC236}">
                <a16:creationId xmlns:a16="http://schemas.microsoft.com/office/drawing/2014/main" id="{B66C3604-188E-444B-92F2-C9ECD78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1" name="Bullet text 7-1">
            <a:extLst xmlns:a="http://schemas.openxmlformats.org/drawingml/2006/main">
              <a:ext uri="{FF2B5EF4-FFF2-40B4-BE49-F238E27FC236}">
                <a16:creationId xmlns:a16="http://schemas.microsoft.com/office/drawing/2014/main" id="{6B872026-580F-4957-AE9C-642E2C0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누적 실적 [중복]: 2026년 9월 16일 기준 상업 승차 55만 회 초과, 110만 마일과 driver-out 배치 3건이다. 모든 지역이 무인이라는 뜻은 아니다. [R11]</a:t>
            </a:r>
            <a:endParaRPr sz="1500"/>
          </a:p>
        </p:txBody>
      </p:sp>
      <p:sp>
        <p:nvSpPr>
          <p:cNvPr id="1212" name="Bullet marker 7-2">
            <a:extLst xmlns:a="http://schemas.openxmlformats.org/drawingml/2006/main">
              <a:ext uri="{FF2B5EF4-FFF2-40B4-BE49-F238E27FC236}">
                <a16:creationId xmlns:a16="http://schemas.microsoft.com/office/drawing/2014/main" id="{AC0F9192-947E-4D82-B38E-907281F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3489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3" name="Bullet text 7-2">
            <a:extLst xmlns:a="http://schemas.openxmlformats.org/drawingml/2006/main">
              <a:ext uri="{FF2B5EF4-FFF2-40B4-BE49-F238E27FC236}">
                <a16:creationId xmlns:a16="http://schemas.microsoft.com/office/drawing/2014/main" id="{D039CB3D-A541-42DE-9DE3-25EA319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3489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AaaS [중복]: 파트너가 차량 소유·차고 운영·유지보수를 맡고 May Mobility가 자율주행 기술을 제공하는 모델을 제시한다. [R11] [R15]</a:t>
            </a:r>
            <a:endParaRPr sz="1500"/>
          </a:p>
        </p:txBody>
      </p:sp>
      <p:sp>
        <p:nvSpPr>
          <p:cNvPr id="1214" name="Bullet marker 7-3">
            <a:extLst xmlns:a="http://schemas.openxmlformats.org/drawingml/2006/main">
              <a:ext uri="{FF2B5EF4-FFF2-40B4-BE49-F238E27FC236}">
                <a16:creationId xmlns:a16="http://schemas.microsoft.com/office/drawing/2014/main" id="{92983FEC-583E-49D9-8A42-99D7A7F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11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5" name="Bullet text 7-3">
            <a:extLst xmlns:a="http://schemas.openxmlformats.org/drawingml/2006/main">
              <a:ext uri="{FF2B5EF4-FFF2-40B4-BE49-F238E27FC236}">
                <a16:creationId xmlns:a16="http://schemas.microsoft.com/office/drawing/2014/main" id="{D8CC23E8-88BD-4D96-88B6-3BDBFD9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116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SPAC 발표값 [중복]: 기업가치 약 14억 달러, 최대 조달 3억3,700만 달러와 PIPE 1억2,000만 달러이며 환매·종결 조건의 영향을 받는다. [R11] [R18] [R19] [R20]</a:t>
            </a:r>
            <a:endParaRPr sz="1500"/>
          </a:p>
        </p:txBody>
      </p:sp>
      <p:sp>
        <p:nvSpPr>
          <p:cNvPr id="1216" name="Bullet marker 7-4">
            <a:extLst xmlns:a="http://schemas.openxmlformats.org/drawingml/2006/main">
              <a:ext uri="{FF2B5EF4-FFF2-40B4-BE49-F238E27FC236}">
                <a16:creationId xmlns:a16="http://schemas.microsoft.com/office/drawing/2014/main" id="{A0EC3BBF-C4B5-4B73-B2C9-D763B84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6743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7" name="Bullet text 7-4">
            <a:extLst xmlns:a="http://schemas.openxmlformats.org/drawingml/2006/main">
              <a:ext uri="{FF2B5EF4-FFF2-40B4-BE49-F238E27FC236}">
                <a16:creationId xmlns:a16="http://schemas.microsoft.com/office/drawing/2014/main" id="{060901C9-EABE-4399-B058-8381EB3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6743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종결 목표 [중복]: 투자자 자료는 2027년 1분기를 제시한다. 합병·상장 완료는 추가 확인하지 못했다. [R15]</a:t>
            </a:r>
            <a:endParaRPr sz="1500"/>
          </a:p>
        </p:txBody>
      </p:sp>
      <p:sp>
        <p:nvSpPr>
          <p:cNvPr id="1218" name="Bullet marker 7-5">
            <a:extLst xmlns:a="http://schemas.openxmlformats.org/drawingml/2006/main">
              <a:ext uri="{FF2B5EF4-FFF2-40B4-BE49-F238E27FC236}">
                <a16:creationId xmlns:a16="http://schemas.microsoft.com/office/drawing/2014/main" id="{854DF30B-F301-47CF-B003-C55B3B2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337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9" name="Bullet text 7-5">
            <a:extLst xmlns:a="http://schemas.openxmlformats.org/drawingml/2006/main">
              <a:ext uri="{FF2B5EF4-FFF2-40B4-BE49-F238E27FC236}">
                <a16:creationId xmlns:a16="http://schemas.microsoft.com/office/drawing/2014/main" id="{40CF16FC-D0BE-45C8-B900-AA56D0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337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현대자동차: 신규 직접 계약·차량 적용 근거는 확인되지 않았다. [R9] [R11] [R15]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362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C080AB-C486-4F6E-9E84-ADD39A8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규제·안전</a:t>
            </a:r>
            <a:endParaRPr sz="2250"/>
          </a:p>
        </p:txBody>
      </p:sp>
      <p:sp>
        <p:nvSpPr>
          <p:cNvPr id="1240" name="Bullet marker 8-1">
            <a:extLst xmlns:a="http://schemas.openxmlformats.org/drawingml/2006/main">
              <a:ext uri="{FF2B5EF4-FFF2-40B4-BE49-F238E27FC236}">
                <a16:creationId xmlns:a16="http://schemas.microsoft.com/office/drawing/2014/main" id="{6770C92F-5EDA-4308-A44A-ACC2411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1" name="Bullet text 8-1">
            <a:extLst xmlns:a="http://schemas.openxmlformats.org/drawingml/2006/main">
              <a:ext uri="{FF2B5EF4-FFF2-40B4-BE49-F238E27FC236}">
                <a16:creationId xmlns:a16="http://schemas.microsoft.com/office/drawing/2014/main" id="{A0BDE690-9095-427A-8E35-C45876B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42" name="Bullet marker 8-2">
            <a:extLst xmlns:a="http://schemas.openxmlformats.org/drawingml/2006/main">
              <a:ext uri="{FF2B5EF4-FFF2-40B4-BE49-F238E27FC236}">
                <a16:creationId xmlns:a16="http://schemas.microsoft.com/office/drawing/2014/main" id="{5B5A8FDC-7111-4117-B5F8-3C9483E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3" name="Bullet text 8-2">
            <a:extLst xmlns:a="http://schemas.openxmlformats.org/drawingml/2006/main">
              <a:ext uri="{FF2B5EF4-FFF2-40B4-BE49-F238E27FC236}">
                <a16:creationId xmlns:a16="http://schemas.microsoft.com/office/drawing/2014/main" id="{D53B1FD4-7109-4263-B745-DAE6F87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4" name="Bullet marker 8-3">
            <a:extLst xmlns:a="http://schemas.openxmlformats.org/drawingml/2006/main">
              <a:ext uri="{FF2B5EF4-FFF2-40B4-BE49-F238E27FC236}">
                <a16:creationId xmlns:a16="http://schemas.microsoft.com/office/drawing/2014/main" id="{7183365D-5DE1-472A-A0C0-9DCB2C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5" name="Bullet text 8-3">
            <a:extLst xmlns:a="http://schemas.openxmlformats.org/drawingml/2006/main">
              <a:ext uri="{FF2B5EF4-FFF2-40B4-BE49-F238E27FC236}">
                <a16:creationId xmlns:a16="http://schemas.microsoft.com/office/drawing/2014/main" id="{2F74F247-EE9A-4F17-98E6-ECEB084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6" name="Bullet marker 8-4">
            <a:extLst xmlns:a="http://schemas.openxmlformats.org/drawingml/2006/main">
              <a:ext uri="{FF2B5EF4-FFF2-40B4-BE49-F238E27FC236}">
                <a16:creationId xmlns:a16="http://schemas.microsoft.com/office/drawing/2014/main" id="{E42CE2C3-A214-40C7-94DB-EDC8C26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7" name="Bullet text 8-4">
            <a:extLst xmlns:a="http://schemas.openxmlformats.org/drawingml/2006/main">
              <a:ext uri="{FF2B5EF4-FFF2-40B4-BE49-F238E27FC236}">
                <a16:creationId xmlns:a16="http://schemas.microsoft.com/office/drawing/2014/main" id="{E1A0818E-C85F-4DE1-B2E2-70AB4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468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B871FC-5CB1-432D-ACA7-A62F2B6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기술·공급망</a:t>
            </a:r>
            <a:endParaRPr sz="2250"/>
          </a:p>
        </p:txBody>
      </p:sp>
      <p:sp>
        <p:nvSpPr>
          <p:cNvPr id="1270" name="Bullet marker 9-1">
            <a:extLst xmlns:a="http://schemas.openxmlformats.org/drawingml/2006/main">
              <a:ext uri="{FF2B5EF4-FFF2-40B4-BE49-F238E27FC236}">
                <a16:creationId xmlns:a16="http://schemas.microsoft.com/office/drawing/2014/main" id="{7B754F4A-D65D-4661-8550-39B1B15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1" name="Bullet text 9-1">
            <a:extLst xmlns:a="http://schemas.openxmlformats.org/drawingml/2006/main">
              <a:ext uri="{FF2B5EF4-FFF2-40B4-BE49-F238E27FC236}">
                <a16:creationId xmlns:a16="http://schemas.microsoft.com/office/drawing/2014/main" id="{9663B968-E977-4240-BEF7-E0DEF8B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72" name="Bullet marker 9-2">
            <a:extLst xmlns:a="http://schemas.openxmlformats.org/drawingml/2006/main">
              <a:ext uri="{FF2B5EF4-FFF2-40B4-BE49-F238E27FC236}">
                <a16:creationId xmlns:a16="http://schemas.microsoft.com/office/drawing/2014/main" id="{DDB011FD-B6BD-4BC4-BA18-4DA16DB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3" name="Bullet text 9-2">
            <a:extLst xmlns:a="http://schemas.openxmlformats.org/drawingml/2006/main">
              <a:ext uri="{FF2B5EF4-FFF2-40B4-BE49-F238E27FC236}">
                <a16:creationId xmlns:a16="http://schemas.microsoft.com/office/drawing/2014/main" id="{E829100F-072F-4FF2-868B-210FEE0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4" name="Bullet marker 9-3">
            <a:extLst xmlns:a="http://schemas.openxmlformats.org/drawingml/2006/main">
              <a:ext uri="{FF2B5EF4-FFF2-40B4-BE49-F238E27FC236}">
                <a16:creationId xmlns:a16="http://schemas.microsoft.com/office/drawing/2014/main" id="{4B3DED9F-70CD-4D8A-88A9-A68FD22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5" name="Bullet text 9-3">
            <a:extLst xmlns:a="http://schemas.openxmlformats.org/drawingml/2006/main">
              <a:ext uri="{FF2B5EF4-FFF2-40B4-BE49-F238E27FC236}">
                <a16:creationId xmlns:a16="http://schemas.microsoft.com/office/drawing/2014/main" id="{4617369F-5E89-4B9D-9DC8-DA3F052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6" name="Bullet marker 9-4">
            <a:extLst xmlns:a="http://schemas.openxmlformats.org/drawingml/2006/main">
              <a:ext uri="{FF2B5EF4-FFF2-40B4-BE49-F238E27FC236}">
                <a16:creationId xmlns:a16="http://schemas.microsoft.com/office/drawing/2014/main" id="{84E54330-DF18-4CF3-8FA1-6647DE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7" name="Bullet text 9-4">
            <a:extLst xmlns:a="http://schemas.openxmlformats.org/drawingml/2006/main">
              <a:ext uri="{FF2B5EF4-FFF2-40B4-BE49-F238E27FC236}">
                <a16:creationId xmlns:a16="http://schemas.microsoft.com/office/drawing/2014/main" id="{99B641AE-F16A-409C-8E46-222AC0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51636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0" name="Reference title 10">
            <a:extLst xmlns:a="http://schemas.openxmlformats.org/drawingml/2006/main">
              <a:ext uri="{FF2B5EF4-FFF2-40B4-BE49-F238E27FC236}">
                <a16:creationId xmlns:a16="http://schemas.microsoft.com/office/drawing/2014/main" id="{4C11DCC9-CD94-428F-8C8B-07AC444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01" name="Reference subtitle 10">
            <a:extLst xmlns:a="http://schemas.openxmlformats.org/drawingml/2006/main">
              <a:ext uri="{FF2B5EF4-FFF2-40B4-BE49-F238E27FC236}">
                <a16:creationId xmlns:a16="http://schemas.microsoft.com/office/drawing/2014/main" id="{8479726C-0A26-48F2-B593-7A45A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1–4</a:t>
            </a:r>
            <a:endParaRPr sz="1500"/>
          </a:p>
        </p:txBody>
      </p:sp>
      <p:sp>
        <p:nvSpPr>
          <p:cNvPr id="1700" name="Reference marker 10-1">
            <a:extLst xmlns:a="http://schemas.openxmlformats.org/drawingml/2006/main">
              <a:ext uri="{FF2B5EF4-FFF2-40B4-BE49-F238E27FC236}">
                <a16:creationId xmlns:a16="http://schemas.microsoft.com/office/drawing/2014/main" id="{D34EA3AE-65BC-47AB-9A2F-D6C4DF5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1" name="Reference text 10-1">
            <a:extLst xmlns:a="http://schemas.openxmlformats.org/drawingml/2006/main">
              <a:ext uri="{FF2B5EF4-FFF2-40B4-BE49-F238E27FC236}">
                <a16:creationId xmlns:a16="http://schemas.microsoft.com/office/drawing/2014/main" id="{794B798D-75C7-4688-B42B-FAE466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[R1] Tesla Robotaxi, Houston bigger service area now live, 2026-10-26 [원문 미확인]: https://x.com/robotaxi/status/2114713219411660978</a:t>
            </a:r>
            <a:endParaRPr sz="1050"/>
          </a:p>
        </p:txBody>
      </p:sp>
      <p:sp>
        <p:nvSpPr>
          <p:cNvPr id="1702" name="Reference marker 10-2">
            <a:extLst xmlns:a="http://schemas.openxmlformats.org/drawingml/2006/main">
              <a:ext uri="{FF2B5EF4-FFF2-40B4-BE49-F238E27FC236}">
                <a16:creationId xmlns:a16="http://schemas.microsoft.com/office/drawing/2014/main" id="{EA1D634C-41A0-483E-BEC5-931350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3" name="Reference text 10-2">
            <a:extLst xmlns:a="http://schemas.openxmlformats.org/drawingml/2006/main">
              <a:ext uri="{FF2B5EF4-FFF2-40B4-BE49-F238E27FC236}">
                <a16:creationId xmlns:a16="http://schemas.microsoft.com/office/drawing/2014/main" id="{86D59CF0-E8FA-4B05-9444-496E03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[R2] Houston Chronicle, Tesla's robotaxi service expands across parts of Houston, 2026-10-26: https://www.houstonchronicle.com/news/houston-texas/transportation/article/houston-tesla-robotaxi-expansion-22494979.php</a:t>
            </a:r>
            <a:endParaRPr sz="1050"/>
          </a:p>
        </p:txBody>
      </p:sp>
      <p:sp>
        <p:nvSpPr>
          <p:cNvPr id="1704" name="Reference marker 10-3">
            <a:extLst xmlns:a="http://schemas.openxmlformats.org/drawingml/2006/main">
              <a:ext uri="{FF2B5EF4-FFF2-40B4-BE49-F238E27FC236}">
                <a16:creationId xmlns:a16="http://schemas.microsoft.com/office/drawing/2014/main" id="{DC26F101-EB1F-42E8-9169-B2E6084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5" name="Reference text 10-3">
            <a:extLst xmlns:a="http://schemas.openxmlformats.org/drawingml/2006/main">
              <a:ext uri="{FF2B5EF4-FFF2-40B4-BE49-F238E27FC236}">
                <a16:creationId xmlns:a16="http://schemas.microsoft.com/office/drawing/2014/main" id="{49141882-3201-4FB6-8242-EFB3679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[R3] Uber, Autonomous Articles, 2026-10-27 확인: https://www.uber.com/us/en/newsroom/autonomous/</a:t>
            </a:r>
            <a:endParaRPr sz="1050"/>
          </a:p>
        </p:txBody>
      </p:sp>
      <p:sp>
        <p:nvSpPr>
          <p:cNvPr id="1706" name="Reference marker 10-4">
            <a:extLst xmlns:a="http://schemas.openxmlformats.org/drawingml/2006/main">
              <a:ext uri="{FF2B5EF4-FFF2-40B4-BE49-F238E27FC236}">
                <a16:creationId xmlns:a16="http://schemas.microsoft.com/office/drawing/2014/main" id="{283D1262-5DCB-42A7-83EB-C75F53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7" name="Reference text 10-4">
            <a:extLst xmlns:a="http://schemas.openxmlformats.org/drawingml/2006/main">
              <a:ext uri="{FF2B5EF4-FFF2-40B4-BE49-F238E27FC236}">
                <a16:creationId xmlns:a16="http://schemas.microsoft.com/office/drawing/2014/main" id="{2F7D3F12-E698-491D-B9FF-A78F336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[R4] Avride, 공식 홈페이지, 2026-10-27 확인: https://www.avride.ai/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6926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0" name="Reference title 11">
            <a:extLst xmlns:a="http://schemas.openxmlformats.org/drawingml/2006/main">
              <a:ext uri="{FF2B5EF4-FFF2-40B4-BE49-F238E27FC236}">
                <a16:creationId xmlns:a16="http://schemas.microsoft.com/office/drawing/2014/main" id="{AF33BD41-DEAA-40BB-B1F5-96BDA22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21" name="Reference subtitle 11">
            <a:extLst xmlns:a="http://schemas.openxmlformats.org/drawingml/2006/main">
              <a:ext uri="{FF2B5EF4-FFF2-40B4-BE49-F238E27FC236}">
                <a16:creationId xmlns:a16="http://schemas.microsoft.com/office/drawing/2014/main" id="{293D7ACB-D0D8-453A-9D3E-71E473D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5–8</a:t>
            </a:r>
            <a:endParaRPr sz="1500"/>
          </a:p>
        </p:txBody>
      </p:sp>
      <p:sp>
        <p:nvSpPr>
          <p:cNvPr id="1720" name="Reference marker 11-1">
            <a:extLst xmlns:a="http://schemas.openxmlformats.org/drawingml/2006/main">
              <a:ext uri="{FF2B5EF4-FFF2-40B4-BE49-F238E27FC236}">
                <a16:creationId xmlns:a16="http://schemas.microsoft.com/office/drawing/2014/main" id="{8E2329A7-1D15-405A-92B7-EB9FF20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1" name="Reference text 11-1">
            <a:extLst xmlns:a="http://schemas.openxmlformats.org/drawingml/2006/main">
              <a:ext uri="{FF2B5EF4-FFF2-40B4-BE49-F238E27FC236}">
                <a16:creationId xmlns:a16="http://schemas.microsoft.com/office/drawing/2014/main" id="{1C185E7C-614C-4A0D-B49E-270CD1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[R5] Bolt, Press Releases, 2026-10-27 확인: https://bolt.eu/en/blog/category/press-releases/</a:t>
            </a:r>
            <a:endParaRPr sz="1050"/>
          </a:p>
        </p:txBody>
      </p:sp>
      <p:sp>
        <p:nvSpPr>
          <p:cNvPr id="1722" name="Reference marker 11-2">
            <a:extLst xmlns:a="http://schemas.openxmlformats.org/drawingml/2006/main">
              <a:ext uri="{FF2B5EF4-FFF2-40B4-BE49-F238E27FC236}">
                <a16:creationId xmlns:a16="http://schemas.microsoft.com/office/drawing/2014/main" id="{B70F9720-5EB1-4668-B658-DF7DD83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3" name="Reference text 11-2">
            <a:extLst xmlns:a="http://schemas.openxmlformats.org/drawingml/2006/main">
              <a:ext uri="{FF2B5EF4-FFF2-40B4-BE49-F238E27FC236}">
                <a16:creationId xmlns:a16="http://schemas.microsoft.com/office/drawing/2014/main" id="{F752552D-05A2-45D3-BFC3-5DB5E48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[R6] Mobileye, News, 2026-10-27 확인: https://www.mobileye.com/news/</a:t>
            </a:r>
            <a:endParaRPr sz="1050"/>
          </a:p>
        </p:txBody>
      </p:sp>
      <p:sp>
        <p:nvSpPr>
          <p:cNvPr id="1724" name="Reference marker 11-3">
            <a:extLst xmlns:a="http://schemas.openxmlformats.org/drawingml/2006/main">
              <a:ext uri="{FF2B5EF4-FFF2-40B4-BE49-F238E27FC236}">
                <a16:creationId xmlns:a16="http://schemas.microsoft.com/office/drawing/2014/main" id="{D0E21534-DDD5-4606-9FBB-708AF5E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5" name="Reference text 11-3">
            <a:extLst xmlns:a="http://schemas.openxmlformats.org/drawingml/2006/main">
              <a:ext uri="{FF2B5EF4-FFF2-40B4-BE49-F238E27FC236}">
                <a16:creationId xmlns:a16="http://schemas.microsoft.com/office/drawing/2014/main" id="{15D8A9E8-0095-415D-9DC3-17B699B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[R7] 카카오모빌리티, 뉴스룸, 2026-10-27 확인: https://www.kakaomobility.com/newsroom/news</a:t>
            </a:r>
            <a:endParaRPr sz="1050"/>
          </a:p>
        </p:txBody>
      </p:sp>
      <p:sp>
        <p:nvSpPr>
          <p:cNvPr id="1726" name="Reference marker 11-4">
            <a:extLst xmlns:a="http://schemas.openxmlformats.org/drawingml/2006/main">
              <a:ext uri="{FF2B5EF4-FFF2-40B4-BE49-F238E27FC236}">
                <a16:creationId xmlns:a16="http://schemas.microsoft.com/office/drawing/2014/main" id="{80609077-CFFD-4E5A-8E95-32985C9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7" name="Reference text 11-4">
            <a:extLst xmlns:a="http://schemas.openxmlformats.org/drawingml/2006/main">
              <a:ext uri="{FF2B5EF4-FFF2-40B4-BE49-F238E27FC236}">
                <a16:creationId xmlns:a16="http://schemas.microsoft.com/office/drawing/2014/main" id="{DB88362F-7BE5-4DCA-A7EF-12D19FE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[R8] 쏘카, 공식 블로그, 2026-10-27 확인: https://www.socarcorp.kr/blog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437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" name="Reference title 12">
            <a:extLst xmlns:a="http://schemas.openxmlformats.org/drawingml/2006/main">
              <a:ext uri="{FF2B5EF4-FFF2-40B4-BE49-F238E27FC236}">
                <a16:creationId xmlns:a16="http://schemas.microsoft.com/office/drawing/2014/main" id="{8DDE6B02-F37B-49E4-B7E1-3FD5E5A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41" name="Reference subtitle 12">
            <a:extLst xmlns:a="http://schemas.openxmlformats.org/drawingml/2006/main">
              <a:ext uri="{FF2B5EF4-FFF2-40B4-BE49-F238E27FC236}">
                <a16:creationId xmlns:a16="http://schemas.microsoft.com/office/drawing/2014/main" id="{68469EC8-2088-45AF-9104-0649BF5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9–12</a:t>
            </a:r>
            <a:endParaRPr sz="1500"/>
          </a:p>
        </p:txBody>
      </p:sp>
      <p:sp>
        <p:nvSpPr>
          <p:cNvPr id="1740" name="Reference marker 12-1">
            <a:extLst xmlns:a="http://schemas.openxmlformats.org/drawingml/2006/main">
              <a:ext uri="{FF2B5EF4-FFF2-40B4-BE49-F238E27FC236}">
                <a16:creationId xmlns:a16="http://schemas.microsoft.com/office/drawing/2014/main" id="{1BD22C31-FF70-4246-B88C-2C09D87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1" name="Reference text 12-1">
            <a:extLst xmlns:a="http://schemas.openxmlformats.org/drawingml/2006/main">
              <a:ext uri="{FF2B5EF4-FFF2-40B4-BE49-F238E27FC236}">
                <a16:creationId xmlns:a16="http://schemas.microsoft.com/office/drawing/2014/main" id="{24564A60-E3D4-4483-BBFF-982BF32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[R9] May Mobility, Company News, 2026-10-27 확인: https://maymobility.com/posts/type/company-news</a:t>
            </a:r>
            <a:endParaRPr sz="1050"/>
          </a:p>
        </p:txBody>
      </p:sp>
      <p:sp>
        <p:nvSpPr>
          <p:cNvPr id="1742" name="Reference marker 12-2">
            <a:extLst xmlns:a="http://schemas.openxmlformats.org/drawingml/2006/main">
              <a:ext uri="{FF2B5EF4-FFF2-40B4-BE49-F238E27FC236}">
                <a16:creationId xmlns:a16="http://schemas.microsoft.com/office/drawing/2014/main" id="{BF70F848-5BB8-4ABB-998E-846BE0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3" name="Reference text 12-2">
            <a:extLst xmlns:a="http://schemas.openxmlformats.org/drawingml/2006/main">
              <a:ext uri="{FF2B5EF4-FFF2-40B4-BE49-F238E27FC236}">
                <a16:creationId xmlns:a16="http://schemas.microsoft.com/office/drawing/2014/main" id="{11EB1FFE-6BC6-4224-844D-B4A84AF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[R10] California DMV, Autonomous Vehicle Permit Holders, 2026-10-21·22 갱신·2026-10-27 확인: https://qr.dmv.ca.gov/portal/vehicle-industry-services/autonomous-vehicles/autonomous-vehicle-testing-permit-holders/</a:t>
            </a:r>
            <a:endParaRPr sz="1050"/>
          </a:p>
        </p:txBody>
      </p:sp>
      <p:sp>
        <p:nvSpPr>
          <p:cNvPr id="1744" name="Reference marker 12-3">
            <a:extLst xmlns:a="http://schemas.openxmlformats.org/drawingml/2006/main">
              <a:ext uri="{FF2B5EF4-FFF2-40B4-BE49-F238E27FC236}">
                <a16:creationId xmlns:a16="http://schemas.microsoft.com/office/drawing/2014/main" id="{43BADAE3-3257-4908-B89A-E76C5E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5" name="Reference text 12-3">
            <a:extLst xmlns:a="http://schemas.openxmlformats.org/drawingml/2006/main">
              <a:ext uri="{FF2B5EF4-FFF2-40B4-BE49-F238E27FC236}">
                <a16:creationId xmlns:a16="http://schemas.microsoft.com/office/drawing/2014/main" id="{F1CCB076-48EB-4AE7-BCE5-2161D7D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[R11] May Mobility·SEC, Business combination announcement, Exhibit 99.1, 2026-09-16: https://www.sec.gov/Archives/edgar/data/2111542/000121390026100367/ea030470201ex99-1.htm</a:t>
            </a:r>
            <a:endParaRPr sz="1050"/>
          </a:p>
        </p:txBody>
      </p:sp>
      <p:sp>
        <p:nvSpPr>
          <p:cNvPr id="1746" name="Reference marker 12-4">
            <a:extLst xmlns:a="http://schemas.openxmlformats.org/drawingml/2006/main">
              <a:ext uri="{FF2B5EF4-FFF2-40B4-BE49-F238E27FC236}">
                <a16:creationId xmlns:a16="http://schemas.microsoft.com/office/drawing/2014/main" id="{EE8D1A8F-B61F-4438-A6FF-C2545C9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7" name="Reference text 12-4">
            <a:extLst xmlns:a="http://schemas.openxmlformats.org/drawingml/2006/main">
              <a:ext uri="{FF2B5EF4-FFF2-40B4-BE49-F238E27FC236}">
                <a16:creationId xmlns:a16="http://schemas.microsoft.com/office/drawing/2014/main" id="{3618CD8F-28D9-4068-A11E-1A1D355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[R12] NTT Mobility, 나고야 자율주행·온디맨드 실증 개시, 2026-08-12: https://www.ntt-mobility.com/news/20260812/newsrelease-260812/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0550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0" name="Reference title 13">
            <a:extLst xmlns:a="http://schemas.openxmlformats.org/drawingml/2006/main">
              <a:ext uri="{FF2B5EF4-FFF2-40B4-BE49-F238E27FC236}">
                <a16:creationId xmlns:a16="http://schemas.microsoft.com/office/drawing/2014/main" id="{D8146F54-E77A-42EB-8E64-98D9DD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61" name="Reference subtitle 13">
            <a:extLst xmlns:a="http://schemas.openxmlformats.org/drawingml/2006/main">
              <a:ext uri="{FF2B5EF4-FFF2-40B4-BE49-F238E27FC236}">
                <a16:creationId xmlns:a16="http://schemas.microsoft.com/office/drawing/2014/main" id="{DC3B56B1-FDC1-4C83-870A-BA6D076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13–16</a:t>
            </a:r>
            <a:endParaRPr sz="1500"/>
          </a:p>
        </p:txBody>
      </p:sp>
      <p:sp>
        <p:nvSpPr>
          <p:cNvPr id="1760" name="Reference marker 13-1">
            <a:extLst xmlns:a="http://schemas.openxmlformats.org/drawingml/2006/main">
              <a:ext uri="{FF2B5EF4-FFF2-40B4-BE49-F238E27FC236}">
                <a16:creationId xmlns:a16="http://schemas.microsoft.com/office/drawing/2014/main" id="{339BD6AB-C8AD-4139-A53E-9CE963B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1" name="Reference text 13-1">
            <a:extLst xmlns:a="http://schemas.openxmlformats.org/drawingml/2006/main">
              <a:ext uri="{FF2B5EF4-FFF2-40B4-BE49-F238E27FC236}">
                <a16:creationId xmlns:a16="http://schemas.microsoft.com/office/drawing/2014/main" id="{663E0D4A-EF50-4B36-8B79-08F18F7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[R13] May Mobility, First Responder Interaction Protocol: Atlanta, 게시일 미표기·2026-10-27 확인: https://maymobility.com/first-responders/frip-atlanta-georgia</a:t>
            </a:r>
            <a:endParaRPr sz="1050"/>
          </a:p>
        </p:txBody>
      </p:sp>
      <p:sp>
        <p:nvSpPr>
          <p:cNvPr id="1762" name="Reference marker 13-2">
            <a:extLst xmlns:a="http://schemas.openxmlformats.org/drawingml/2006/main">
              <a:ext uri="{FF2B5EF4-FFF2-40B4-BE49-F238E27FC236}">
                <a16:creationId xmlns:a16="http://schemas.microsoft.com/office/drawing/2014/main" id="{90393B8D-AA0A-4E23-BE0A-AE6E287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3" name="Reference text 13-2">
            <a:extLst xmlns:a="http://schemas.openxmlformats.org/drawingml/2006/main">
              <a:ext uri="{FF2B5EF4-FFF2-40B4-BE49-F238E27FC236}">
                <a16:creationId xmlns:a16="http://schemas.microsoft.com/office/drawing/2014/main" id="{5D5E008B-CBD1-4337-B488-C3BC71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[R14] May Mobility, May Mobility launches New AV Architecture, 2026-05-20: https://maymobility.com/posts/may-mobility-launches-new-av-architecture/</a:t>
            </a:r>
            <a:endParaRPr sz="1050"/>
          </a:p>
        </p:txBody>
      </p:sp>
      <p:sp>
        <p:nvSpPr>
          <p:cNvPr id="1764" name="Reference marker 13-3">
            <a:extLst xmlns:a="http://schemas.openxmlformats.org/drawingml/2006/main">
              <a:ext uri="{FF2B5EF4-FFF2-40B4-BE49-F238E27FC236}">
                <a16:creationId xmlns:a16="http://schemas.microsoft.com/office/drawing/2014/main" id="{5F786F5D-D74B-410B-9084-F5CA33F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5" name="Reference text 13-3">
            <a:extLst xmlns:a="http://schemas.openxmlformats.org/drawingml/2006/main">
              <a:ext uri="{FF2B5EF4-FFF2-40B4-BE49-F238E27FC236}">
                <a16:creationId xmlns:a16="http://schemas.microsoft.com/office/drawing/2014/main" id="{F29A1040-9A01-40B6-B932-4140201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[R15] May Mobility·SEC, Investor presentation, Exhibit 99.2, 2026-09-16: https://www.sec.gov/Archives/edgar/data/2111542/000121390026100367/ea030470201ex99-2.htm</a:t>
            </a:r>
            <a:endParaRPr sz="1050"/>
          </a:p>
        </p:txBody>
      </p:sp>
      <p:sp>
        <p:nvSpPr>
          <p:cNvPr id="1766" name="Reference marker 13-4">
            <a:extLst xmlns:a="http://schemas.openxmlformats.org/drawingml/2006/main">
              <a:ext uri="{FF2B5EF4-FFF2-40B4-BE49-F238E27FC236}">
                <a16:creationId xmlns:a16="http://schemas.microsoft.com/office/drawing/2014/main" id="{E1D678A0-3F74-4C48-821C-AC8D1FF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7" name="Reference text 13-4">
            <a:extLst xmlns:a="http://schemas.openxmlformats.org/drawingml/2006/main">
              <a:ext uri="{FF2B5EF4-FFF2-40B4-BE49-F238E27FC236}">
                <a16:creationId xmlns:a16="http://schemas.microsoft.com/office/drawing/2014/main" id="{3508F99E-C4EB-4FBC-AC8C-495852A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2312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Reference title 14">
            <a:extLst xmlns:a="http://schemas.openxmlformats.org/drawingml/2006/main">
              <a:ext uri="{FF2B5EF4-FFF2-40B4-BE49-F238E27FC236}">
                <a16:creationId xmlns:a16="http://schemas.microsoft.com/office/drawing/2014/main" id="{7B9F562B-4F0D-43A4-8164-A37464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81" name="Reference subtitle 14">
            <a:extLst xmlns:a="http://schemas.openxmlformats.org/drawingml/2006/main">
              <a:ext uri="{FF2B5EF4-FFF2-40B4-BE49-F238E27FC236}">
                <a16:creationId xmlns:a16="http://schemas.microsoft.com/office/drawing/2014/main" id="{4A2C87AE-1D02-4EF6-B463-85B7F6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17–20</a:t>
            </a:r>
            <a:endParaRPr sz="1500"/>
          </a:p>
        </p:txBody>
      </p:sp>
      <p:sp>
        <p:nvSpPr>
          <p:cNvPr id="1780" name="Reference marker 14-1">
            <a:extLst xmlns:a="http://schemas.openxmlformats.org/drawingml/2006/main">
              <a:ext uri="{FF2B5EF4-FFF2-40B4-BE49-F238E27FC236}">
                <a16:creationId xmlns:a16="http://schemas.microsoft.com/office/drawing/2014/main" id="{D2867F3B-1B2A-464E-9547-26E8028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1" name="Reference text 14-1">
            <a:extLst xmlns:a="http://schemas.openxmlformats.org/drawingml/2006/main">
              <a:ext uri="{FF2B5EF4-FFF2-40B4-BE49-F238E27FC236}">
                <a16:creationId xmlns:a16="http://schemas.microsoft.com/office/drawing/2014/main" id="{94805AF6-5F5F-4B51-9F75-3873B2F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[R17] Channel NewsAsia·Reuters, Tesla expands robotaxi service to Dallas, Houston, 2026-04-19: https://www.channelnewsasia.com/business/tesla-expands-robotaxi-service-dallas-houston-6065716</a:t>
            </a:r>
            <a:endParaRPr sz="1050"/>
          </a:p>
        </p:txBody>
      </p:sp>
      <p:sp>
        <p:nvSpPr>
          <p:cNvPr id="1782" name="Reference marker 14-2">
            <a:extLst xmlns:a="http://schemas.openxmlformats.org/drawingml/2006/main">
              <a:ext uri="{FF2B5EF4-FFF2-40B4-BE49-F238E27FC236}">
                <a16:creationId xmlns:a16="http://schemas.microsoft.com/office/drawing/2014/main" id="{833A2EE4-6BBB-425D-BBA5-8890A1D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3" name="Reference text 14-2">
            <a:extLst xmlns:a="http://schemas.openxmlformats.org/drawingml/2006/main">
              <a:ext uri="{FF2B5EF4-FFF2-40B4-BE49-F238E27FC236}">
                <a16:creationId xmlns:a16="http://schemas.microsoft.com/office/drawing/2014/main" id="{587D0E97-91E2-4668-AFA9-C73FCA9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[R18] Reuters, May Mobility to list on Nasdaq via $1.4 billion SPAC deal, 2026-09-16: https://www.reuters.com/legal/transactional/may-mobility-list-nasdaq-via-14-billion-spac-deal-2026-09-16/</a:t>
            </a:r>
            <a:endParaRPr sz="1050"/>
          </a:p>
        </p:txBody>
      </p:sp>
      <p:sp>
        <p:nvSpPr>
          <p:cNvPr id="1784" name="Reference marker 14-3">
            <a:extLst xmlns:a="http://schemas.openxmlformats.org/drawingml/2006/main">
              <a:ext uri="{FF2B5EF4-FFF2-40B4-BE49-F238E27FC236}">
                <a16:creationId xmlns:a16="http://schemas.microsoft.com/office/drawing/2014/main" id="{236A52D4-6BEC-4855-AC03-DBCAA5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382012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5" name="Reference text 14-3">
            <a:extLst xmlns:a="http://schemas.openxmlformats.org/drawingml/2006/main">
              <a:ext uri="{FF2B5EF4-FFF2-40B4-BE49-F238E27FC236}">
                <a16:creationId xmlns:a16="http://schemas.microsoft.com/office/drawing/2014/main" id="{51E30782-B8EF-4DBA-B674-643FDD7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382012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[R19] Axios, May Mobility to go public in SPAC deal at $1.4B valuation, 2026-09-16: https://www.axios.com/2026/09/16/may-mobility-public-spac-atlas-credit-partners-acp</a:t>
            </a:r>
          </a:p>
        </p:txBody>
      </p:sp>
      <p:sp>
        <p:nvSpPr>
          <p:cNvPr id="1786" name="Reference marker 14-4">
            <a:extLst xmlns:a="http://schemas.openxmlformats.org/drawingml/2006/main">
              <a:ext uri="{FF2B5EF4-FFF2-40B4-BE49-F238E27FC236}">
                <a16:creationId xmlns:a16="http://schemas.microsoft.com/office/drawing/2014/main" id="{45388335-3957-4941-8BF5-4ED05E3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941987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7" name="Reference text 14-4">
            <a:extLst xmlns:a="http://schemas.openxmlformats.org/drawingml/2006/main">
              <a:ext uri="{FF2B5EF4-FFF2-40B4-BE49-F238E27FC236}">
                <a16:creationId xmlns:a16="http://schemas.microsoft.com/office/drawing/2014/main" id="{79206FBD-278B-4686-9548-8677086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941987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[R20]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</p:spTree>
    <p:extLst>
      <p:ext uri="{BB962C8B-B14F-4D97-AF65-F5344CB8AC3E}">
        <p14:creationId xmlns:p14="http://schemas.microsoft.com/office/powerpoint/2010/main" val="795572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2026-10-26T22:29:55.2520000Z</dcterms:created>
  <dcterms:modified xsi:type="dcterms:W3CDTF">2026-10-26T22:29:55.2520000Z</dcterms:modified>
</coreProperties>
</file>