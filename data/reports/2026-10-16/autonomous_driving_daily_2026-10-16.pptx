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334500" cy="5248275"/>
  <p:notesSz cx="5248275" cy="9334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mprnews.org/story/2026/10/15/minneapolis-city-council-fails-override-mayoral-veto-autonomous-rideshare-rules" TargetMode="External"/><Relationship Id="rId2" Type="http://schemas.openxmlformats.org/officeDocument/2006/relationships/hyperlink" Target="https://minnesotareformer.com/2026/10/15/minneapolis-council-fails-to-override-mayoral-veto-of-ban-on-driverless-robotaxis/" TargetMode="External"/><Relationship Id="rId3" Type="http://schemas.openxmlformats.org/officeDocument/2006/relationships/hyperlink" Target="https://static.nhtsa.gov/odi/ffdd/sgo-2021-01/SGO-2021-01_Incident_Reports_ADS.csv" TargetMode="External"/><Relationship Id="rId4" Type="http://schemas.openxmlformats.org/officeDocument/2006/relationships/hyperlink" Target="https://www.nhtsa.gov/laws-regulations/standing-general-order-crash-reporting" TargetMode="External"/><Relationship Id="rId5" Type="http://schemas.openxmlformats.org/officeDocument/2006/relationships/hyperlink" Target="https://electrek.co/2026/10/15/tesla-remote-operators-crashing-robotaxis/" TargetMode="External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sfchronicle.com/realestate/article/zoox-hayward-expansion-350000-square-feet-22478588.php" TargetMode="External"/><Relationship Id="rId2" Type="http://schemas.openxmlformats.org/officeDocument/2006/relationships/hyperlink" Target="https://eastbayeda.org/members-tour-the-zoox-robotaxi-production-facility-in-hayward/" TargetMode="External"/><Relationship Id="rId3" Type="http://schemas.openxmlformats.org/officeDocument/2006/relationships/hyperlink" Target="https://www.uber.com/us/en/newsroom/" TargetMode="External"/><Relationship Id="rId4" Type="http://schemas.openxmlformats.org/officeDocument/2006/relationships/hyperlink" Target="https://www.avride.ai/" TargetMode="External"/><Relationship Id="rId5" Type="http://schemas.openxmlformats.org/officeDocument/2006/relationships/hyperlink" Target="https://bolt.eu/en/blog/category/autonomous-solutions/" TargetMode="External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mobileye.com/news/" TargetMode="External"/><Relationship Id="rId2" Type="http://schemas.openxmlformats.org/officeDocument/2006/relationships/hyperlink" Target="https://www.kakaomobility.com/newsroom/news" TargetMode="External"/><Relationship Id="rId3" Type="http://schemas.openxmlformats.org/officeDocument/2006/relationships/hyperlink" Target="https://www.socarcorp.kr/blog" TargetMode="External"/><Relationship Id="rId4" Type="http://schemas.openxmlformats.org/officeDocument/2006/relationships/hyperlink" Target="https://www.sec.gov/Archives/edgar/data/2111542/000121390026100367/ea030470201ex99-1.htm" TargetMode="External"/><Relationship Id="rId5" Type="http://schemas.openxmlformats.org/officeDocument/2006/relationships/hyperlink" Target="https://www.ntt-mobility.com/news/20260812/newsrelease-260812/" TargetMode="External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hyperlink" Target="https://maymobility.com/first-responders/frip-atlanta-georgia" TargetMode="External"/><Relationship Id="rId2" Type="http://schemas.openxmlformats.org/officeDocument/2006/relationships/hyperlink" Target="https://maymobility.com/first-responders/frip-atlanta-georgia" TargetMode="External"/><Relationship Id="rId3" Type="http://schemas.openxmlformats.org/officeDocument/2006/relationships/hyperlink" Target="https://maymobility.com/posts/may-mobility-launches-new-av-architecture/" TargetMode="External"/><Relationship Id="rId4" Type="http://schemas.openxmlformats.org/officeDocument/2006/relationships/hyperlink" Target="https://maymobility.com/posts/may-mobility-launches-new-av-architecture/" TargetMode="External"/><Relationship Id="rId5" Type="http://schemas.openxmlformats.org/officeDocument/2006/relationships/hyperlink" Target="https://www.sec.gov/Archives/edgar/data/2111542/000121390026100367/ea030470201ex99-2.htm" TargetMode="External"/><Relationship Id="rId6" Type="http://schemas.openxmlformats.org/officeDocument/2006/relationships/hyperlink" Target="https://www.sec.gov/Archives/edgar/data/2111542/000121390026100367/ea030470201ex99-2.htm" TargetMode="External"/><Relationship Id="rId7" Type="http://schemas.openxmlformats.org/officeDocument/2006/relationships/hyperlink" Target="https://maymobility.com/posts/type/company-news" TargetMode="External"/><Relationship Id="rId8" Type="http://schemas.openxmlformats.org/officeDocument/2006/relationships/hyperlink" Target="https://maymobility.com/posts/type/company-news" TargetMode="External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3862" y="373856"/>
            <a:ext cx="28575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02B4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Executive Summary</a:t>
            </a:r>
            <a:endParaRPr lang="en-US" sz="2250" dirty="0"/>
          </a:p>
        </p:txBody>
      </p:sp>
      <p:sp>
        <p:nvSpPr>
          <p:cNvPr id="3" name="Text 1"/>
          <p:cNvSpPr txBox="1"/>
          <p:nvPr/>
        </p:nvSpPr>
        <p:spPr>
          <a:xfrm>
            <a:off x="438150" y="912019"/>
            <a:ext cx="5257800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3765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2026-10-16 · 미니애폴리스 재의결 실패·Tesla 원격운전 사고 확인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419100" y="1350169"/>
            <a:ext cx="3429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350169"/>
            <a:ext cx="8229600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[신규·규제 절차] 미니애폴리스: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10월 15일 안전요원 의무 조례 재의결 실패. 시장 거부권이 유지됐다.[R1][R2]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19100" y="2007394"/>
            <a:ext cx="3429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007394"/>
            <a:ext cx="8354949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[신규 확인·사고자료] Tesla: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원격운전 중 접촉사고 2건 원자료 확인. 8월 발생·9월 제출·10월 15일 보도다.[R3][R5]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19100" y="2664619"/>
            <a:ext cx="3429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664619"/>
            <a:ext cx="7991475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[신규 보도] Zoox:</a:t>
            </a:r>
            <a:pPr algn="l" indent="0" marL="0"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Hayward 공간 임차 보도. [유료 기사][원문 미확인]. 생산량 증가 달성은 미확인.[R6]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19100" y="3036094"/>
            <a:ext cx="3429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3036094"/>
            <a:ext cx="8229600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지정 6개사: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Uber·Avride·Bolt·Mobileye·카카오모빌리티·쏘카 모두 신규 확인 사항 없음.[R8][R9][R10][R11][R12][R13]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19100" y="3693319"/>
            <a:ext cx="3429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3693319"/>
            <a:ext cx="8345233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May Mobility [중복] · 이전 보고 2026-10-15: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신규 확인 사항 없음. 운행 수준·SPAC 목표 재점검.[R14][R15][R16][R18][R19]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38150" y="4417219"/>
            <a:ext cx="5810250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확인 기준: </a:t>
            </a:r>
            <a:pPr algn="l" indent="0" marL="0">
              <a:buNone/>
            </a:pPr>
            <a:r>
              <a:rPr lang="en-US" sz="1500" b="1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2026-10-16 한국시간 아침</a:t>
            </a:r>
            <a:pPr algn="l" indent="0" marL="0"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 이전 발송본과 대조해 재보도 제외.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3862" y="285750"/>
            <a:ext cx="238125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02B4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신규 업데이트</a:t>
            </a:r>
            <a:endParaRPr lang="en-US" sz="2250" dirty="0"/>
          </a:p>
        </p:txBody>
      </p:sp>
      <p:sp>
        <p:nvSpPr>
          <p:cNvPr id="3" name="Text 1"/>
          <p:cNvSpPr txBox="1"/>
          <p:nvPr/>
        </p:nvSpPr>
        <p:spPr>
          <a:xfrm>
            <a:off x="438150" y="823913"/>
            <a:ext cx="4162425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3765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[신규] 미니애폴리스 | 안전요원 의무 조례 재의결 실패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419100" y="1262063"/>
            <a:ext cx="3429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262063"/>
            <a:ext cx="8277225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보도일·의결일: 2026-10-15, 미국 현지.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시의회는 시장 거부권을 뒤집는 데 필요한 9표를 확보하지 못했고 찬성은 7표였다.[R1]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19100" y="1919287"/>
            <a:ext cx="3429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919287"/>
            <a:ext cx="8277225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대상 조례는 상업용 자율주행차에 인간 안전요원 탑승 등을 요구하려던 안이다. 이번 표결로 거부권이 유지됐다.[R1][R2]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19100" y="2576512"/>
            <a:ext cx="3429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576512"/>
            <a:ext cx="7477125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상태 변화:</a:t>
            </a:r>
            <a:pPr algn="l" indent="0" marL="0"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10월 2일 보고한 최초 의결, 10월 8일 보고한 시장 거부권과 구분되는 후속 절차다.[R1]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19100" y="2947987"/>
            <a:ext cx="3429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947987"/>
            <a:ext cx="8335518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미확인: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이번 결과가 개별 회사에 신규 무인 상용 허가를 발급하거나 Waymo의 승객 서비스를 개시한 것은 아니다. MPR은 현지 Waymo 운행을 사람이 운전석에 있는 시험으로 설명한다.[R1]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38150" y="3671888"/>
            <a:ext cx="5210175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출처: MPR News·Minnesota Reformer, 2026-10-15.[R1][R2]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3862" y="285750"/>
            <a:ext cx="238125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02B4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신규 업데이트</a:t>
            </a:r>
            <a:endParaRPr lang="en-US" sz="2250" dirty="0"/>
          </a:p>
        </p:txBody>
      </p:sp>
      <p:sp>
        <p:nvSpPr>
          <p:cNvPr id="3" name="Text 1"/>
          <p:cNvSpPr txBox="1"/>
          <p:nvPr/>
        </p:nvSpPr>
        <p:spPr>
          <a:xfrm>
            <a:off x="438150" y="823913"/>
            <a:ext cx="3895725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3765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[신규 확인] Tesla | 원격운전 중 저속 접촉사고 2건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438150" y="1262063"/>
            <a:ext cx="8597837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b="1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보도: 2026-10-15 / 발생: 2026-08 / 제출: 2026-09.</a:t>
            </a:r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정확한 사고 일자는 공개 CSV에 없으며 월 단위로 제시된다.[R3][R4][R5]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38150" y="2330202"/>
            <a:ext cx="8458200" cy="9525"/>
          </a:xfrm>
          <a:prstGeom prst="rect">
            <a:avLst/>
          </a:prstGeom>
          <a:solidFill>
            <a:srgbClr val="9CA3AF">
              <a:alpha val="2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438150" y="2707779"/>
            <a:ext cx="8458200" cy="9525"/>
          </a:xfrm>
          <a:prstGeom prst="rect">
            <a:avLst/>
          </a:prstGeom>
          <a:solidFill>
            <a:srgbClr val="9CA3AF">
              <a:alpha val="2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438150" y="3085356"/>
            <a:ext cx="8458200" cy="9525"/>
          </a:xfrm>
          <a:prstGeom prst="rect">
            <a:avLst/>
          </a:prstGeom>
          <a:solidFill>
            <a:srgbClr val="9CA3AF">
              <a:alpha val="20000"/>
            </a:srgbClr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19100" y="3099643"/>
            <a:ext cx="3429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" y="3099643"/>
            <a:ext cx="8384095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두 보고서 모두 Model Y이며 운전자 유형은 </a:t>
            </a:r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Remote (Commercial / Test)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피해 항목은 재산 피해·보고된 부상 없음이다.[R3]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419100" y="3756868"/>
            <a:ext cx="3429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85800" y="3756868"/>
            <a:ext cx="8277225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자료는 Tesla가 제출한 사고 설명이다. 이번 확인을 NHTSA의 결함 판정·리콜 또는 새로운 운행 허가로 해석하지 않는다.[R3][R4]</a:t>
            </a:r>
            <a:endParaRPr lang="en-US" sz="1500" dirty="0"/>
          </a:p>
        </p:txBody>
      </p:sp>
      <p:graphicFrame>
        <p:nvGraphicFramePr>
          <p:cNvPr id="903" name="Editable source table"/>
          <p:cNvGraphicFramePr/>
          <p:nvPr/>
        </p:nvGraphicFramePr>
        <p:xfrm>
          <a:off x="438150" y="1957387"/>
          <a:ext cx="8458200" cy="1132731"/>
        </p:xfrm>
        <a:graphic>
          <a:graphicData uri="http://schemas.openxmlformats.org/drawingml/2006/main/table">
            <a:tbl>
              <a:tblPr firstRow="1" bandRow="0"/>
              <a:tblGrid>
                <a:gridCol w="1363712"/>
                <a:gridCol w="4469755"/>
                <a:gridCol w="2624733"/>
              </a:tblGrid>
              <a:tr h="377577">
                <a:tc>
                  <a:txBody>
                    <a:bodyPr vert="horz" wrap="square"/>
                    <a:lstStyle/>
                    <a:p>
                      <a:pPr algn="l" indent="0" marL="0">
                        <a:buNone/>
                      </a:pPr>
                      <a:r>
                        <a:rPr lang="en-US" sz="1275" dirty="0">
                          <a:solidFill>
                            <a:srgbClr val="20304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NHTSA 보고서</a:t>
                      </a:r>
                      <a:endParaRPr lang="en-US" sz="1275" dirty="0"/>
                    </a:p>
                  </a:txBody>
                  <a:tcPr marL="66675" marR="66675" marT="66675" marB="0" anchor="t">
                    <a:lnB w="6350">
                      <a:solidFill>
                        <a:srgbClr val="DDE3E9"/>
                      </a:solidFill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l" indent="0" marL="0">
                        <a:buNone/>
                      </a:pPr>
                      <a:r>
                        <a:rPr lang="en-US" sz="1275" dirty="0">
                          <a:solidFill>
                            <a:srgbClr val="20304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장소·상황</a:t>
                      </a:r>
                      <a:endParaRPr lang="en-US" sz="1275" dirty="0"/>
                    </a:p>
                  </a:txBody>
                  <a:tcPr marL="66675" marR="66675" marT="66675" marB="0" anchor="t">
                    <a:lnB w="6350">
                      <a:solidFill>
                        <a:srgbClr val="DDE3E9"/>
                      </a:solidFill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l" indent="0" marL="0">
                        <a:buNone/>
                      </a:pPr>
                      <a:r>
                        <a:rPr lang="en-US" sz="1275" dirty="0">
                          <a:solidFill>
                            <a:srgbClr val="20304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접촉 속도·탑승 상태</a:t>
                      </a:r>
                      <a:endParaRPr lang="en-US" sz="1275" dirty="0"/>
                    </a:p>
                  </a:txBody>
                  <a:tcPr marL="66675" marR="66675" marT="66675" marB="0" anchor="t">
                    <a:lnB w="6350">
                      <a:solidFill>
                        <a:srgbClr val="DDE3E9"/>
                      </a:solidFill>
                    </a:lnB>
                  </a:tcPr>
                </a:tc>
              </a:tr>
              <a:tr h="377577">
                <a:tc>
                  <a:txBody>
                    <a:bodyPr vert="horz" wrap="square"/>
                    <a:lstStyle/>
                    <a:p>
                      <a:pPr algn="l" indent="0" marL="0">
                        <a:buNone/>
                      </a:pPr>
                      <a:r>
                        <a:rPr lang="en-US" sz="1275" dirty="0">
                          <a:solidFill>
                            <a:srgbClr val="20304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13781-16678</a:t>
                      </a:r>
                      <a:endParaRPr lang="en-US" sz="1275" dirty="0"/>
                    </a:p>
                  </a:txBody>
                  <a:tcPr marL="66675" marR="66675" marT="66675" marB="0" anchor="t">
                    <a:lnB w="6350">
                      <a:solidFill>
                        <a:srgbClr val="DDE3E9"/>
                      </a:solidFill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l" indent="0" marL="0">
                        <a:buNone/>
                      </a:pPr>
                      <a:r>
                        <a:rPr lang="en-US" sz="1275" dirty="0">
                          <a:solidFill>
                            <a:srgbClr val="20304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Dallas: 정차 후 원격운전자가 조작, 주차 SUV와 접촉</a:t>
                      </a:r>
                      <a:endParaRPr lang="en-US" sz="1275" dirty="0"/>
                    </a:p>
                  </a:txBody>
                  <a:tcPr marL="66675" marR="66675" marT="66675" marB="0" anchor="t">
                    <a:lnB w="6350">
                      <a:solidFill>
                        <a:srgbClr val="DDE3E9"/>
                      </a:solidFill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l" indent="0" marL="0">
                        <a:buNone/>
                      </a:pPr>
                      <a:r>
                        <a:rPr lang="en-US" sz="1275" dirty="0">
                          <a:solidFill>
                            <a:srgbClr val="20304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약 0.40 mph · 승객 없음 [R3]</a:t>
                      </a:r>
                      <a:endParaRPr lang="en-US" sz="1275" dirty="0"/>
                    </a:p>
                  </a:txBody>
                  <a:tcPr marL="66675" marR="66675" marT="66675" marB="0" anchor="t">
                    <a:lnB w="6350">
                      <a:solidFill>
                        <a:srgbClr val="DDE3E9"/>
                      </a:solidFill>
                    </a:lnB>
                  </a:tcPr>
                </a:tc>
              </a:tr>
              <a:tr h="377577">
                <a:tc>
                  <a:txBody>
                    <a:bodyPr vert="horz" wrap="square"/>
                    <a:lstStyle/>
                    <a:p>
                      <a:pPr algn="l" indent="0" marL="0">
                        <a:buNone/>
                      </a:pPr>
                      <a:r>
                        <a:rPr lang="en-US" sz="1275" dirty="0">
                          <a:solidFill>
                            <a:srgbClr val="20304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13781-16679</a:t>
                      </a:r>
                      <a:endParaRPr lang="en-US" sz="1275" dirty="0"/>
                    </a:p>
                  </a:txBody>
                  <a:tcPr marL="66675" marR="66675" marT="66675" marB="0" anchor="t">
                    <a:lnB w="6350">
                      <a:solidFill>
                        <a:srgbClr val="DDE3E9"/>
                      </a:solidFill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l" indent="0" marL="0">
                        <a:buNone/>
                      </a:pPr>
                      <a:r>
                        <a:rPr lang="en-US" sz="1275" dirty="0">
                          <a:solidFill>
                            <a:srgbClr val="20304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Austin: 원격운전자 조작 중 골목의 쓰레기통과 접촉</a:t>
                      </a:r>
                      <a:endParaRPr lang="en-US" sz="1275" dirty="0"/>
                    </a:p>
                  </a:txBody>
                  <a:tcPr marL="66675" marR="66675" marT="66675" marB="0" anchor="t">
                    <a:lnB w="6350">
                      <a:solidFill>
                        <a:srgbClr val="DDE3E9"/>
                      </a:solidFill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l" indent="0" marL="0">
                        <a:buNone/>
                      </a:pPr>
                      <a:r>
                        <a:rPr lang="en-US" sz="1275" dirty="0">
                          <a:solidFill>
                            <a:srgbClr val="20304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약 1 mph · 승객 없음 [R3]</a:t>
                      </a:r>
                      <a:endParaRPr lang="en-US" sz="1275" dirty="0"/>
                    </a:p>
                  </a:txBody>
                  <a:tcPr marL="66675" marR="66675" marT="66675" marB="0" anchor="t">
                    <a:lnB w="6350">
                      <a:solidFill>
                        <a:srgbClr val="DDE3E9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3862" y="285750"/>
            <a:ext cx="276225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02B4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기업/지역별 상세 내용</a:t>
            </a:r>
            <a:endParaRPr lang="en-US" sz="2250" dirty="0"/>
          </a:p>
        </p:txBody>
      </p:sp>
      <p:sp>
        <p:nvSpPr>
          <p:cNvPr id="3" name="Text 1"/>
          <p:cNvSpPr txBox="1"/>
          <p:nvPr/>
        </p:nvSpPr>
        <p:spPr>
          <a:xfrm>
            <a:off x="438150" y="823913"/>
            <a:ext cx="3409950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3765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Zoox | [신규 보도][유료 기사][원문 미확인]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419100" y="1262063"/>
            <a:ext cx="3429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262063"/>
            <a:ext cx="8335518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10월 15일 보도: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Hayward의 25500 Clawiter Road에서 35만 ft² 초과 공간을 임차했다는 내용이다. 계약 체결일·입주일은 확인되지 않았다.[R6]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19100" y="1919287"/>
            <a:ext cx="3429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919287"/>
            <a:ext cx="8248078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원문 접근 범위: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기사 페이지는 접근 확인 화면만 반환했다. 검색 제공 텍스트에서 면적·주소 및 회사의 fleet 확대 지원 설명을 확인했으며, 원문 전체를 읽은 것은 아니다.[R6]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19100" y="2576512"/>
            <a:ext cx="3429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576512"/>
            <a:ext cx="8229600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공개 보완 자료: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East Bay EDA의 2월 방문 기록은 기존 22만 ft² 공장과 연 1만 대 생산 목표를 설명한다. 이는 기존 공장 배경이며 이번 임차의 독립 확인 자료가 아니다.[R7]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19100" y="3233737"/>
            <a:ext cx="3429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3233737"/>
            <a:ext cx="7439025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미확인:</a:t>
            </a:r>
            <a:pPr algn="l" indent="0" marL="0"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신규 공간의 구체적 용도·가동일·추가 생산능력·실제 생산량은 확정할 수 없다.[R6][R7]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38150" y="3671888"/>
            <a:ext cx="4752975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시설 확보 보도와 차량 양산·상용 fleet 확대 달성을 분리했다.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3862" y="285750"/>
            <a:ext cx="24003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02B4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지정 6개사 L4 점검</a:t>
            </a:r>
            <a:endParaRPr lang="en-US" sz="2250" dirty="0"/>
          </a:p>
        </p:txBody>
      </p:sp>
      <p:sp>
        <p:nvSpPr>
          <p:cNvPr id="3" name="Shape 1"/>
          <p:cNvSpPr/>
          <p:nvPr/>
        </p:nvSpPr>
        <p:spPr>
          <a:xfrm>
            <a:off x="438150" y="1196727"/>
            <a:ext cx="8458200" cy="9525"/>
          </a:xfrm>
          <a:prstGeom prst="rect">
            <a:avLst/>
          </a:prstGeom>
          <a:solidFill>
            <a:srgbClr val="9CA3AF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38150" y="1574304"/>
            <a:ext cx="8458200" cy="9525"/>
          </a:xfrm>
          <a:prstGeom prst="rect">
            <a:avLst/>
          </a:prstGeom>
          <a:solidFill>
            <a:srgbClr val="9CA3AF">
              <a:alpha val="2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438150" y="1951881"/>
            <a:ext cx="8458200" cy="9525"/>
          </a:xfrm>
          <a:prstGeom prst="rect">
            <a:avLst/>
          </a:prstGeom>
          <a:solidFill>
            <a:srgbClr val="9CA3AF">
              <a:alpha val="2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438150" y="2329458"/>
            <a:ext cx="8458200" cy="9525"/>
          </a:xfrm>
          <a:prstGeom prst="rect">
            <a:avLst/>
          </a:prstGeom>
          <a:solidFill>
            <a:srgbClr val="9CA3AF">
              <a:alpha val="2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438150" y="2707035"/>
            <a:ext cx="8458200" cy="9525"/>
          </a:xfrm>
          <a:prstGeom prst="rect">
            <a:avLst/>
          </a:prstGeom>
          <a:solidFill>
            <a:srgbClr val="9CA3AF">
              <a:alpha val="2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438150" y="3084612"/>
            <a:ext cx="8458200" cy="9525"/>
          </a:xfrm>
          <a:prstGeom prst="rect">
            <a:avLst/>
          </a:prstGeom>
          <a:solidFill>
            <a:srgbClr val="9CA3AF">
              <a:alpha val="2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438150" y="3462189"/>
            <a:ext cx="8458200" cy="9525"/>
          </a:xfrm>
          <a:prstGeom prst="rect">
            <a:avLst/>
          </a:prstGeom>
          <a:solidFill>
            <a:srgbClr val="9CA3AF">
              <a:alpha val="20000"/>
            </a:srgbClr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438150" y="3628876"/>
            <a:ext cx="847725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점검 범위: 무인·안전요원 전환, 시험/상용 허가, 지역·차량 수, L4 적용, 제휴 실행. 공개 자료와 최신 검색에서 이전 보고 이후의 실질적 변화를 확인하지 못했다. 일반 사업·L2/3 소식과 같은 사건의 재보도는 제외했다.</a:t>
            </a:r>
            <a:endParaRPr lang="en-US" sz="1500" dirty="0"/>
          </a:p>
        </p:txBody>
      </p:sp>
      <p:graphicFrame>
        <p:nvGraphicFramePr>
          <p:cNvPr id="905" name="Editable source table"/>
          <p:cNvGraphicFramePr/>
          <p:nvPr/>
        </p:nvGraphicFramePr>
        <p:xfrm>
          <a:off x="438150" y="823912"/>
          <a:ext cx="8458200" cy="2643039"/>
        </p:xfrm>
        <a:graphic>
          <a:graphicData uri="http://schemas.openxmlformats.org/drawingml/2006/main/table">
            <a:tbl>
              <a:tblPr firstRow="1" bandRow="0"/>
              <a:tblGrid>
                <a:gridCol w="1934170"/>
                <a:gridCol w="2916585"/>
                <a:gridCol w="3607445"/>
              </a:tblGrid>
              <a:tr h="377577">
                <a:tc>
                  <a:txBody>
                    <a:bodyPr vert="horz" wrap="square"/>
                    <a:lstStyle/>
                    <a:p>
                      <a:pPr algn="l" indent="0" marL="0">
                        <a:buNone/>
                      </a:pPr>
                      <a:r>
                        <a:rPr lang="en-US" sz="1275" dirty="0">
                          <a:solidFill>
                            <a:srgbClr val="20304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기업</a:t>
                      </a:r>
                      <a:endParaRPr lang="en-US" sz="1275" dirty="0"/>
                    </a:p>
                  </a:txBody>
                  <a:tcPr marL="66675" marR="66675" marT="66675" marB="0" anchor="t">
                    <a:lnB w="6350">
                      <a:solidFill>
                        <a:srgbClr val="DDE3E9"/>
                      </a:solidFill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l" indent="0" marL="0">
                        <a:buNone/>
                      </a:pPr>
                      <a:r>
                        <a:rPr lang="en-US" sz="1275" dirty="0">
                          <a:solidFill>
                            <a:srgbClr val="20304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이전 보고 이후 확인 결과</a:t>
                      </a:r>
                      <a:endParaRPr lang="en-US" sz="1275" dirty="0"/>
                    </a:p>
                  </a:txBody>
                  <a:tcPr marL="66675" marR="66675" marT="66675" marB="0" anchor="t">
                    <a:lnB w="6350">
                      <a:solidFill>
                        <a:srgbClr val="DDE3E9"/>
                      </a:solidFill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l" indent="0" marL="0">
                        <a:buNone/>
                      </a:pPr>
                      <a:r>
                        <a:rPr lang="en-US" sz="1275" dirty="0">
                          <a:solidFill>
                            <a:srgbClr val="20304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점검 출처</a:t>
                      </a:r>
                      <a:endParaRPr lang="en-US" sz="1275" dirty="0"/>
                    </a:p>
                  </a:txBody>
                  <a:tcPr marL="66675" marR="66675" marT="66675" marB="0" anchor="t">
                    <a:lnB w="6350">
                      <a:solidFill>
                        <a:srgbClr val="DDE3E9"/>
                      </a:solidFill>
                    </a:lnB>
                  </a:tcPr>
                </a:tc>
              </a:tr>
              <a:tr h="377577">
                <a:tc>
                  <a:txBody>
                    <a:bodyPr vert="horz" wrap="square"/>
                    <a:lstStyle/>
                    <a:p>
                      <a:pPr algn="l" indent="0" marL="0">
                        <a:buNone/>
                      </a:pPr>
                      <a:r>
                        <a:rPr lang="en-US" sz="1275" dirty="0">
                          <a:solidFill>
                            <a:srgbClr val="20304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Uber</a:t>
                      </a:r>
                      <a:endParaRPr lang="en-US" sz="1275" dirty="0"/>
                    </a:p>
                  </a:txBody>
                  <a:tcPr marL="66675" marR="66675" marT="66675" marB="0" anchor="t">
                    <a:lnB w="6350">
                      <a:solidFill>
                        <a:srgbClr val="DDE3E9"/>
                      </a:solidFill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l" indent="0" marL="0">
                        <a:buNone/>
                      </a:pPr>
                      <a:r>
                        <a:rPr lang="en-US" sz="1275" dirty="0">
                          <a:solidFill>
                            <a:srgbClr val="20304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신규 확인 사항 없음</a:t>
                      </a:r>
                      <a:endParaRPr lang="en-US" sz="1275" dirty="0"/>
                    </a:p>
                  </a:txBody>
                  <a:tcPr marL="66675" marR="66675" marT="66675" marB="0" anchor="t">
                    <a:lnB w="6350">
                      <a:solidFill>
                        <a:srgbClr val="DDE3E9"/>
                      </a:solidFill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l" indent="0" marL="0">
                        <a:buNone/>
                      </a:pPr>
                      <a:r>
                        <a:rPr lang="en-US" sz="1275" dirty="0">
                          <a:solidFill>
                            <a:srgbClr val="20304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공식 뉴스룸 [R8]</a:t>
                      </a:r>
                      <a:endParaRPr lang="en-US" sz="1275" dirty="0"/>
                    </a:p>
                  </a:txBody>
                  <a:tcPr marL="66675" marR="66675" marT="66675" marB="0" anchor="t">
                    <a:lnB w="6350">
                      <a:solidFill>
                        <a:srgbClr val="DDE3E9"/>
                      </a:solidFill>
                    </a:lnB>
                  </a:tcPr>
                </a:tc>
              </a:tr>
              <a:tr h="377577">
                <a:tc>
                  <a:txBody>
                    <a:bodyPr vert="horz" wrap="square"/>
                    <a:lstStyle/>
                    <a:p>
                      <a:pPr algn="l" indent="0" marL="0">
                        <a:buNone/>
                      </a:pPr>
                      <a:r>
                        <a:rPr lang="en-US" sz="1275" dirty="0">
                          <a:solidFill>
                            <a:srgbClr val="20304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Avride</a:t>
                      </a:r>
                      <a:endParaRPr lang="en-US" sz="1275" dirty="0"/>
                    </a:p>
                  </a:txBody>
                  <a:tcPr marL="66675" marR="66675" marT="66675" marB="0" anchor="t">
                    <a:lnB w="6350">
                      <a:solidFill>
                        <a:srgbClr val="DDE3E9"/>
                      </a:solidFill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l" indent="0" marL="0">
                        <a:buNone/>
                      </a:pPr>
                      <a:r>
                        <a:rPr lang="en-US" sz="1275" dirty="0">
                          <a:solidFill>
                            <a:srgbClr val="20304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신규 확인 사항 없음</a:t>
                      </a:r>
                      <a:endParaRPr lang="en-US" sz="1275" dirty="0"/>
                    </a:p>
                  </a:txBody>
                  <a:tcPr marL="66675" marR="66675" marT="66675" marB="0" anchor="t">
                    <a:lnB w="6350">
                      <a:solidFill>
                        <a:srgbClr val="DDE3E9"/>
                      </a:solidFill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l" indent="0" marL="0">
                        <a:buNone/>
                      </a:pPr>
                      <a:r>
                        <a:rPr lang="en-US" sz="1275" dirty="0">
                          <a:solidFill>
                            <a:srgbClr val="20304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공식 홈페이지 [R9]</a:t>
                      </a:r>
                      <a:endParaRPr lang="en-US" sz="1275" dirty="0"/>
                    </a:p>
                  </a:txBody>
                  <a:tcPr marL="66675" marR="66675" marT="66675" marB="0" anchor="t">
                    <a:lnB w="6350">
                      <a:solidFill>
                        <a:srgbClr val="DDE3E9"/>
                      </a:solidFill>
                    </a:lnB>
                  </a:tcPr>
                </a:tc>
              </a:tr>
              <a:tr h="377577">
                <a:tc>
                  <a:txBody>
                    <a:bodyPr vert="horz" wrap="square"/>
                    <a:lstStyle/>
                    <a:p>
                      <a:pPr algn="l" indent="0" marL="0">
                        <a:buNone/>
                      </a:pPr>
                      <a:r>
                        <a:rPr lang="en-US" sz="1275" dirty="0">
                          <a:solidFill>
                            <a:srgbClr val="20304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Bolt</a:t>
                      </a:r>
                      <a:endParaRPr lang="en-US" sz="1275" dirty="0"/>
                    </a:p>
                  </a:txBody>
                  <a:tcPr marL="66675" marR="66675" marT="66675" marB="0" anchor="t">
                    <a:lnB w="6350">
                      <a:solidFill>
                        <a:srgbClr val="DDE3E9"/>
                      </a:solidFill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l" indent="0" marL="0">
                        <a:buNone/>
                      </a:pPr>
                      <a:r>
                        <a:rPr lang="en-US" sz="1275" dirty="0">
                          <a:solidFill>
                            <a:srgbClr val="20304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신규 확인 사항 없음</a:t>
                      </a:r>
                      <a:endParaRPr lang="en-US" sz="1275" dirty="0"/>
                    </a:p>
                  </a:txBody>
                  <a:tcPr marL="66675" marR="66675" marT="66675" marB="0" anchor="t">
                    <a:lnB w="6350">
                      <a:solidFill>
                        <a:srgbClr val="DDE3E9"/>
                      </a:solidFill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l" indent="0" marL="0">
                        <a:buNone/>
                      </a:pPr>
                      <a:r>
                        <a:rPr lang="en-US" sz="1275" dirty="0">
                          <a:solidFill>
                            <a:srgbClr val="20304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Autonomous solutions [R10]</a:t>
                      </a:r>
                      <a:endParaRPr lang="en-US" sz="1275" dirty="0"/>
                    </a:p>
                  </a:txBody>
                  <a:tcPr marL="66675" marR="66675" marT="66675" marB="0" anchor="t">
                    <a:lnB w="6350">
                      <a:solidFill>
                        <a:srgbClr val="DDE3E9"/>
                      </a:solidFill>
                    </a:lnB>
                  </a:tcPr>
                </a:tc>
              </a:tr>
              <a:tr h="377577">
                <a:tc>
                  <a:txBody>
                    <a:bodyPr vert="horz" wrap="square"/>
                    <a:lstStyle/>
                    <a:p>
                      <a:pPr algn="l" indent="0" marL="0">
                        <a:buNone/>
                      </a:pPr>
                      <a:r>
                        <a:rPr lang="en-US" sz="1275" dirty="0">
                          <a:solidFill>
                            <a:srgbClr val="20304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Mobileye</a:t>
                      </a:r>
                      <a:endParaRPr lang="en-US" sz="1275" dirty="0"/>
                    </a:p>
                  </a:txBody>
                  <a:tcPr marL="66675" marR="66675" marT="66675" marB="0" anchor="t">
                    <a:lnB w="6350">
                      <a:solidFill>
                        <a:srgbClr val="DDE3E9"/>
                      </a:solidFill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l" indent="0" marL="0">
                        <a:buNone/>
                      </a:pPr>
                      <a:r>
                        <a:rPr lang="en-US" sz="1275" dirty="0">
                          <a:solidFill>
                            <a:srgbClr val="20304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신규 확인 사항 없음</a:t>
                      </a:r>
                      <a:endParaRPr lang="en-US" sz="1275" dirty="0"/>
                    </a:p>
                  </a:txBody>
                  <a:tcPr marL="66675" marR="66675" marT="66675" marB="0" anchor="t">
                    <a:lnB w="6350">
                      <a:solidFill>
                        <a:srgbClr val="DDE3E9"/>
                      </a:solidFill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l" indent="0" marL="0">
                        <a:buNone/>
                      </a:pPr>
                      <a:r>
                        <a:rPr lang="en-US" sz="1275" dirty="0">
                          <a:solidFill>
                            <a:srgbClr val="20304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공식 News [R11]</a:t>
                      </a:r>
                      <a:endParaRPr lang="en-US" sz="1275" dirty="0"/>
                    </a:p>
                  </a:txBody>
                  <a:tcPr marL="66675" marR="66675" marT="66675" marB="0" anchor="t">
                    <a:lnB w="6350">
                      <a:solidFill>
                        <a:srgbClr val="DDE3E9"/>
                      </a:solidFill>
                    </a:lnB>
                  </a:tcPr>
                </a:tc>
              </a:tr>
              <a:tr h="377577">
                <a:tc>
                  <a:txBody>
                    <a:bodyPr vert="horz" wrap="square"/>
                    <a:lstStyle/>
                    <a:p>
                      <a:pPr algn="l" indent="0" marL="0">
                        <a:buNone/>
                      </a:pPr>
                      <a:r>
                        <a:rPr lang="en-US" sz="1275" dirty="0">
                          <a:solidFill>
                            <a:srgbClr val="20304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카카오모빌리티</a:t>
                      </a:r>
                      <a:endParaRPr lang="en-US" sz="1275" dirty="0"/>
                    </a:p>
                  </a:txBody>
                  <a:tcPr marL="66675" marR="66675" marT="66675" marB="0" anchor="t">
                    <a:lnB w="6350">
                      <a:solidFill>
                        <a:srgbClr val="DDE3E9"/>
                      </a:solidFill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l" indent="0" marL="0">
                        <a:buNone/>
                      </a:pPr>
                      <a:r>
                        <a:rPr lang="en-US" sz="1275" dirty="0">
                          <a:solidFill>
                            <a:srgbClr val="20304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신규 확인 사항 없음</a:t>
                      </a:r>
                      <a:endParaRPr lang="en-US" sz="1275" dirty="0"/>
                    </a:p>
                  </a:txBody>
                  <a:tcPr marL="66675" marR="66675" marT="66675" marB="0" anchor="t">
                    <a:lnB w="6350">
                      <a:solidFill>
                        <a:srgbClr val="DDE3E9"/>
                      </a:solidFill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l" indent="0" marL="0">
                        <a:buNone/>
                      </a:pPr>
                      <a:r>
                        <a:rPr lang="en-US" sz="1275" dirty="0">
                          <a:solidFill>
                            <a:srgbClr val="20304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공식 뉴스룸 [R12]</a:t>
                      </a:r>
                      <a:endParaRPr lang="en-US" sz="1275" dirty="0"/>
                    </a:p>
                  </a:txBody>
                  <a:tcPr marL="66675" marR="66675" marT="66675" marB="0" anchor="t">
                    <a:lnB w="6350">
                      <a:solidFill>
                        <a:srgbClr val="DDE3E9"/>
                      </a:solidFill>
                    </a:lnB>
                  </a:tcPr>
                </a:tc>
              </a:tr>
              <a:tr h="377577">
                <a:tc>
                  <a:txBody>
                    <a:bodyPr vert="horz" wrap="square"/>
                    <a:lstStyle/>
                    <a:p>
                      <a:pPr algn="l" indent="0" marL="0">
                        <a:buNone/>
                      </a:pPr>
                      <a:r>
                        <a:rPr lang="en-US" sz="1275" dirty="0">
                          <a:solidFill>
                            <a:srgbClr val="20304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쏘카</a:t>
                      </a:r>
                      <a:endParaRPr lang="en-US" sz="1275" dirty="0"/>
                    </a:p>
                  </a:txBody>
                  <a:tcPr marL="66675" marR="66675" marT="66675" marB="0" anchor="t">
                    <a:lnB w="6350">
                      <a:solidFill>
                        <a:srgbClr val="DDE3E9"/>
                      </a:solidFill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l" indent="0" marL="0">
                        <a:buNone/>
                      </a:pPr>
                      <a:r>
                        <a:rPr lang="en-US" sz="1275" dirty="0">
                          <a:solidFill>
                            <a:srgbClr val="20304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신규 확인 사항 없음</a:t>
                      </a:r>
                      <a:endParaRPr lang="en-US" sz="1275" dirty="0"/>
                    </a:p>
                  </a:txBody>
                  <a:tcPr marL="66675" marR="66675" marT="66675" marB="0" anchor="t">
                    <a:lnB w="6350">
                      <a:solidFill>
                        <a:srgbClr val="DDE3E9"/>
                      </a:solidFill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l" indent="0" marL="0">
                        <a:buNone/>
                      </a:pPr>
                      <a:r>
                        <a:rPr lang="en-US" sz="1275" dirty="0">
                          <a:solidFill>
                            <a:srgbClr val="20304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공식 블로그 [R13]</a:t>
                      </a:r>
                      <a:endParaRPr lang="en-US" sz="1275" dirty="0"/>
                    </a:p>
                  </a:txBody>
                  <a:tcPr marL="66675" marR="66675" marT="66675" marB="0" anchor="t">
                    <a:lnB w="6350">
                      <a:solidFill>
                        <a:srgbClr val="DDE3E9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3862" y="285750"/>
            <a:ext cx="3076575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02B4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May Mobility 심층 점검</a:t>
            </a:r>
            <a:endParaRPr lang="en-US" sz="2250" dirty="0"/>
          </a:p>
        </p:txBody>
      </p:sp>
      <p:sp>
        <p:nvSpPr>
          <p:cNvPr id="3" name="Text 1"/>
          <p:cNvSpPr txBox="1"/>
          <p:nvPr/>
        </p:nvSpPr>
        <p:spPr>
          <a:xfrm>
            <a:off x="438150" y="823913"/>
            <a:ext cx="4029075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3765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[중복] 이전 보고 2026-10-15 · 신규 확인 사항 없음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438150" y="1243013"/>
            <a:ext cx="1952625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① 실제 서비스 지역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419100" y="1566862"/>
            <a:ext cx="3429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566862"/>
            <a:ext cx="8286941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SEC 9월 16일 자료의 미국 상용 지역은 Atlanta, Eden Prairie, Grand Rapids(Minnesota)다. 오늘 새로 개시한 지역이 아니다.[R14]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19100" y="2224088"/>
            <a:ext cx="3429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224088"/>
            <a:ext cx="8229600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Arlington·Uber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서비스는 2026년 4분기~2027년 1분기 목표이며, 개시 달성을 추가 확인하지 못했다.[R14][R19]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19100" y="2881313"/>
            <a:ext cx="3429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881313"/>
            <a:ext cx="8277225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나고야: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SEC는 9월 실증 개시를 명시한다. NTT의 사전 공지는 9월 11일~2027년 3월 19일, 평일 운행·차량 3대·승하차 5곳을 제시한다.[R14][R15]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19100" y="3538538"/>
            <a:ext cx="3429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3538538"/>
            <a:ext cx="8354949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수치는 실증 설계이며 당일 가동 대수·무인 전환의 증거는 아니다. 회사·파트너 자료에서 신규 운영 변화가 확인되지 않았다.[R15][R19]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3862" y="285750"/>
            <a:ext cx="3076575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02B4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May Mobility 심층 점검</a:t>
            </a:r>
            <a:endParaRPr lang="en-US" sz="2250" dirty="0"/>
          </a:p>
        </p:txBody>
      </p:sp>
      <p:sp>
        <p:nvSpPr>
          <p:cNvPr id="3" name="Text 1"/>
          <p:cNvSpPr txBox="1"/>
          <p:nvPr/>
        </p:nvSpPr>
        <p:spPr>
          <a:xfrm>
            <a:off x="438150" y="823913"/>
            <a:ext cx="4029075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3765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[중복] 이전 보고 2026-10-15 · 신규 확인 사항 없음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438150" y="1243013"/>
            <a:ext cx="3457575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② 안전요원·무인 수준 / 기술·ODD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419100" y="1566862"/>
            <a:ext cx="3429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566862"/>
            <a:ext cx="8277225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Atlanta: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공식 긴급대응 지침은 Midtown Toyota Sienna에 운전석 Safety Operator가 탑승한다고 명시한다. 무인 상용 서비스로 바꿔 표기할 근거가 없다.[R16]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19100" y="2224088"/>
            <a:ext cx="3429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224088"/>
            <a:ext cx="8267510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나고야: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NTT는 향후 L4 구현을 위한 교차로 제어·배차 검증이라고 설명한다. 현재 L4 허가나 운전석 무인 달성을 입증하지 않는다.[R15]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19100" y="2881313"/>
            <a:ext cx="3429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881313"/>
            <a:ext cx="8306371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기술: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5세대 시스템은 딥러닝·월드 모델·실시간 추론을 차량 내에서 결합한다는 회사 발표다. 개별 지역의 허가·ODD 확대 실적과 구분한다.[R17]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19100" y="3538538"/>
            <a:ext cx="3429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3538538"/>
            <a:ext cx="7762875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최신 속도·기상·도로별 ODD 전체와 추가 안전요원 철수는 확인하지 못했다.[R15][R16][R17][R19]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3862" y="285750"/>
            <a:ext cx="3076575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02B4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May Mobility 심층 점검</a:t>
            </a:r>
            <a:endParaRPr lang="en-US" sz="2250" dirty="0"/>
          </a:p>
        </p:txBody>
      </p:sp>
      <p:sp>
        <p:nvSpPr>
          <p:cNvPr id="3" name="Text 1"/>
          <p:cNvSpPr txBox="1"/>
          <p:nvPr/>
        </p:nvSpPr>
        <p:spPr>
          <a:xfrm>
            <a:off x="438150" y="823913"/>
            <a:ext cx="4029075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3765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[중복] 이전 보고 2026-10-15 · 신규 확인 사항 없음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438150" y="1243013"/>
            <a:ext cx="3971925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③ 차량·운영 실적 → ④ 투자·SPAC 일정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419100" y="1566862"/>
            <a:ext cx="3429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566862"/>
            <a:ext cx="8229600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누적 실적: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9월 16일 발표 기준 승차 55만 회 초과·110만 마일·driver-out 배치 3건이다. 모든 현재 지역이 무인이라는 뜻은 아니다.[R14]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19100" y="2224088"/>
            <a:ext cx="3429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224088"/>
            <a:ext cx="8384095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사업모델: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운영 파트너가 차량·차고·유지보수를 맡고 May Mobility가 자율주행 기술을 제공하는 AaaS 전환을 제시한다.[R14]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19100" y="2881313"/>
            <a:ext cx="3429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881313"/>
            <a:ext cx="8286941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거래 발표: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기업가치 약 14억 달러·총조달 최대 3억3,700만 달러·PIPE 1억2,000만 달러. 환매와 거래 조건에 영향을 받는 발표값이다.[R14]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19100" y="3538538"/>
            <a:ext cx="3429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3538538"/>
            <a:ext cx="8257794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종결 목표 불일치: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보도자료는 2026년 말, 투자자 자료는 2027년 1분기다. 이번 점검에서 합병·상장 완료는 확인되지 않았다.[R14][R18][R19]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19100" y="4195762"/>
            <a:ext cx="3429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4195762"/>
            <a:ext cx="8229600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현대자동차 연관성: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확인한 자료는 Toyota 기반 차량과 기존 파트너를 설명하며, 현대자동차와의 신규 직접 계약·차량 적용 근거는 찾지 못했다.[R14]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3862" y="285750"/>
            <a:ext cx="1343025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02B4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규제·안전</a:t>
            </a:r>
            <a:endParaRPr lang="en-US" sz="2250" dirty="0"/>
          </a:p>
        </p:txBody>
      </p:sp>
      <p:sp>
        <p:nvSpPr>
          <p:cNvPr id="3" name="Text 1"/>
          <p:cNvSpPr txBox="1"/>
          <p:nvPr/>
        </p:nvSpPr>
        <p:spPr>
          <a:xfrm>
            <a:off x="438150" y="823913"/>
            <a:ext cx="2495550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3765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확인된 변화와 자료 해석의 경계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419100" y="1262063"/>
            <a:ext cx="3429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262063"/>
            <a:ext cx="8238363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미니애폴리스: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이번 재의결 실패 후에도 조례 지지 의원들은 추가 규제 추진 의사를 밝혔다. 확정된 새 규정으로 보지 않는다.[R1][R2]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19100" y="1919287"/>
            <a:ext cx="3429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919287"/>
            <a:ext cx="8277225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Tesla: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다운로드한 ADS CSV에서 Report ID의 중복 버전을 제거하면 Tesla 보고 ID는 36개다. 이는 보고서 집계이며 “오늘 신규 사고 36건”이나 사고율이 아니다.[R3]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19100" y="2576512"/>
            <a:ext cx="3429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576512"/>
            <a:ext cx="8257794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NHTSA는 동일 사고의 복수 보고 가능성, 자료의 미검증·불완전성, 주행거리·차량 수로 정규화되지 않은 점을 명시한다.[R4]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19100" y="3233737"/>
            <a:ext cx="3429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3233737"/>
            <a:ext cx="8345233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따라서 원격개입 총횟수 없이 원격운전 실패율을 계산하거나, 보고된 2건을 근거로 자율주행 전체의 안전성을 단정하지 않는다.[R3][R4]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3862" y="285750"/>
            <a:ext cx="1609725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02B4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기술·공급망</a:t>
            </a:r>
            <a:endParaRPr lang="en-US" sz="2250" dirty="0"/>
          </a:p>
        </p:txBody>
      </p:sp>
      <p:sp>
        <p:nvSpPr>
          <p:cNvPr id="3" name="Text 1"/>
          <p:cNvSpPr txBox="1"/>
          <p:nvPr/>
        </p:nvSpPr>
        <p:spPr>
          <a:xfrm>
            <a:off x="419100" y="833437"/>
            <a:ext cx="3429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833437"/>
            <a:ext cx="8296656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Zoox: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시설 임차 보도는 기반시설 확보에 관한 소식이다. 신규 생산능력이나 출고 증가 달성은 확인되지 않았다. 상세 내용의 접근 제한·공개 보완 근거를 함께 참고한다.[R6][R7]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38150" y="1557338"/>
            <a:ext cx="4772025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 외 신규 기술 적용·공급 계약 실행의 추가 확인 사항은 없다.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3862" y="285750"/>
            <a:ext cx="150495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02B4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Reference</a:t>
            </a:r>
            <a:endParaRPr lang="en-US" sz="2250" dirty="0"/>
          </a:p>
        </p:txBody>
      </p:sp>
      <p:sp>
        <p:nvSpPr>
          <p:cNvPr id="3" name="Text 1"/>
          <p:cNvSpPr txBox="1"/>
          <p:nvPr/>
        </p:nvSpPr>
        <p:spPr>
          <a:xfrm>
            <a:off x="438150" y="823913"/>
            <a:ext cx="809625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3765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 1–5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424726" y="1262063"/>
            <a:ext cx="274320" cy="1866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11386" y="1262063"/>
            <a:ext cx="8304014" cy="383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2"/>
              </a:lnSpc>
              <a:buNone/>
            </a:pPr>
            <a:r>
              <a:rPr lang="en-US" sz="105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[R1] MPR News, Minneapolis City Council fails to override mayoral veto of autonomous rideshare rules, 2026-10-15: </a:t>
            </a:r>
            <a:pPr algn="l" indent="0" marL="0">
              <a:lnSpc>
                <a:spcPts val="1522"/>
              </a:lnSpc>
              <a:buNone/>
            </a:pPr>
            <a:r>
              <a:rPr lang="en-US" sz="1050" u="dash" dirty="0">
                <a:solidFill>
                  <a:srgbClr val="35699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https://www.mprnews.org/story/2026/10/15/minneapolis-city-council-fails-override-mayoral-veto-autonomous-rideshare-rules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424726" y="1801118"/>
            <a:ext cx="274320" cy="1866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611386" y="1801118"/>
            <a:ext cx="8304014" cy="383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2"/>
              </a:lnSpc>
              <a:buNone/>
            </a:pPr>
            <a:r>
              <a:rPr lang="en-US" sz="105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[R2] Minnesota Reformer, Minneapolis council fails to override mayoral veto of ban on driverless robotaxis, 2026-10-15: </a:t>
            </a:r>
            <a:pPr algn="l" indent="0" marL="0">
              <a:lnSpc>
                <a:spcPts val="1522"/>
              </a:lnSpc>
              <a:buNone/>
            </a:pPr>
            <a:r>
              <a:rPr lang="en-US" sz="1050" u="dash" dirty="0">
                <a:solidFill>
                  <a:srgbClr val="35699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https://minnesotareformer.com/2026/10/15/minneapolis-council-fails-to-override-mayoral-veto-of-ban-on-driverless-robotaxis/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424726" y="2340173"/>
            <a:ext cx="274320" cy="1866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611386" y="2340173"/>
            <a:ext cx="8304014" cy="383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2"/>
              </a:lnSpc>
              <a:buNone/>
            </a:pPr>
            <a:r>
              <a:rPr lang="en-US" sz="105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[R3] NHTSA, SGO ADS Incident Reports CSV — Tesla 13781-16678·16679, 2026-10-16 확인; 해당 보고서 제출 2026-09: </a:t>
            </a:r>
            <a:pPr algn="l" indent="0" marL="0">
              <a:lnSpc>
                <a:spcPts val="1522"/>
              </a:lnSpc>
              <a:buNone/>
            </a:pPr>
            <a:r>
              <a:rPr lang="en-US" sz="1050" u="dash" dirty="0">
                <a:solidFill>
                  <a:srgbClr val="35699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https://static.nhtsa.gov/odi/ffdd/sgo-2021-01/SGO-2021-01_Incident_Reports_ADS.csv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424726" y="2879229"/>
            <a:ext cx="274320" cy="1866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611386" y="2879229"/>
            <a:ext cx="8304014" cy="383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2"/>
              </a:lnSpc>
              <a:buNone/>
            </a:pPr>
            <a:r>
              <a:rPr lang="en-US" sz="105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[R4] NHTSA, Standing General Order on Crash Reporting — Data and Limitations, 2026-10-16 확인: </a:t>
            </a:r>
            <a:pPr algn="l" indent="0" marL="0">
              <a:lnSpc>
                <a:spcPts val="1522"/>
              </a:lnSpc>
              <a:buNone/>
            </a:pPr>
            <a:r>
              <a:rPr lang="en-US" sz="1050" u="dash" dirty="0">
                <a:solidFill>
                  <a:srgbClr val="35699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https://www.nhtsa.gov/laws-regulations/standing-general-order-crash-reporting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424726" y="3418284"/>
            <a:ext cx="274320" cy="1866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611386" y="3418284"/>
            <a:ext cx="8304014" cy="383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2"/>
              </a:lnSpc>
              <a:buNone/>
            </a:pPr>
            <a:r>
              <a:rPr lang="en-US" sz="105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[R5] Electrek, Tesla remote operators keep crashing its Robotaxis, data shows, 2026-10-15: </a:t>
            </a:r>
            <a:pPr algn="l" indent="0" marL="0">
              <a:lnSpc>
                <a:spcPts val="1522"/>
              </a:lnSpc>
              <a:buNone/>
            </a:pPr>
            <a:r>
              <a:rPr lang="en-US" sz="1050" u="dash" dirty="0">
                <a:solidFill>
                  <a:srgbClr val="35699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https://electrek.co/2026/10/15/tesla-remote-operators-crashing-robotaxis/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3862" y="285750"/>
            <a:ext cx="150495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02B4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Reference</a:t>
            </a:r>
            <a:endParaRPr lang="en-US" sz="2250" dirty="0"/>
          </a:p>
        </p:txBody>
      </p:sp>
      <p:sp>
        <p:nvSpPr>
          <p:cNvPr id="3" name="Text 1"/>
          <p:cNvSpPr txBox="1"/>
          <p:nvPr/>
        </p:nvSpPr>
        <p:spPr>
          <a:xfrm>
            <a:off x="438150" y="823913"/>
            <a:ext cx="914400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3765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 6–10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424726" y="1262063"/>
            <a:ext cx="274320" cy="1866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11386" y="1262063"/>
            <a:ext cx="8304014" cy="383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2"/>
              </a:lnSpc>
              <a:buNone/>
            </a:pPr>
            <a:r>
              <a:rPr lang="en-US" sz="105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[R6] San Francisco Chronicle [유료 기사][원문 미확인], Zoox more than doubles its robotaxi footprint in Bay Area city, 2026-10-15: </a:t>
            </a:r>
            <a:pPr algn="l" indent="0" marL="0">
              <a:lnSpc>
                <a:spcPts val="1522"/>
              </a:lnSpc>
              <a:buNone/>
            </a:pPr>
            <a:r>
              <a:rPr lang="en-US" sz="1050" u="dash" dirty="0">
                <a:solidFill>
                  <a:srgbClr val="35699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https://www.sfchronicle.com/realestate/article/zoox-hayward-expansion-350000-square-feet-22478588.php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424726" y="1801118"/>
            <a:ext cx="274320" cy="1866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611386" y="1801118"/>
            <a:ext cx="8304014" cy="383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2"/>
              </a:lnSpc>
              <a:buNone/>
            </a:pPr>
            <a:r>
              <a:rPr lang="en-US" sz="105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[R7] East Bay EDA, Members tour the Zoox robotaxi production facility in Hayward, 2026-02-11: </a:t>
            </a:r>
            <a:pPr algn="l" indent="0" marL="0">
              <a:lnSpc>
                <a:spcPts val="1522"/>
              </a:lnSpc>
              <a:buNone/>
            </a:pPr>
            <a:r>
              <a:rPr lang="en-US" sz="1050" u="dash" dirty="0">
                <a:solidFill>
                  <a:srgbClr val="35699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https://eastbayeda.org/members-tour-the-zoox-robotaxi-production-facility-in-hayward/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424726" y="2340173"/>
            <a:ext cx="274320" cy="1866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611386" y="2340173"/>
            <a:ext cx="5095875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[R8] Uber, Newsroom, 2026-10-16 확인: </a:t>
            </a:r>
            <a:pPr algn="l" indent="0" marL="0">
              <a:buNone/>
            </a:pPr>
            <a:r>
              <a:rPr lang="en-US" sz="1050" u="dash" dirty="0">
                <a:solidFill>
                  <a:srgbClr val="35699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https://www.uber.com/us/en/newsroom/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424726" y="2685901"/>
            <a:ext cx="274320" cy="1866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611386" y="2685901"/>
            <a:ext cx="41529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[R9] Avride, 공식 홈페이지, 2026-10-16 확인: </a:t>
            </a:r>
            <a:pPr algn="l" indent="0" marL="0">
              <a:buNone/>
            </a:pPr>
            <a:r>
              <a:rPr lang="en-US" sz="1050" u="dash" dirty="0">
                <a:solidFill>
                  <a:srgbClr val="35699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https://www.avride.ai/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424726" y="3031629"/>
            <a:ext cx="274320" cy="1866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611386" y="3031629"/>
            <a:ext cx="6867525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[R10] Bolt, Autonomous solutions, 2026-10-16 확인: </a:t>
            </a:r>
            <a:pPr algn="l" indent="0" marL="0">
              <a:buNone/>
            </a:pPr>
            <a:r>
              <a:rPr lang="en-US" sz="1050" u="dash" dirty="0">
                <a:solidFill>
                  <a:srgbClr val="35699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https://bolt.eu/en/blog/category/autonomous-solutions/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3862" y="285750"/>
            <a:ext cx="150495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02B4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Reference</a:t>
            </a:r>
            <a:endParaRPr lang="en-US" sz="2250" dirty="0"/>
          </a:p>
        </p:txBody>
      </p:sp>
      <p:sp>
        <p:nvSpPr>
          <p:cNvPr id="3" name="Text 1"/>
          <p:cNvSpPr txBox="1"/>
          <p:nvPr/>
        </p:nvSpPr>
        <p:spPr>
          <a:xfrm>
            <a:off x="438150" y="823913"/>
            <a:ext cx="1019175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3765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 11–15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424726" y="1262063"/>
            <a:ext cx="274320" cy="1866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11386" y="1262063"/>
            <a:ext cx="46863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[R11] Mobileye, News, 2026-10-16 확인: </a:t>
            </a:r>
            <a:pPr algn="l" indent="0" marL="0">
              <a:buNone/>
            </a:pPr>
            <a:r>
              <a:rPr lang="en-US" sz="1050" u="dash" dirty="0">
                <a:solidFill>
                  <a:srgbClr val="35699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https://www.mobileye.com/news/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424726" y="1607790"/>
            <a:ext cx="274320" cy="1866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611386" y="1607790"/>
            <a:ext cx="59817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[R12] 카카오모빌리티, 뉴스룸, 2026-10-16 확인: </a:t>
            </a:r>
            <a:pPr algn="l" indent="0" marL="0">
              <a:buNone/>
            </a:pPr>
            <a:r>
              <a:rPr lang="en-US" sz="1050" u="dash" dirty="0">
                <a:solidFill>
                  <a:srgbClr val="35699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https://www.kakaomobility.com/newsroom/news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424726" y="1953518"/>
            <a:ext cx="274320" cy="1866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611386" y="1953518"/>
            <a:ext cx="4448175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[R13] 쏘카, 공식 블로그, 2026-10-16 확인: </a:t>
            </a:r>
            <a:pPr algn="l" indent="0" marL="0">
              <a:buNone/>
            </a:pPr>
            <a:r>
              <a:rPr lang="en-US" sz="1050" u="dash" dirty="0">
                <a:solidFill>
                  <a:srgbClr val="35699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https://www.socarcorp.kr/blog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424726" y="2299246"/>
            <a:ext cx="274320" cy="1866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611386" y="2299246"/>
            <a:ext cx="8304014" cy="383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2"/>
              </a:lnSpc>
              <a:buNone/>
            </a:pPr>
            <a:r>
              <a:rPr lang="en-US" sz="105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[R14] May Mobility·SEC, Business combination announcement, Exhibit 99.1, 2026-09-16: </a:t>
            </a:r>
            <a:pPr algn="l" indent="0" marL="0">
              <a:lnSpc>
                <a:spcPts val="1522"/>
              </a:lnSpc>
              <a:buNone/>
            </a:pPr>
            <a:r>
              <a:rPr lang="en-US" sz="1050" u="dash" dirty="0">
                <a:solidFill>
                  <a:srgbClr val="35699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https://www.sec.gov/Archives/edgar/data/2111542/000121390026100367/ea030470201ex99-1.htm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424726" y="2838301"/>
            <a:ext cx="274320" cy="1866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611386" y="2838301"/>
            <a:ext cx="8374380" cy="383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2"/>
              </a:lnSpc>
              <a:buNone/>
            </a:pPr>
            <a:r>
              <a:rPr lang="en-US" sz="105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[R15] NTT Mobility, 나고야 도심 자율주행·온디맨드 배차 실증 개시 (제목 번역), 2026-08-12: </a:t>
            </a:r>
            <a:pPr algn="l" indent="0" marL="0">
              <a:lnSpc>
                <a:spcPts val="1522"/>
              </a:lnSpc>
              <a:buNone/>
            </a:pPr>
            <a:r>
              <a:rPr lang="en-US" sz="1050" u="dash" dirty="0">
                <a:solidFill>
                  <a:srgbClr val="35699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https://www.ntt-mobility.com/news/20260812/newsrelease-260812/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3862" y="285750"/>
            <a:ext cx="150495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02B4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Reference</a:t>
            </a:r>
            <a:endParaRPr lang="en-US" sz="2250" dirty="0"/>
          </a:p>
        </p:txBody>
      </p:sp>
      <p:sp>
        <p:nvSpPr>
          <p:cNvPr id="3" name="Text 1"/>
          <p:cNvSpPr txBox="1"/>
          <p:nvPr/>
        </p:nvSpPr>
        <p:spPr>
          <a:xfrm>
            <a:off x="438150" y="823913"/>
            <a:ext cx="1019175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3765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 16–19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424726" y="1262063"/>
            <a:ext cx="274320" cy="1866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11386" y="1262063"/>
            <a:ext cx="8442389" cy="383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2"/>
              </a:lnSpc>
              <a:buNone/>
            </a:pPr>
            <a:r>
              <a:rPr lang="en-US" sz="1050" u="dash" dirty="0">
                <a:solidFill>
                  <a:srgbClr val="35699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R16</a:t>
            </a:r>
            <a:pPr algn="l" indent="0" marL="0">
              <a:lnSpc>
                <a:spcPts val="1522"/>
              </a:lnSpc>
              <a:buNone/>
            </a:pPr>
            <a:r>
              <a:rPr lang="en-US" sz="105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May Mobility, First Responder Interaction Protocol: Atlanta, Georgia, 게시일 미표기·2026-10-16 확인: </a:t>
            </a:r>
            <a:pPr algn="l" indent="0" marL="0">
              <a:lnSpc>
                <a:spcPts val="1522"/>
              </a:lnSpc>
              <a:buNone/>
            </a:pPr>
            <a:r>
              <a:rPr lang="en-US" sz="1050" u="dash" dirty="0">
                <a:solidFill>
                  <a:srgbClr val="35699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https://maymobility.com/first-responders/frip-atlanta-georgia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424726" y="1801118"/>
            <a:ext cx="274320" cy="1866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611386" y="1801118"/>
            <a:ext cx="8304014" cy="383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2"/>
              </a:lnSpc>
              <a:buNone/>
            </a:pPr>
            <a:r>
              <a:rPr lang="en-US" sz="1050" u="dash" dirty="0">
                <a:solidFill>
                  <a:srgbClr val="35699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R17</a:t>
            </a:r>
            <a:pPr algn="l" indent="0" marL="0">
              <a:lnSpc>
                <a:spcPts val="1522"/>
              </a:lnSpc>
              <a:buNone/>
            </a:pPr>
            <a:r>
              <a:rPr lang="en-US" sz="105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May Mobility, May Mobility launches New AV Architecture, 2026-05-20: </a:t>
            </a:r>
            <a:pPr algn="l" indent="0" marL="0">
              <a:lnSpc>
                <a:spcPts val="1522"/>
              </a:lnSpc>
              <a:buNone/>
            </a:pPr>
            <a:r>
              <a:rPr lang="en-US" sz="1050" u="dash" dirty="0">
                <a:solidFill>
                  <a:srgbClr val="35699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https://maymobility.com/posts/may-mobility-launches-new-av-architecture/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424726" y="2340173"/>
            <a:ext cx="274320" cy="1866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611386" y="2340173"/>
            <a:ext cx="8304014" cy="383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2"/>
              </a:lnSpc>
              <a:buNone/>
            </a:pPr>
            <a:r>
              <a:rPr lang="en-US" sz="1050" u="dash" dirty="0">
                <a:solidFill>
                  <a:srgbClr val="35699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R18</a:t>
            </a:r>
            <a:pPr algn="l" indent="0" marL="0">
              <a:lnSpc>
                <a:spcPts val="1522"/>
              </a:lnSpc>
              <a:buNone/>
            </a:pPr>
            <a:r>
              <a:rPr lang="en-US" sz="105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May Mobility·SEC, Investor presentation, Exhibit 99.2, 2026-09-16: </a:t>
            </a:r>
            <a:pPr algn="l" indent="0" marL="0">
              <a:lnSpc>
                <a:spcPts val="1522"/>
              </a:lnSpc>
              <a:buNone/>
            </a:pPr>
            <a:r>
              <a:rPr lang="en-US" sz="1050" u="dash" dirty="0">
                <a:solidFill>
                  <a:srgbClr val="35699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https://www.sec.gov/Archives/edgar/data/2111542/000121390026100367/ea030470201ex99-2.htm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424726" y="2879229"/>
            <a:ext cx="274320" cy="1866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611386" y="2879229"/>
            <a:ext cx="65532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u="dash" dirty="0">
                <a:solidFill>
                  <a:srgbClr val="35699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R19</a:t>
            </a:r>
            <a:pPr algn="l" indent="0" marL="0">
              <a:buNone/>
            </a:pPr>
            <a:r>
              <a:rPr lang="en-US" sz="105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May Mobility, Company News, 2026-10-16 확인: </a:t>
            </a:r>
            <a:pPr algn="l" indent="0" marL="0">
              <a:buNone/>
            </a:pPr>
            <a:r>
              <a:rPr lang="en-US" sz="1050" u="dash" dirty="0">
                <a:solidFill>
                  <a:srgbClr val="35699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  <a:hlinkClick r:id="rId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https://maymobility.com/posts/type/company-news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Created using Slidev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자율주행 데일리 리포트 2026-10-16</dc:title>
  <dc:subject>미니애폴리스 재의결 실패·Tesla 원격운전 사고 확인</dc:subject>
  <dc:creator>PptxGenJS</dc:creator>
  <cp:lastModifiedBy>PptxGenJS</cp:lastModifiedBy>
  <cp:revision>1</cp:revision>
  <dcterms:created xsi:type="dcterms:W3CDTF">2026-10-15T22:39:38Z</dcterms:created>
  <dcterms:modified xsi:type="dcterms:W3CDTF">2026-10-15T22:39:38Z</dcterms:modified>
</cp:coreProperties>
</file>