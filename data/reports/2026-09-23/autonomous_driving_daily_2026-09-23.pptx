
<file path=[Content_Types].xml><?xml version="1.0" encoding="utf-8"?>
<Types xmlns="http://schemas.openxmlformats.org/package/2006/content-types">
  <Default Extension="xml" ContentType="application/vnd.openxmlformats-package.core-properties+xml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theme/theme1.xml" ContentType="application/vnd.openxmlformats-officedocument.theme+xml"/>
  <Override PartName="/ppt/slideMasters/slideMaster1.xml" ContentType="application/vnd.openxmlformats-officedocument.presentationml.slideMaster+xml"/>
  <Override PartName="/ppt/slideMasters/theme/theme2.xml" ContentType="application/vnd.openxmlformats-officedocument.theme+xml"/>
  <Override PartName="/ppt/slideLayouts/slideLayout1.xml" ContentType="application/vnd.openxmlformats-officedocument.presentationml.slideLayout+xml"/>
  <Override PartName="/ppt/notesMasters/notesMaster1.xml" ContentType="application/vnd.openxmlformats-officedocument.presentationml.notesMaster+xml"/>
  <Override PartName="/ppt/notesMasters/theme/theme3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901364984eee49a5" /><Relationship Type="http://schemas.openxmlformats.org/officeDocument/2006/relationships/extended-properties" Target="/docProps/app.xml" Id="R87560dc37a504987" /><Relationship Type="http://schemas.openxmlformats.org/officeDocument/2006/relationships/officeDocument" Target="/ppt/presentation.xml" Id="R5c8decc6696b4bc0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d89f13787f5d407e"/>
  </p:sldMasterIdLst>
  <p:notesMasterIdLst>
    <p:notesMasterId xmlns:r="http://schemas.openxmlformats.org/officeDocument/2006/relationships" r:id="R186dc0b67b9a4071"/>
  </p:notesMasterIdLst>
  <p:sldIdLst>
    <p:sldId xmlns:r="http://schemas.openxmlformats.org/officeDocument/2006/relationships" id="256" r:id="R9ee98b839eff4aa8"/>
    <p:sldId xmlns:r="http://schemas.openxmlformats.org/officeDocument/2006/relationships" id="257" r:id="R6286777bd76e46e2"/>
    <p:sldId xmlns:r="http://schemas.openxmlformats.org/officeDocument/2006/relationships" id="258" r:id="Rc3ffdc5ba45b472d"/>
    <p:sldId xmlns:r="http://schemas.openxmlformats.org/officeDocument/2006/relationships" id="259" r:id="R7e714531bca6478f"/>
    <p:sldId xmlns:r="http://schemas.openxmlformats.org/officeDocument/2006/relationships" id="260" r:id="Reb4ee3a286c44cf0"/>
    <p:sldId xmlns:r="http://schemas.openxmlformats.org/officeDocument/2006/relationships" id="261" r:id="Rbf2ded513a074cd3"/>
  </p:sldIdLst>
  <p:sldSz cx="12192000" cy="6858000"/>
  <p:notesSz cx="6858000" cy="9144000"/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_rels/presentation.xml.rels>&#65279;<?xml version="1.0" encoding="utf-8"?><Relationships xmlns="http://schemas.openxmlformats.org/package/2006/relationships"><Relationship Type="http://schemas.openxmlformats.org/officeDocument/2006/relationships/theme" Target="/ppt/theme/theme1.xml" Id="R9b9bb1cab6eb4b96" /><Relationship Type="http://schemas.openxmlformats.org/officeDocument/2006/relationships/slideMaster" Target="/ppt/slideMasters/slideMaster1.xml" Id="Rd89f13787f5d407e" /><Relationship Type="http://schemas.openxmlformats.org/officeDocument/2006/relationships/notesMaster" Target="/ppt/notesMasters/notesMaster1.xml" Id="R186dc0b67b9a4071" /><Relationship Type="http://schemas.openxmlformats.org/officeDocument/2006/relationships/presProps" Target="/ppt/presProps.xml" Id="Rfb9c817fa11c4438" /><Relationship Type="http://schemas.openxmlformats.org/officeDocument/2006/relationships/tableStyles" Target="/ppt/tableStyles.xml" Id="Re8eed844080448b0" /><Relationship Type="http://schemas.openxmlformats.org/officeDocument/2006/relationships/slide" Target="/ppt/slides/slide1.xml" Id="R9ee98b839eff4aa8" /><Relationship Type="http://schemas.openxmlformats.org/officeDocument/2006/relationships/slide" Target="/ppt/slides/slide2.xml" Id="R6286777bd76e46e2" /><Relationship Type="http://schemas.openxmlformats.org/officeDocument/2006/relationships/slide" Target="/ppt/slides/slide3.xml" Id="Rc3ffdc5ba45b472d" /><Relationship Type="http://schemas.openxmlformats.org/officeDocument/2006/relationships/slide" Target="/ppt/slides/slide4.xml" Id="R7e714531bca6478f" /><Relationship Type="http://schemas.openxmlformats.org/officeDocument/2006/relationships/slide" Target="/ppt/slides/slide5.xml" Id="Reb4ee3a286c44cf0" /><Relationship Type="http://schemas.openxmlformats.org/officeDocument/2006/relationships/slide" Target="/ppt/slides/slide6.xml" Id="Rbf2ded513a074cd3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3.xml" Id="Rbfaa28f558e54967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3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f9e7c5c584e14b45" /><Relationship Type="http://schemas.openxmlformats.org/officeDocument/2006/relationships/notesMaster" Target="/ppt/notesMasters/notesMaster1.xml" Id="Rf1889c73000b403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7e58f01c445d4835" /><Relationship Type="http://schemas.openxmlformats.org/officeDocument/2006/relationships/notesMaster" Target="/ppt/notesMasters/notesMaster1.xml" Id="Rbf2f34dad54449f0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5ee1bccd0d144651" /><Relationship Type="http://schemas.openxmlformats.org/officeDocument/2006/relationships/notesMaster" Target="/ppt/notesMasters/notesMaster1.xml" Id="Raae18f33c4ba43a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e6135a2c824b41d3" /><Relationship Type="http://schemas.openxmlformats.org/officeDocument/2006/relationships/notesMaster" Target="/ppt/notesMasters/notesMaster1.xml" Id="R4321bc1a015447b3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5a00fe1ef03d4bf4" /><Relationship Type="http://schemas.openxmlformats.org/officeDocument/2006/relationships/notesMaster" Target="/ppt/notesMasters/notesMaster1.xml" Id="R60e6257130144579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e72e4709b3664eb9" /><Relationship Type="http://schemas.openxmlformats.org/officeDocument/2006/relationships/notesMaster" Target="/ppt/notesMasters/notesMaster1.xml" Id="R7524ea2c718c49dd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Sources: Reuters and Financial Times search summary, 2026-09-22. FT full article not accessed.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Reuters: https://www.reuters.com/business/mercedes-wayve-partner-up-autonomous-driving-2026-09-22/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FT [paid, full text not accessed]: https://www.ft.com/content/4ed7bccb-7d02-485f-aed6-9e7b0244ac78</a:t>
            </a:r>
          </a:p>
          <a:p xmlns:a="http://schemas.openxmlformats.org/drawingml/2006/main">
            <a:r>
              <a:t>Public confirmation: https://www.reuters.com/business/mercedes-wayve-partner-up-autonomous-driving-2026-09-22/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The Verge: https://www.theverge.com/transportation/998184/waymo-public-transportation-discount-subway-bus-visa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May Mobility transaction: https://maymobility.com/posts/may-mobility-first-publicly-listed-pure-play-autonomous-ride-hail-technology-company-acp-holdings-acquisition-corp/</a:t>
            </a:r>
          </a:p>
          <a:p xmlns:a="http://schemas.openxmlformats.org/drawingml/2006/main">
            <a:r>
              <a:t>Technology: https://maymobility.com/technology/</a:t>
            </a:r>
          </a:p>
          <a:p xmlns:a="http://schemas.openxmlformats.org/drawingml/2006/main">
            <a:r>
              <a:t>Safety: https://maymobility.com/technology/safety/</a:t>
            </a:r>
          </a:p>
          <a:p xmlns:a="http://schemas.openxmlformats.org/drawingml/2006/main">
            <a:r>
              <a:t>Locations: https://maymobility.com/locations/</a:t>
            </a:r>
          </a:p>
          <a:p xmlns:a="http://schemas.openxmlformats.org/drawingml/2006/main">
            <a:r>
              <a:t>Atlanta: https://www.reuters.com/business/autos-transportation/lyft-may-mobility-roll-out-robotaxi-service-atlanta-2025-09-10/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>
            <a:r>
              <a:t>Reuters Mercedes: https://www.reuters.com/business/mercedes-wayve-partner-up-autonomous-driving-2026-09-22/</a:t>
            </a:r>
          </a:p>
          <a:p xmlns:a="http://schemas.openxmlformats.org/drawingml/2006/main">
            <a:r>
              <a:t>FT: https://www.ft.com/content/4ed7bccb-7d02-485f-aed6-9e7b0244ac78</a:t>
            </a:r>
          </a:p>
          <a:p xmlns:a="http://schemas.openxmlformats.org/drawingml/2006/main">
            <a:r>
              <a:t>The Verge: https://www.theverge.com/transportation/998184/waymo-public-transportation-discount-subway-bus-visa</a:t>
            </a:r>
          </a:p>
          <a:p xmlns:a="http://schemas.openxmlformats.org/drawingml/2006/main">
            <a:r>
              <a:t>May Mobility: https://maymobility.com/posts/may-mobility-first-publicly-listed-pure-play-autonomous-ride-hail-technology-company-acp-holdings-acquisition-corp/</a:t>
            </a:r>
          </a:p>
          <a:p xmlns:a="http://schemas.openxmlformats.org/drawingml/2006/main">
            <a:r>
              <a:t>Reuters Atlanta: https://www.reuters.com/business/autos-transportation/lyft-may-mobility-roll-out-robotaxi-service-atlanta-2025-09-10/</a:t>
            </a:r>
          </a:p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1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dcbc10522ffb4ede" /></Relationships>
</file>

<file path=ppt/slideLayouts/slideLayout1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slideMasters/theme/theme2.xml" Id="Rcf819279250a4177" /><Relationship Type="http://schemas.openxmlformats.org/officeDocument/2006/relationships/slideLayout" Target="/ppt/slideLayouts/slideLayout1.xml" Id="R0cea8deaa36e44e6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0cea8deaa36e44e6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ac76c07a7cb54e92" /><Relationship Type="http://schemas.openxmlformats.org/officeDocument/2006/relationships/notesSlide" Target="/ppt/notesSlides/notesSlide1.xml" Id="R44ff0bbd6fd74a98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5284e9d747a04c02" /><Relationship Type="http://schemas.openxmlformats.org/officeDocument/2006/relationships/notesSlide" Target="/ppt/notesSlides/notesSlide2.xml" Id="R12019a9113a64e49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07c1e3d03a0a4101" /><Relationship Type="http://schemas.openxmlformats.org/officeDocument/2006/relationships/notesSlide" Target="/ppt/notesSlides/notesSlide3.xml" Id="Rdb76033449674b0c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fa71b51777d5450e" /><Relationship Type="http://schemas.openxmlformats.org/officeDocument/2006/relationships/notesSlide" Target="/ppt/notesSlides/notesSlide4.xml" Id="Rcc2b6bdc9fcb4d57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bafb8635ceb64eb2" /><Relationship Type="http://schemas.openxmlformats.org/officeDocument/2006/relationships/notesSlide" Target="/ppt/notesSlides/notesSlide5.xml" Id="R4a7f546d55374d4a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1.xml" Id="R2513da7584c44284" /><Relationship Type="http://schemas.openxmlformats.org/officeDocument/2006/relationships/notesSlide" Target="/ppt/notesSlides/notesSlide6.xml" Id="R6e95c6bc39da479d" /></Relationships>
</file>

<file path=ppt/slides/slide1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7D24E46-8F68-438F-ACDB-CA93E3F5CA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90500" cy="6858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CACE14A5-CDFB-4841-B565-A82BD7EBF8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876300"/>
            <a:ext cx="85725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F1D04CFA-15D6-4EEE-A09F-5BF49E0C1B6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1524000"/>
            <a:ext cx="9906000" cy="166687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AUTONOMOUS DRIVING</a:t>
            </a:r>
          </a:p>
          <a:p xmlns:a="http://schemas.openxmlformats.org/drawingml/2006/main">
            <a:pPr>
              <a:def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40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DAILY REPORT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F2BBF44F-2B84-49E8-ABDC-FD29D8557A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3600450"/>
            <a:ext cx="9906000" cy="4572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100" b="1">
                <a:solidFill>
                  <a:srgbClr val="D8E5EE"/>
                </a:solidFill>
                <a:latin typeface="Bitstream Charter"/>
                <a:ea typeface="Bitstream Charter"/>
                <a:cs typeface="Bitstream Charter"/>
              </a:rPr>
              <a:t>Mercedes-Benz and Wayve sign integration deal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64CA315E-B4DA-4905-855E-6175DF5FC10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9150" y="5676900"/>
            <a:ext cx="6667500" cy="3048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8246"/>
          </a:bodyPr>
          <a:lstStyle xmlns:a="http://schemas.openxmlformats.org/drawingml/2006/main"/>
          <a:p xmlns:a="http://schemas.openxmlformats.org/drawingml/2006/main">
            <a:pPr>
              <a:def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42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2026-09-23</a:t>
            </a:r>
          </a:p>
        </p:txBody>
      </p:sp>
    </p:spTree>
    <p:extLst>
      <p:ext uri="{BB962C8B-B14F-4D97-AF65-F5344CB8AC3E}">
        <p14:creationId xmlns:p14="http://schemas.microsoft.com/office/powerpoint/2010/main" val="733822617"/>
      </p:ext>
    </p:extLst>
  </p:cSld>
</p:sld>
</file>

<file path=ppt/slides/slide2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F30F9291-66E0-499F-8ACA-CA2A187DB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9279805-1B65-45EB-823E-87DABAFB57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Mercedes-Benz and Wayve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A776956-B735-41DB-B21A-11638984B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C0BD348-1C49-453B-8C22-690801F264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D052FB0-B71D-4CA4-A55E-BEE74CB93E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933D5EE4-460E-4958-8705-086A740F66D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57425"/>
            <a:ext cx="3429000" cy="5143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88095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SIGNED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902BBF9-1351-464C-8D5A-BF4FA9F6325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857500"/>
            <a:ext cx="3905250" cy="6096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7562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Technology integration agreement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05BA3CF-FFEA-426A-B1BD-EACF7422E81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57625"/>
            <a:ext cx="390525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5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Target: begin integration within two years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CFE04BE4-7F55-413F-878F-E83A2170212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190750"/>
            <a:ext cx="6286500" cy="2952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9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Wayve technology planned for future Mercedes vehicles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9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Vehicle, market, launch date and price remain undisclosed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9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9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Agreement does not mark a live driverless service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CF3B23D-A6ED-4B0B-9E1C-1E4E5EBE65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2026-09-23   DAILY REPORT   2</a:t>
            </a:r>
          </a:p>
        </p:txBody>
      </p:sp>
    </p:spTree>
    <p:extLst>
      <p:ext uri="{BB962C8B-B14F-4D97-AF65-F5344CB8AC3E}">
        <p14:creationId xmlns:p14="http://schemas.microsoft.com/office/powerpoint/2010/main" val="1920106839"/>
      </p:ext>
    </p:extLst>
  </p:cSld>
</p:sld>
</file>

<file path=ppt/slides/slide3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F02C1DE-EA1B-43C5-BA04-4DE93F8A46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51526495-482A-47D7-839E-9157FCE31D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Paid-report context and limitations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970C0C25-28AB-42B7-B7A9-CF6BC0282EF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CE6F8A7C-B1D6-40CE-95D3-5FECF23BB7E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PAID ARTICLE  FULL TEXT NOT ACCESSED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ADE87DD-0909-4CF0-8A31-65A4FB985E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[유료 기사] [원문 미확인]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395ED4B9-30E8-4022-9E9F-B98CCDE4724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266950"/>
            <a:ext cx="10668000" cy="34290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FT search summary describes a camera-based Level 2 system for at least one model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Human supervision remains required at Level 2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FT summary says Nissan and Stellantis are Wayve's other major OEM partners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Mercedes also develops an NVIDIA-based system for the CLA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65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Reuters separately confirms the signed deal and two-year integration target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4439F75-E558-4F44-B20B-04A9EE0E72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810250"/>
            <a:ext cx="10668000" cy="3619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3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350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No claim is extended beyond the paid-page search summary and public reporting.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9F0612B-B156-485C-8487-B6F3D1AF79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2026-09-23   DAILY REPORT   3</a:t>
            </a:r>
          </a:p>
        </p:txBody>
      </p:sp>
    </p:spTree>
    <p:extLst>
      <p:ext uri="{BB962C8B-B14F-4D97-AF65-F5344CB8AC3E}">
        <p14:creationId xmlns:p14="http://schemas.microsoft.com/office/powerpoint/2010/main" val="1926988629"/>
      </p:ext>
    </p:extLst>
  </p:cSld>
</p:sld>
</file>

<file path=ppt/slides/slide4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0057EC97-DF42-4F76-8320-597289F8922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4A3FC96-0004-4D46-88E9-1361D544E1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Waymo links robotaxi rides with transit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EDF2207-9311-450C-8B35-D5836886B1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2E3F5125-80AE-4CF9-807A-DCDA14D5E95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NEW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2BB28835-8077-4FB3-9DD0-2342DAA9EDC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[신규]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060AE266-1C2B-4DE1-87E3-C43E2CAA61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333625"/>
            <a:ext cx="323850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0972"/>
          </a:bodyPr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6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$2.85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FD2D2E18-980F-4D4D-80EB-AB1CB7F7183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000375"/>
            <a:ext cx="3810000" cy="647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credit toward a future Waymo ride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515786A2-B1D9-46A3-B73D-062652CA8D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953000" y="2238375"/>
            <a:ext cx="6381750" cy="3238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Same Visa card must be used for Waymo and transit within two hours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Program starts in the San Francisco Bay Area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Waymo added staging areas at Caltrain stations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Commercial integration change, not a new autonomy permit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6AC9905-8B6F-4CC0-9F4A-C07D10E57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2026-09-23   DAILY REPORT   4</a:t>
            </a:r>
          </a:p>
        </p:txBody>
      </p:sp>
    </p:spTree>
    <p:extLst>
      <p:ext uri="{BB962C8B-B14F-4D97-AF65-F5344CB8AC3E}">
        <p14:creationId xmlns:p14="http://schemas.microsoft.com/office/powerpoint/2010/main" val="1378632356"/>
      </p:ext>
    </p:extLst>
  </p:cSld>
</p:sld>
</file>

<file path=ppt/slides/slide5.xml><?xml version="1.0" encoding="utf-8"?>
<p:sld xmlns:p="http://schemas.openxmlformats.org/presentationml/2006/main">
  <p:cSld>
    <p:bg>
      <p:bgPr>
        <a:solidFill xmlns:a="http://schemas.openxmlformats.org/drawingml/2006/main">
          <a:srgbClr val="F7FAFC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85B9032A-6872-4F0E-8170-D88046F350E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381000"/>
            <a:ext cx="7239000" cy="2667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95833"/>
          </a:bodyPr>
          <a:lstStyle xmlns:a="http://schemas.openxmlformats.org/drawingml/2006/main"/>
          <a:p xmlns:a="http://schemas.openxmlformats.org/drawingml/2006/main">
            <a:pPr>
              <a:def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GLOBAL AUTONOMOUS DRIVING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10E93944-59CD-4015-95C3-FB848A9844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742950"/>
            <a:ext cx="10839450" cy="590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292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May Mobility deep dive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61DFB84-4FE7-41AB-9A25-F5D9B7F73F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438275"/>
            <a:ext cx="10839450" cy="2857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31C9BA"/>
          </a:solidFill>
          <a:ln xmlns:a="http://schemas.openxmlformats.org/drawingml/2006/main" w="0">
            <a:solidFill>
              <a:srgbClr val="31C9BA"/>
            </a:solidFill>
          </a:ln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5DE43563-4393-4DDB-8CDC-E871ECD9B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1685925"/>
            <a:ext cx="5334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DUPLICATE + ADDITIONAL CHECK  PRIOR REPORT 2026-09-21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5247CC4-D222-4AA0-81B1-443C6E675A3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91250" y="1685925"/>
            <a:ext cx="531495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defRPr>
            </a:pPr>
            <a:r>
              <a:rPr sz="1275" b="1">
                <a:solidFill>
                  <a:srgbClr val="6B7A90"/>
                </a:solidFill>
                <a:latin typeface="Malgun Gothic"/>
                <a:ea typeface="Malgun Gothic"/>
                <a:cs typeface="Malgun Gothic"/>
              </a:rPr>
              <a:t>[중복·추가 확인] 이전 보고 2026-09-21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FBB1627B-A2FF-47FE-B12F-32A936EC45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152650"/>
            <a:ext cx="10668000" cy="4000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7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75" b="1">
                <a:solidFill>
                  <a:srgbClr val="0B1930"/>
                </a:solidFill>
                <a:latin typeface="Bitstream Charter"/>
                <a:ea typeface="Bitstream Charter"/>
                <a:cs typeface="Bitstream Charter"/>
              </a:rPr>
              <a:t>No new event since the prior report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D3FF896-D746-414E-957A-CF17D8C655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2743200"/>
            <a:ext cx="10668000" cy="3286125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$1.4B pro forma enterprise value; $120M committed PIPE; deal not closed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Company reports 550K+ commercial rides, 1.1M miles and three driver-out launches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Active US services: Atlanta, Grand Rapids and Eden Prairie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Atlanta launched with onboard safety operators; not verified as fully driverless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MPDM simulates hundreds of futures every 200 ms, up to 10 seconds ahead</a:t>
            </a:r>
          </a:p>
          <a:p xmlns:a="http://schemas.openxmlformats.org/drawingml/2006/main">
            <a:pPr marL="228600" indent="-114300">
              <a:spcAft>
                <a:spcPts val="1100"/>
              </a:spcAft>
              <a:buChar char="•"/>
              <a:def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500">
                <a:solidFill>
                  <a:srgbClr val="152238"/>
                </a:solidFill>
                <a:latin typeface="Bitstream Charter"/>
                <a:ea typeface="Bitstream Charter"/>
                <a:cs typeface="Bitstream Charter"/>
              </a:rPr>
              <a:t>Partners own vehicles, depots and maintenance; May licenses autonomy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75F17E-69F9-4492-9F69-C649A461BB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6477000"/>
            <a:ext cx="10839450" cy="2095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79487"/>
          </a:bodyPr>
          <a:lstStyle xmlns:a="http://schemas.openxmlformats.org/drawingml/2006/main"/>
          <a:p xmlns:a="http://schemas.openxmlformats.org/drawingml/2006/main">
            <a:pPr>
              <a:def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975" b="0">
                <a:solidFill>
                  <a:srgbClr val="6B7A90"/>
                </a:solidFill>
                <a:latin typeface="Bitstream Charter"/>
                <a:ea typeface="Bitstream Charter"/>
                <a:cs typeface="Bitstream Charter"/>
              </a:rPr>
              <a:t>2026-09-23   DAILY REPORT   5</a:t>
            </a:r>
          </a:p>
        </p:txBody>
      </p:sp>
    </p:spTree>
    <p:extLst>
      <p:ext uri="{BB962C8B-B14F-4D97-AF65-F5344CB8AC3E}">
        <p14:creationId xmlns:p14="http://schemas.microsoft.com/office/powerpoint/2010/main" val="191811159"/>
      </p:ext>
    </p:extLst>
  </p:cSld>
</p:sld>
</file>

<file path=ppt/slides/slide6.xml><?xml version="1.0" encoding="utf-8"?>
<p:sld xmlns:p="http://schemas.openxmlformats.org/presentationml/2006/main">
  <p:cSld>
    <p:bg>
      <p:bgPr>
        <a:solidFill xmlns:a="http://schemas.openxmlformats.org/drawingml/2006/main">
          <a:srgbClr val="0B1930"/>
        </a:solidFill>
      </p:bgPr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56BD0CB9-33BE-455C-9430-ED5ECC6516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419100"/>
            <a:ext cx="3810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REFERENCES</a:t>
            </a:r>
          </a:p>
        </p:txBody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8FE39AF-9F29-4897-8E05-DF0738D2CA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819150"/>
            <a:ext cx="8572500" cy="57150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3150" b="1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Source record</a:t>
            </a:r>
          </a:p>
        </p:txBody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1997C200-A775-4C5D-81F6-8FB662D393A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17907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1">
                <a:solidFill>
                  <a:srgbClr val="31C9BA"/>
                </a:solidFill>
                <a:latin typeface="Bitstream Charter"/>
                <a:ea typeface="Bitstream Charter"/>
                <a:cs typeface="Bitstream Charter"/>
              </a:rPr>
              <a:t>01  Reuters  Mercedes–Wayve agreement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909D02FB-AC7C-42C4-85A3-A7A30C7444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25336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02  Financial Times  Paid article, full text not accessed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4D12A0-12EA-4539-908A-FA790FEB4D4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32766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03  The Verge  Waymo–Visa transit credit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CD8AF4B-932B-4969-8C8B-CE8793FF53D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01955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04  May Mobility  Transaction, technology, safety and locations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1D650F1-B90B-403A-9922-441EC0DF770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04850" y="4762500"/>
            <a:ext cx="10287000" cy="4381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8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800" b="0">
                <a:solidFill>
                  <a:srgbClr val="F7FAFC"/>
                </a:solidFill>
                <a:latin typeface="Bitstream Charter"/>
                <a:ea typeface="Bitstream Charter"/>
                <a:cs typeface="Bitstream Charter"/>
              </a:rPr>
              <a:t>05  Reuters  May Mobility Atlanta launch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688EB6C-E024-4A21-B428-8B70DED850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66750" y="5953125"/>
            <a:ext cx="10287000" cy="285750"/>
          </a:xfrm>
          <a:prstGeom xmlns:a="http://schemas.openxmlformats.org/drawingml/2006/main" prst="rect">
            <a:avLst/>
          </a:prstGeom>
          <a:noFill xmlns:a="http://schemas.openxmlformats.org/drawingml/2006/main"/>
          <a:ln xmlns:a="http://schemas.openxmlformats.org/drawingml/2006/main" w="0">
            <a:noFill/>
          </a:ln>
        </p:spPr>
        <p:txBody>
          <a:bodyPr xmlns:a="http://schemas.openxmlformats.org/drawingml/2006/main">
            <a:normAutofit fontScale="100000"/>
          </a:bodyPr>
          <a:lstStyle xmlns:a="http://schemas.openxmlformats.org/drawingml/2006/main"/>
          <a:p xmlns:a="http://schemas.openxmlformats.org/drawingml/2006/main">
            <a:pPr>
              <a:def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defRPr>
            </a:pPr>
            <a:r>
              <a:rPr sz="1275" b="0">
                <a:solidFill>
                  <a:srgbClr val="AAB7C8"/>
                </a:solidFill>
                <a:latin typeface="Bitstream Charter"/>
                <a:ea typeface="Bitstream Charter"/>
                <a:cs typeface="Bitstream Charter"/>
              </a:rPr>
              <a:t>Full URLs appear in the Markdown attachment and speaker notes</a:t>
            </a:r>
          </a:p>
        </p:txBody>
      </p:sp>
    </p:spTree>
    <p:extLst>
      <p:ext uri="{BB962C8B-B14F-4D97-AF65-F5344CB8AC3E}">
        <p14:creationId xmlns:p14="http://schemas.microsoft.com/office/powerpoint/2010/main" val="918401759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gradFill>
          <a:gsLst>
            <a:gs pos="0">
              <a:schemeClr val="phClr">
                <a:tint val="67000"/>
                <a:lumMod val="110000"/>
                <a:satMod val="105000"/>
              </a:schemeClr>
            </a:gs>
            <a:gs pos="50000">
              <a:schemeClr val="phClr">
                <a:tint val="73000"/>
                <a:lumMod val="105000"/>
                <a:satMod val="103000"/>
              </a:schemeClr>
            </a:gs>
            <a:gs pos="100000">
              <a:schemeClr val="phClr">
                <a:tint val="81000"/>
                <a:lumMod val="105000"/>
                <a:satMod val="109000"/>
              </a:schemeClr>
            </a:gs>
          </a:gsLst>
          <a:lin ang="5400000" scaled="0"/>
        </a:gradFill>
        <a:gradFill>
          <a:gsLst>
            <a:gs pos="0">
              <a:schemeClr val="phClr">
                <a:tint val="94000"/>
                <a:lumMod val="102000"/>
                <a:satMod val="103000"/>
              </a:schemeClr>
            </a:gs>
            <a:gs pos="50000">
              <a:schemeClr val="phClr">
                <a:shade val="100000"/>
                <a:lumMod val="100000"/>
                <a:satMod val="110000"/>
              </a:schemeClr>
            </a:gs>
            <a:gs pos="100000">
              <a:schemeClr val="phClr">
                <a:shade val="78000"/>
                <a:lumMod val="99000"/>
                <a:satMod val="120000"/>
              </a:schemeClr>
            </a:gs>
          </a:gsLst>
          <a:lin ang="5400000" scaled="0"/>
        </a:gra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2026-09-22T22:43:58.3630000Z</dcterms:created>
  <dcterms:modified xsi:type="dcterms:W3CDTF">2026-09-22T22:43:58.3630000Z</dcterms:modified>
</coreProperties>
</file>