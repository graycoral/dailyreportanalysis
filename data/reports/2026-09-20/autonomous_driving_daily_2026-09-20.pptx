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98a83c76474a27" /><Relationship Type="http://schemas.openxmlformats.org/officeDocument/2006/relationships/extended-properties" Target="/docProps/app.xml" Id="R0b223712f78c48eb" /><Relationship Type="http://schemas.openxmlformats.org/officeDocument/2006/relationships/officeDocument" Target="/ppt/presentation.xml" Id="Rba253997304444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345ea67c184b24"/>
  </p:sldMasterIdLst>
  <p:notesMasterIdLst>
    <p:notesMasterId xmlns:r="http://schemas.openxmlformats.org/officeDocument/2006/relationships" r:id="Ra83c87feddb24f65"/>
  </p:notesMasterIdLst>
  <p:sldIdLst>
    <p:sldId xmlns:r="http://schemas.openxmlformats.org/officeDocument/2006/relationships" id="256" r:id="Rcb8dd3d0d37c4179"/>
    <p:sldId xmlns:r="http://schemas.openxmlformats.org/officeDocument/2006/relationships" id="257" r:id="Rd5b8260f967b4ce6"/>
    <p:sldId xmlns:r="http://schemas.openxmlformats.org/officeDocument/2006/relationships" id="258" r:id="R3a6bbc2b3e344cca"/>
    <p:sldId xmlns:r="http://schemas.openxmlformats.org/officeDocument/2006/relationships" id="259" r:id="Rf998d4cb05004dab"/>
    <p:sldId xmlns:r="http://schemas.openxmlformats.org/officeDocument/2006/relationships" id="260" r:id="R36c1379842dc46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9f3e105ca94693" /><Relationship Type="http://schemas.openxmlformats.org/officeDocument/2006/relationships/slideMaster" Target="/ppt/slideMasters/slideMaster1.xml" Id="R56345ea67c184b24" /><Relationship Type="http://schemas.openxmlformats.org/officeDocument/2006/relationships/notesMaster" Target="/ppt/notesMasters/notesMaster1.xml" Id="Ra83c87feddb24f65" /><Relationship Type="http://schemas.openxmlformats.org/officeDocument/2006/relationships/presProps" Target="/ppt/presProps.xml" Id="Rb2af60eec8684aef" /><Relationship Type="http://schemas.openxmlformats.org/officeDocument/2006/relationships/tableStyles" Target="/ppt/tableStyles.xml" Id="Rd4f432455005458c" /><Relationship Type="http://schemas.openxmlformats.org/officeDocument/2006/relationships/slide" Target="/ppt/slides/slide1.xml" Id="Rcb8dd3d0d37c4179" /><Relationship Type="http://schemas.openxmlformats.org/officeDocument/2006/relationships/slide" Target="/ppt/slides/slide2.xml" Id="Rd5b8260f967b4ce6" /><Relationship Type="http://schemas.openxmlformats.org/officeDocument/2006/relationships/slide" Target="/ppt/slides/slide3.xml" Id="R3a6bbc2b3e344cca" /><Relationship Type="http://schemas.openxmlformats.org/officeDocument/2006/relationships/slide" Target="/ppt/slides/slide4.xml" Id="Rf998d4cb05004dab" /><Relationship Type="http://schemas.openxmlformats.org/officeDocument/2006/relationships/slide" Target="/ppt/slides/slide5.xml" Id="R36c1379842dc46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9b172a5bb040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0299a2e891416a" /><Relationship Type="http://schemas.openxmlformats.org/officeDocument/2006/relationships/notesMaster" Target="/ppt/notesMasters/notesMaster1.xml" Id="Rb9539531457a46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5eca42c95f4e04" /><Relationship Type="http://schemas.openxmlformats.org/officeDocument/2006/relationships/notesMaster" Target="/ppt/notesMasters/notesMaster1.xml" Id="Rc23a01af84ff43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f758e5c2564ed2" /><Relationship Type="http://schemas.openxmlformats.org/officeDocument/2006/relationships/notesMaster" Target="/ppt/notesMasters/notesMaster1.xml" Id="Rbe16dfab3c184b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8cfbe4cfc84c0c" /><Relationship Type="http://schemas.openxmlformats.org/officeDocument/2006/relationships/notesMaster" Target="/ppt/notesMasters/notesMaster1.xml" Id="Re87d230b10ea44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14f0df70304e01" /><Relationship Type="http://schemas.openxmlformats.org/officeDocument/2006/relationships/notesMaster" Target="/ppt/notesMasters/notesMaster1.xml" Id="R4e76a04906da47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are listed on the final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Reuters (2026-09-17); The Verge (2026-09-17); Axios San Antonio (2026-09-17).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Reuters, 2026-09-17. https://www.reuters.com/business/bolt-lucid-target-least-25000-self-driving-vehicles-europe-2026-09-17/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The Verge, 2026-09-17; Axios San Antonio, 2026-09-17.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Reuters: https://www.reuters.com/business/bolt-lucid-target-least-25000-self-driving-vehicles-europe-2026-09-17/</a:t>
            </a:r>
          </a:p>
          <a:p xmlns:a="http://schemas.openxmlformats.org/drawingml/2006/main">
            <a:r>
              <a:t>The Verge: https://www.theverge.com/transportation/997091/waymo-singapore-robotaxi-launch-2027</a:t>
            </a:r>
          </a:p>
          <a:p xmlns:a="http://schemas.openxmlformats.org/drawingml/2006/main">
            <a:r>
              <a:t>Axios: https://www.axios.com/local/san-antonio/2026/09/17/waymo-san-antonio-relaunch-flood-waters-weather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791928592943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10f430957b4e05" /><Relationship Type="http://schemas.openxmlformats.org/officeDocument/2006/relationships/slideLayout" Target="/ppt/slideLayouts/slideLayout1.xml" Id="Rd352f0ad83a74a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52f0ad83a74a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8048b89dd468a" /><Relationship Type="http://schemas.openxmlformats.org/officeDocument/2006/relationships/notesSlide" Target="/ppt/notesSlides/notesSlide1.xml" Id="R413ca563ec924e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55359c6e44231" /><Relationship Type="http://schemas.openxmlformats.org/officeDocument/2006/relationships/notesSlide" Target="/ppt/notesSlides/notesSlide2.xml" Id="R9367038f8e9c40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bb0c402614953" /><Relationship Type="http://schemas.openxmlformats.org/officeDocument/2006/relationships/notesSlide" Target="/ppt/notesSlides/notesSlide3.xml" Id="R9185f092b34b41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27407c7d34eb4" /><Relationship Type="http://schemas.openxmlformats.org/officeDocument/2006/relationships/notesSlide" Target="/ppt/notesSlides/notesSlide4.xml" Id="R574aa49fec7e4a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6f0d4ca3e45d2" /><Relationship Type="http://schemas.openxmlformats.org/officeDocument/2006/relationships/notesSlide" Target="/ppt/notesSlides/notesSlide5.xml" Id="R3e2bce33ebfe4f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D63F9-CF76-438E-A459-26AA22D7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C6"/>
          </a:solidFill>
          <a:ln xmlns:a="http://schemas.openxmlformats.org/drawingml/2006/main" w="0">
            <a:solidFill>
              <a:srgbClr val="42D3C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AA12F-CAEE-47F2-A8AF-EECE7A0B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9438E-2C8E-400C-8DF1-752C761E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933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AUTONOMOUS DRIVING</a:t>
            </a:r>
          </a:p>
          <a:p xmlns:a="http://schemas.openxmlformats.org/drawingml/2006/main">
            <a:pPr>
              <a:def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95D78-3A44-4478-B35B-AE57DF08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9E4F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D9E4F0"/>
                </a:solidFill>
                <a:latin typeface="Bitstream Charter"/>
                <a:ea typeface="Bitstream Charter"/>
                <a:cs typeface="Bitstream Charter"/>
              </a:rPr>
              <a:t>Europe's 25,000-vehicle robotaxi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99575-A84B-43EA-BDDA-51034226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2026-09-20  ·  TEST ISSUE</a:t>
            </a:r>
          </a:p>
        </p:txBody>
      </p:sp>
    </p:spTree>
    <p:extLst>
      <p:ext uri="{BB962C8B-B14F-4D97-AF65-F5344CB8AC3E}">
        <p14:creationId xmlns:p14="http://schemas.microsoft.com/office/powerpoint/2010/main" val="1324816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06FACD-B921-4C8C-B336-AE23B01C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644BB-8432-4483-A852-9834E026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Today's key updates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3BB93-9328-4ECF-820B-923106F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C6"/>
          </a:solidFill>
          <a:ln xmlns:a="http://schemas.openxmlformats.org/drawingml/2006/main" w="0">
            <a:solidFill>
              <a:srgbClr val="42D3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A73D0B-F1E7-4DBB-9FB4-24E4DCD8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3295650" cy="342900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0B1930"/>
          </a:solidFill>
          <a:ln xmlns:a="http://schemas.openxmlformats.org/drawingml/2006/main" w="0">
            <a:solidFill>
              <a:srgbClr val="0B193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574BC-A95C-48D8-885F-EEE6371E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6CA31-92F9-4B80-B7DC-526AA030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European scale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BBE25-7356-4AD0-98C4-997513BA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DE7F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DDE7F1"/>
                </a:solidFill>
                <a:latin typeface="Bitstream Charter"/>
                <a:ea typeface="Bitstream Charter"/>
                <a:cs typeface="Bitstream Charter"/>
              </a:rPr>
              <a:t>Bolt–Lucid plan at least 25,000</a:t>
            </a:r>
          </a:p>
          <a:p xmlns:a="http://schemas.openxmlformats.org/drawingml/2006/main">
            <a:pPr>
              <a:defRPr sz="1575" b="0">
                <a:solidFill>
                  <a:srgbClr val="DDE7F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DDE7F1"/>
                </a:solidFill>
                <a:latin typeface="Bitstream Charter"/>
                <a:ea typeface="Bitstream Charter"/>
                <a:cs typeface="Bitstream Charter"/>
              </a:rPr>
              <a:t>autonomous vehicles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176A8-42B9-4C3E-B25D-2A07B317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3295650" cy="342900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79A61-719A-46E8-964E-7DD2BECD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383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CE499-6C29-4F57-AD83-4DB78F35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Asia expansion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A714A-6B41-44CD-BC82-649F2840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76625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Waymo targets Singapore</a:t>
            </a:r>
          </a:p>
          <a:p xmlns:a="http://schemas.openxmlformats.org/drawingml/2006/main">
            <a:pPr>
              <a:defRPr sz="1575" b="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passenger service in 2028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4459A-74B7-43D9-ABB7-87DE6F86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52625"/>
            <a:ext cx="3295650" cy="342900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44466C-7EA9-4EF9-BE94-E4FF3F7A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555720-4F3B-4E22-BF37-262CDAD2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00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Service restart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6CEC83-702A-406A-8952-67B95CB8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76625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Waymo resumes limited</a:t>
            </a:r>
          </a:p>
          <a:p xmlns:a="http://schemas.openxmlformats.org/drawingml/2006/main">
            <a:pPr>
              <a:defRPr sz="1575" b="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San Antonio 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DB8BF2-1BA9-430F-96C3-C09B28F7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1809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718096"/>
                </a:solidFill>
                <a:latin typeface="Bitstream Charter"/>
                <a:ea typeface="Bitstream Charter"/>
                <a:cs typeface="Bitstream Charter"/>
              </a:rPr>
              <a:t>2026-09-20  |  TEST REPORT  |  2</a:t>
            </a:r>
          </a:p>
        </p:txBody>
      </p:sp>
    </p:spTree>
    <p:extLst>
      <p:ext uri="{BB962C8B-B14F-4D97-AF65-F5344CB8AC3E}">
        <p14:creationId xmlns:p14="http://schemas.microsoft.com/office/powerpoint/2010/main" val="1832714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C79F4-E888-4956-8966-E4C1F7F7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08D15-BD55-4EB4-B6AE-07F4918F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Bolt–Lucid: 25,000 vehicles for Europe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47510-4E00-4105-A7B5-72CD59C4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C6"/>
          </a:solidFill>
          <a:ln xmlns:a="http://schemas.openxmlformats.org/drawingml/2006/main" w="0">
            <a:solidFill>
              <a:srgbClr val="42D3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FC54D-E6AA-47D6-AF47-5392CC77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3333750" cy="3714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B1930"/>
          </a:solidFill>
          <a:ln xmlns:a="http://schemas.openxmlformats.org/drawingml/2006/main" w="0">
            <a:solidFill>
              <a:srgbClr val="0B193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9961C-8C61-449F-AFB3-F577714A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25,000+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CD4EB-B6CE-4C0E-B723-9CA347CA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8137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4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Minimum vehicles planned</a:t>
            </a:r>
          </a:p>
          <a:p xmlns:a="http://schemas.openxmlformats.org/drawingml/2006/main">
            <a:pPr>
              <a:defRPr sz="18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for major European cities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C03E3-72DA-4120-A296-98FFADDF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Long-term goal: 100,000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24FA3-5A78-4DFF-9C90-FB5B23A7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47875"/>
            <a:ext cx="6667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Bolt will own and operate the fleet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Lucid Midsize platform + NVIDIA Hyperion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Planned production at Lucid's new Saudi plant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Deployment timing and investment not disclosed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4809D-4550-404A-8BBC-84B06497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1809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718096"/>
                </a:solidFill>
                <a:latin typeface="Bitstream Charter"/>
                <a:ea typeface="Bitstream Charter"/>
                <a:cs typeface="Bitstream Charter"/>
              </a:rPr>
              <a:t>2026-09-20  |  TEST REPORT  |  3</a:t>
            </a:r>
          </a:p>
        </p:txBody>
      </p:sp>
    </p:spTree>
    <p:extLst>
      <p:ext uri="{BB962C8B-B14F-4D97-AF65-F5344CB8AC3E}">
        <p14:creationId xmlns:p14="http://schemas.microsoft.com/office/powerpoint/2010/main" val="18613661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E5CCD-FA84-4FEB-A66C-5A06AD74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6705B-199D-494C-B6F1-0B64C6D5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Waymo: Singapore entry and San Antonio restart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BFEE4-B7AA-4F93-BE36-48A19306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C6"/>
          </a:solidFill>
          <a:ln xmlns:a="http://schemas.openxmlformats.org/drawingml/2006/main" w="0">
            <a:solidFill>
              <a:srgbClr val="42D3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0A3EC-36CF-4775-BFF8-75B53805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2197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7F8F6"/>
          </a:solidFill>
          <a:ln xmlns:a="http://schemas.openxmlformats.org/drawingml/2006/main" w="0">
            <a:solidFill>
              <a:srgbClr val="E7F8F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49370-0AD1-4D55-9514-1F4936E6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Singapore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CE5D3-DDA1-464D-954A-D3FB7D94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0375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Mapping and supervised tests in coming months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Public passenger service target: 2028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LTA approval and CETRAN assessment required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EBF7C-EC95-4C9A-9983-B903672A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52625"/>
            <a:ext cx="51816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9283D-A38B-4587-8EDB-43D92DF0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050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San Antonio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4FB38-E4DE-49B4-ACCC-9B0475F7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0375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Restart after about five months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Initial access limited to existing users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Geofencing and severe-weather measures applied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CC735-2B5E-42A1-9EE7-250967DD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1809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718096"/>
                </a:solidFill>
                <a:latin typeface="Bitstream Charter"/>
                <a:ea typeface="Bitstream Charter"/>
                <a:cs typeface="Bitstream Charter"/>
              </a:rPr>
              <a:t>2026-09-20  |  TEST REPORT  |  4</a:t>
            </a:r>
          </a:p>
        </p:txBody>
      </p:sp>
    </p:spTree>
    <p:extLst>
      <p:ext uri="{BB962C8B-B14F-4D97-AF65-F5344CB8AC3E}">
        <p14:creationId xmlns:p14="http://schemas.microsoft.com/office/powerpoint/2010/main" val="20781860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3A6AA-4AE8-499E-985B-889B04FC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91F8F-0631-4527-AEAC-B7004C31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Primary report 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38FEF-E134-42D0-B76F-A8768632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A69AD-ABAE-4D02-AB4A-CF19B7E1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526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Reuters · Bolt–Lucid 25,000-vehicle plan (2026-09-17)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15BF4-0881-43D7-8116-11E22237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D99A1-8612-4C56-BEC4-17AFFA84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The Verge · Waymo Singapore plan (2026-09-17)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1F43E-E726-406A-B8B3-BE9449B8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7E1E0-E997-4081-9720-5C5ACDD0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Axios · Waymo San Antonio restart (2026-09-17)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B50D7-8C8C-46A4-BA14-1F133A64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Full URLs are included in the Markdown attachment and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933301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2026-09-20T06:07:00.2860000Z</dcterms:created>
  <dcterms:modified xsi:type="dcterms:W3CDTF">2026-09-20T06:07:00.2860000Z</dcterms:modified>
</coreProperties>
</file>