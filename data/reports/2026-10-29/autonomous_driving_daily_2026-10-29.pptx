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61419ab09b4ee6" /><Relationship Type="http://schemas.openxmlformats.org/officeDocument/2006/relationships/extended-properties" Target="/docProps/app.xml" Id="R56f1c733341c4797" /><Relationship Type="http://schemas.openxmlformats.org/officeDocument/2006/relationships/officeDocument" Target="/ppt/presentation.xml" Id="R76973fc4edfc4c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5f2819e73744d6"/>
  </p:sldMasterIdLst>
  <p:notesMasterIdLst>
    <p:notesMasterId xmlns:r="http://schemas.openxmlformats.org/officeDocument/2006/relationships" r:id="R2035641952f6437c"/>
  </p:notesMasterIdLst>
  <p:sldIdLst>
    <p:sldId xmlns:r="http://schemas.openxmlformats.org/officeDocument/2006/relationships" id="256" r:id="Rd907c87062f24a03"/>
    <p:sldId xmlns:r="http://schemas.openxmlformats.org/officeDocument/2006/relationships" id="257" r:id="R9c2b5b4153974c94"/>
    <p:sldId xmlns:r="http://schemas.openxmlformats.org/officeDocument/2006/relationships" id="258" r:id="R2cfc4273c0784e91"/>
    <p:sldId xmlns:r="http://schemas.openxmlformats.org/officeDocument/2006/relationships" id="259" r:id="R12d78dce28024dea"/>
    <p:sldId xmlns:r="http://schemas.openxmlformats.org/officeDocument/2006/relationships" id="260" r:id="R90a32ba061f8481c"/>
    <p:sldId xmlns:r="http://schemas.openxmlformats.org/officeDocument/2006/relationships" id="261" r:id="Rad63de2cdb91424c"/>
    <p:sldId xmlns:r="http://schemas.openxmlformats.org/officeDocument/2006/relationships" id="262" r:id="R8fdb8b2872dc41e1"/>
    <p:sldId xmlns:r="http://schemas.openxmlformats.org/officeDocument/2006/relationships" id="263" r:id="R4af7cb908c584941"/>
    <p:sldId xmlns:r="http://schemas.openxmlformats.org/officeDocument/2006/relationships" id="264" r:id="R0728b61ca0ab4fdb"/>
    <p:sldId xmlns:r="http://schemas.openxmlformats.org/officeDocument/2006/relationships" id="265" r:id="Rffd55dc6da9f42dd"/>
    <p:sldId xmlns:r="http://schemas.openxmlformats.org/officeDocument/2006/relationships" id="266" r:id="Rf0d68df3b7944c40"/>
    <p:sldId xmlns:r="http://schemas.openxmlformats.org/officeDocument/2006/relationships" id="267" r:id="Rc3dc76b8dea5487a"/>
    <p:sldId xmlns:r="http://schemas.openxmlformats.org/officeDocument/2006/relationships" id="268" r:id="Rface54aaf91f4a4e"/>
    <p:sldId xmlns:r="http://schemas.openxmlformats.org/officeDocument/2006/relationships" id="269" r:id="R0a1ef95bbbfe4a78"/>
  </p:sldIdLst>
  <p:sldSz cx="9334500" cy="5248275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b3c88300ae47d1" /><Relationship Type="http://schemas.openxmlformats.org/officeDocument/2006/relationships/slideMaster" Target="/ppt/slideMasters/slideMaster1.xml" Id="R345f2819e73744d6" /><Relationship Type="http://schemas.openxmlformats.org/officeDocument/2006/relationships/notesMaster" Target="/ppt/notesMasters/notesMaster1.xml" Id="R2035641952f6437c" /><Relationship Type="http://schemas.openxmlformats.org/officeDocument/2006/relationships/presProps" Target="/ppt/presProps.xml" Id="Ra99ef3d8059a4c17" /><Relationship Type="http://schemas.openxmlformats.org/officeDocument/2006/relationships/viewProps" Target="/ppt/viewProps.xml" Id="R8bcfbbdb9fa74640" /><Relationship Type="http://schemas.openxmlformats.org/officeDocument/2006/relationships/tableStyles" Target="/ppt/tableStyles.xml" Id="R57edea3ffce8423f" /><Relationship Type="http://schemas.openxmlformats.org/officeDocument/2006/relationships/slide" Target="/ppt/slides/slide1.xml" Id="Rd907c87062f24a03" /><Relationship Type="http://schemas.openxmlformats.org/officeDocument/2006/relationships/slide" Target="/ppt/slides/slide2.xml" Id="R9c2b5b4153974c94" /><Relationship Type="http://schemas.openxmlformats.org/officeDocument/2006/relationships/slide" Target="/ppt/slides/slide3.xml" Id="R2cfc4273c0784e91" /><Relationship Type="http://schemas.openxmlformats.org/officeDocument/2006/relationships/slide" Target="/ppt/slides/slide4.xml" Id="R12d78dce28024dea" /><Relationship Type="http://schemas.openxmlformats.org/officeDocument/2006/relationships/slide" Target="/ppt/slides/slide5.xml" Id="R90a32ba061f8481c" /><Relationship Type="http://schemas.openxmlformats.org/officeDocument/2006/relationships/slide" Target="/ppt/slides/slide6.xml" Id="Rad63de2cdb91424c" /><Relationship Type="http://schemas.openxmlformats.org/officeDocument/2006/relationships/slide" Target="/ppt/slides/slide7.xml" Id="R8fdb8b2872dc41e1" /><Relationship Type="http://schemas.openxmlformats.org/officeDocument/2006/relationships/slide" Target="/ppt/slides/slide8.xml" Id="R4af7cb908c584941" /><Relationship Type="http://schemas.openxmlformats.org/officeDocument/2006/relationships/slide" Target="/ppt/slides/slide9.xml" Id="R0728b61ca0ab4fdb" /><Relationship Type="http://schemas.openxmlformats.org/officeDocument/2006/relationships/slide" Target="/ppt/slides/slide10.xml" Id="Rffd55dc6da9f42dd" /><Relationship Type="http://schemas.openxmlformats.org/officeDocument/2006/relationships/slide" Target="/ppt/slides/slide11.xml" Id="Rf0d68df3b7944c40" /><Relationship Type="http://schemas.openxmlformats.org/officeDocument/2006/relationships/slide" Target="/ppt/slides/slide12.xml" Id="Rc3dc76b8dea5487a" /><Relationship Type="http://schemas.openxmlformats.org/officeDocument/2006/relationships/slide" Target="/ppt/slides/slide13.xml" Id="Rface54aaf91f4a4e" /><Relationship Type="http://schemas.openxmlformats.org/officeDocument/2006/relationships/slide" Target="/ppt/slides/slide14.xml" Id="R0a1ef95bbbfe4a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d269fb2a642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bea599d30e4de8" /><Relationship Type="http://schemas.openxmlformats.org/officeDocument/2006/relationships/notesMaster" Target="/ppt/notesMasters/notesMaster1.xml" Id="Rca58271616194f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fecb9634b24047" /><Relationship Type="http://schemas.openxmlformats.org/officeDocument/2006/relationships/notesMaster" Target="/ppt/notesMasters/notesMaster1.xml" Id="R006bc567e52b48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b8091c8b6947ee" /><Relationship Type="http://schemas.openxmlformats.org/officeDocument/2006/relationships/notesMaster" Target="/ppt/notesMasters/notesMaster1.xml" Id="R144e9cea9b164d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d52ce48e6144c8" /><Relationship Type="http://schemas.openxmlformats.org/officeDocument/2006/relationships/notesMaster" Target="/ppt/notesMasters/notesMaster1.xml" Id="R5aea8505d52940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877889da824558" /><Relationship Type="http://schemas.openxmlformats.org/officeDocument/2006/relationships/notesMaster" Target="/ppt/notesMasters/notesMaster1.xml" Id="R82a7f5b42eb84f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3a99d85243413f" /><Relationship Type="http://schemas.openxmlformats.org/officeDocument/2006/relationships/notesMaster" Target="/ppt/notesMasters/notesMaster1.xml" Id="Rbb0a8f5f7c514b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d29c1337e24ffe" /><Relationship Type="http://schemas.openxmlformats.org/officeDocument/2006/relationships/notesMaster" Target="/ppt/notesMasters/notesMaster1.xml" Id="R76767e54b8274e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3ec4764cae4e3e" /><Relationship Type="http://schemas.openxmlformats.org/officeDocument/2006/relationships/notesMaster" Target="/ppt/notesMasters/notesMaster1.xml" Id="R2bb656fbc0d346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444a2718a6408c" /><Relationship Type="http://schemas.openxmlformats.org/officeDocument/2006/relationships/notesMaster" Target="/ppt/notesMasters/notesMaster1.xml" Id="Ra9e483a516ca4c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33be81abf14556" /><Relationship Type="http://schemas.openxmlformats.org/officeDocument/2006/relationships/notesMaster" Target="/ppt/notesMasters/notesMaster1.xml" Id="R3ee27d698b2f48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1f56cf6b124ec1" /><Relationship Type="http://schemas.openxmlformats.org/officeDocument/2006/relationships/notesMaster" Target="/ppt/notesMasters/notesMaster1.xml" Id="R116377f9b3e44b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7521b931f54689" /><Relationship Type="http://schemas.openxmlformats.org/officeDocument/2006/relationships/notesMaster" Target="/ppt/notesMasters/notesMaster1.xml" Id="R78176eeda6fe4e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f47e10640346cd" /><Relationship Type="http://schemas.openxmlformats.org/officeDocument/2006/relationships/notesMaster" Target="/ppt/notesMasters/notesMaster1.xml" Id="R6094d267f51d47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996554917c4655" /><Relationship Type="http://schemas.openxmlformats.org/officeDocument/2006/relationships/notesMaster" Target="/ppt/notesMasters/notesMaster1.xml" Id="Rc56ade56afe34b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Waymo, From the road — October 27, 2026, 2026-10-27: https://waymo.com/blog/shorts/more-places/</a:t>
            </a:r>
          </a:p>
          <a:p xmlns:a="http://schemas.openxmlformats.org/drawingml/2006/main">
            <a:r>
              <a:t>[R2] Waymo, From the road — October 28, 2026, 2026-10-28: https://waymo.com/blog/shorts/waymo-and-ramp/</a:t>
            </a:r>
          </a:p>
          <a:p xmlns:a="http://schemas.openxmlformats.org/drawingml/2006/main">
            <a:r>
              <a:t>[R3] Uber, Autonomous Articles, 2026-10-29 확인: https://www.uber.com/us/en/newsroom/autonomous/</a:t>
            </a:r>
          </a:p>
          <a:p xmlns:a="http://schemas.openxmlformats.org/drawingml/2006/main">
            <a:r>
              <a:t>[R4] Avride, 공식 홈페이지, 2026-10-29 확인: https://www.avride.ai/</a:t>
            </a:r>
          </a:p>
          <a:p xmlns:a="http://schemas.openxmlformats.org/drawingml/2006/main">
            <a:r>
              <a:t>[R5] Bolt, Press Releases, 2026-10-29 확인: https://bolt.eu/en/blog/category/press-releases/</a:t>
            </a:r>
          </a:p>
          <a:p xmlns:a="http://schemas.openxmlformats.org/drawingml/2006/main">
            <a:r>
              <a:t>[R6] Mobileye, News, 2026-10-29 확인: https://www.mobileye.com/news/</a:t>
            </a:r>
          </a:p>
          <a:p xmlns:a="http://schemas.openxmlformats.org/drawingml/2006/main">
            <a:r>
              <a:t>[R7] 카카오모빌리티, 뉴스룸, 2026-10-29 확인: https://www.kakaomobility.com/newsroom/news</a:t>
            </a:r>
          </a:p>
          <a:p xmlns:a="http://schemas.openxmlformats.org/drawingml/2006/main">
            <a:r>
              <a:t>[R8] 쏘카, 공식 블로그, 2026-10-29 확인: https://www.socarcorp.kr/blog</a:t>
            </a:r>
          </a:p>
          <a:p xmlns:a="http://schemas.openxmlformats.org/drawingml/2006/main">
            <a:r>
              <a:t>[R9] May Mobility, Company News, 2026-10-29 확인: https://maymobility.com/posts/type/company-news</a:t>
            </a:r>
          </a:p>
          <a:p xmlns:a="http://schemas.openxmlformats.org/drawingml/2006/main">
            <a:r>
              <a:t>[R10] California DMV, Autonomous Vehicle Permit Holders, 2026-10-21 갱신·2026-10-29 확인: https://qr.dmv.ca.gov/portal/vehicle-industry-services/autonomous-vehicles/autonomous-vehicle-testing-permit-holders/</a:t>
            </a:r>
          </a:p>
          <a:p xmlns:a="http://schemas.openxmlformats.org/drawingml/2006/main">
            <a:r>
              <a:t>[R11]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[R15] May Mobility·SEC, Investor presentation, Exhibit 99.2, 2026-09-16: https://www.sec.gov/Archives/edgar/data/2111542/000121390026100367/ea030470201ex99-2.htm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Waymo, From the road — October 27, 2026, 2026-10-27: https://waymo.com/blog/shorts/more-places/</a:t>
            </a:r>
          </a:p>
          <a:p xmlns:a="http://schemas.openxmlformats.org/drawingml/2006/main">
            <a:r>
              <a:t>[R2] Waymo, From the road — October 28, 2026, 2026-10-28: https://waymo.com/blog/shorts/waymo-and-ramp/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Waymo, From the road — October 27, 2026, 2026-10-27: https://waymo.com/blog/shorts/more-places/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[R3] Uber, Autonomous Articles, 2026-10-29 확인: https://www.uber.com/us/en/newsroom/autonomous/</a:t>
            </a:r>
          </a:p>
          <a:p xmlns:a="http://schemas.openxmlformats.org/drawingml/2006/main">
            <a:r>
              <a:t>[R4] Avride, 공식 홈페이지, 2026-10-29 확인: https://www.avride.ai/</a:t>
            </a:r>
          </a:p>
          <a:p xmlns:a="http://schemas.openxmlformats.org/drawingml/2006/main">
            <a:r>
              <a:t>[R5] Bolt, Press Releases, 2026-10-29 확인: https://bolt.eu/en/blog/category/press-releases/</a:t>
            </a:r>
          </a:p>
          <a:p xmlns:a="http://schemas.openxmlformats.org/drawingml/2006/main">
            <a:r>
              <a:t>[R6] Mobileye, News, 2026-10-29 확인: https://www.mobileye.com/news/</a:t>
            </a:r>
          </a:p>
          <a:p xmlns:a="http://schemas.openxmlformats.org/drawingml/2006/main">
            <a:r>
              <a:t>[R7] 카카오모빌리티, 뉴스룸, 2026-10-29 확인: https://www.kakaomobility.com/newsroom/news</a:t>
            </a:r>
          </a:p>
          <a:p xmlns:a="http://schemas.openxmlformats.org/drawingml/2006/main">
            <a:r>
              <a:t>[R8] 쏘카, 공식 블로그, 2026-10-29 확인: https://www.socarcorp.kr/blog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[R9] May Mobility, Company News, 2026-10-29 확인: https://maymobility.com/posts/type/company-news</a:t>
            </a:r>
          </a:p>
          <a:p xmlns:a="http://schemas.openxmlformats.org/drawingml/2006/main">
            <a:r>
              <a:t>[R11]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[R12]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[R15]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[R16] May Mobility, May Mobility and NTT Mobility to Launch First Public Rides on Autonomous e-Palette, 2026-09-03: https://maymobility.com/posts/may-mobility-and-ntt-mobility-to-launch-first-public-rides-on-autonomous-e-palette/</a:t>
            </a:r>
          </a:p>
          <a:p xmlns:a="http://schemas.openxmlformats.org/drawingml/2006/main">
            <a:r>
              <a:t>[R19]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[R10] California DMV, Autonomous Vehicle Permit Holders, 2026-10-21 갱신·2026-10-29 확인: https://qr.dmv.ca.gov/portal/vehicle-industry-services/autonomous-vehicles/autonomous-vehicle-testing-permit-holders/</a:t>
            </a:r>
          </a:p>
          <a:p xmlns:a="http://schemas.openxmlformats.org/drawingml/2006/main">
            <a:r>
              <a:t>[R12]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[R13] May Mobility, First Responder Interaction Protocol: Atlanta, 게시일 미표기·2026-10-29 확인: https://maymobility.com/first-responders/frip-atlanta-georgia</a:t>
            </a:r>
          </a:p>
          <a:p xmlns:a="http://schemas.openxmlformats.org/drawingml/2006/main">
            <a:r>
              <a:t>[R14] May Mobility, May Mobility launches New AV Architecture, 2026-05-20: https://maymobility.com/posts/may-mobility-launches-new-av-architecture/</a:t>
            </a:r>
          </a:p>
          <a:p xmlns:a="http://schemas.openxmlformats.org/drawingml/2006/main">
            <a:r>
              <a:t>[R16] May Mobility, May Mobility and NTT Mobility to Launch First Public Rides on Autonomous e-Palette, 2026-09-03: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[R9] May Mobility, Company News, 2026-10-29 확인: https://maymobility.com/posts/type/company-news</a:t>
            </a:r>
          </a:p>
          <a:p xmlns:a="http://schemas.openxmlformats.org/drawingml/2006/main">
            <a:r>
              <a:t>[R11]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[R15]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[R17] Reuters, May Mobility to list on Nasdaq via $1.4 billion SPAC deal, 2026-09-16: https://www.reuters.com/legal/transactional/may-mobility-list-nasdaq-via-14-billion-spac-deal-2026-09-16/</a:t>
            </a:r>
          </a:p>
          <a:p xmlns:a="http://schemas.openxmlformats.org/drawingml/2006/main">
            <a:r>
              <a:t>[R18] Axios, May Mobility to go public in SPAC deal at $1.4B valuation, 2026-09-16: https://www.axios.com/2026/09/16/may-mobility-public-spac-atlas-credit-partners-acp</a:t>
            </a:r>
          </a:p>
          <a:p xmlns:a="http://schemas.openxmlformats.org/drawingml/2006/main">
            <a:r>
              <a:t>[R19]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Waymo, From the road — October 27, 2026, 2026-10-27: https://waymo.com/blog/shorts/more-places/</a:t>
            </a:r>
          </a:p>
          <a:p xmlns:a="http://schemas.openxmlformats.org/drawingml/2006/main">
            <a:r>
              <a:t>[R2] Waymo, From the road — October 28, 2026, 2026-10-28: https://waymo.com/blog/shorts/waymo-and-ramp/</a:t>
            </a:r>
          </a:p>
          <a:p xmlns:a="http://schemas.openxmlformats.org/drawingml/2006/main">
            <a:r>
              <a:t>[R3] Uber, Autonomous Articles, 2026-10-29 확인: https://www.uber.com/us/en/newsroom/autonomous/</a:t>
            </a:r>
          </a:p>
          <a:p xmlns:a="http://schemas.openxmlformats.org/drawingml/2006/main">
            <a:r>
              <a:t>[R4] Avride, 공식 홈페이지, 2026-10-29 확인: https://www.avride.ai/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[R5] Bolt, Press Releases, 2026-10-29 확인: https://bolt.eu/en/blog/category/press-releases/</a:t>
            </a:r>
          </a:p>
          <a:p xmlns:a="http://schemas.openxmlformats.org/drawingml/2006/main">
            <a:r>
              <a:t>[R6] Mobileye, News, 2026-10-29 확인: https://www.mobileye.com/news/</a:t>
            </a:r>
          </a:p>
          <a:p xmlns:a="http://schemas.openxmlformats.org/drawingml/2006/main">
            <a:r>
              <a:t>[R7] 카카오모빌리티, 뉴스룸, 2026-10-29 확인: https://www.kakaomobility.com/newsroom/news</a:t>
            </a:r>
          </a:p>
          <a:p xmlns:a="http://schemas.openxmlformats.org/drawingml/2006/main">
            <a:r>
              <a:t>[R8] 쏘카, 공식 블로그, 2026-10-29 확인: https://www.socarcorp.kr/blog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[R9] May Mobility, Company News, 2026-10-29 확인: https://maymobility.com/posts/type/company-news</a:t>
            </a:r>
          </a:p>
          <a:p xmlns:a="http://schemas.openxmlformats.org/drawingml/2006/main">
            <a:r>
              <a:t>[R10] California DMV, Autonomous Vehicle Permit Holders, 2026-10-21 갱신·2026-10-29 확인: https://qr.dmv.ca.gov/portal/vehicle-industry-services/autonomous-vehicles/autonomous-vehicle-testing-permit-holders/</a:t>
            </a:r>
          </a:p>
          <a:p xmlns:a="http://schemas.openxmlformats.org/drawingml/2006/main">
            <a:r>
              <a:t>[R11]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[R12] NTT Mobility, 나고야 자율주행·온디맨드 실증 개시, 2026-08-12: https://www.ntt-mobility.com/news/20260812/newsrelease-260812/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[R13] May Mobility, First Responder Interaction Protocol: Atlanta, 게시일 미표기·2026-10-29 확인: https://maymobility.com/first-responders/frip-atlanta-georgia</a:t>
            </a:r>
          </a:p>
          <a:p xmlns:a="http://schemas.openxmlformats.org/drawingml/2006/main">
            <a:r>
              <a:t>[R14] May Mobility, May Mobility launches New AV Architecture, 2026-05-20: https://maymobility.com/posts/may-mobility-launches-new-av-architecture/</a:t>
            </a:r>
          </a:p>
          <a:p xmlns:a="http://schemas.openxmlformats.org/drawingml/2006/main">
            <a:r>
              <a:t>[R15]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[R16] May Mobility, May Mobility and NTT Mobility to Launch First Public Rides on Autonomous e-Palette, 2026-09-03: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[R17] Reuters, May Mobility to list on Nasdaq via $1.4 billion SPAC deal, 2026-09-16: https://www.reuters.com/legal/transactional/may-mobility-list-nasdaq-via-14-billion-spac-deal-2026-09-16/</a:t>
            </a:r>
          </a:p>
          <a:p xmlns:a="http://schemas.openxmlformats.org/drawingml/2006/main">
            <a:r>
              <a:t>[R18] Axios, May Mobility to go public in SPAC deal at $1.4B valuation, 2026-09-16: https://www.axios.com/2026/09/16/may-mobility-public-spac-atlas-credit-partners-acp</a:t>
            </a:r>
          </a:p>
          <a:p xmlns:a="http://schemas.openxmlformats.org/drawingml/2006/main">
            <a:r>
              <a:t>[R19]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20e5ace944e0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ae6f9b22dc4fa6" /><Relationship Type="http://schemas.openxmlformats.org/officeDocument/2006/relationships/slideLayout" Target="/ppt/slideLayouts/slideLayout1.xml" Id="R29033b8bf31e443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033b8bf31e443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ab6e2b40c4507" /><Relationship Type="http://schemas.openxmlformats.org/officeDocument/2006/relationships/notesSlide" Target="/ppt/notesSlides/notesSlide1.xml" Id="Rc18570d649d143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9edf0fc854002" /><Relationship Type="http://schemas.openxmlformats.org/officeDocument/2006/relationships/notesSlide" Target="/ppt/notesSlides/notesSlide2.xml" Id="R75616090d3dc4e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3a6fcb11e4dad" /><Relationship Type="http://schemas.openxmlformats.org/officeDocument/2006/relationships/notesSlide" Target="/ppt/notesSlides/notesSlide3.xml" Id="R9029d507c87c47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9de1b51b2430d" /><Relationship Type="http://schemas.openxmlformats.org/officeDocument/2006/relationships/notesSlide" Target="/ppt/notesSlides/notesSlide4.xml" Id="R2a44099fb3044f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00be9e48d44ea" /><Relationship Type="http://schemas.openxmlformats.org/officeDocument/2006/relationships/notesSlide" Target="/ppt/notesSlides/notesSlide5.xml" Id="R5ccee4842c0a40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0e3404bf243f2" /><Relationship Type="http://schemas.openxmlformats.org/officeDocument/2006/relationships/notesSlide" Target="/ppt/notesSlides/notesSlide6.xml" Id="R2081dcf5d2ef48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fe0db1a1f4361" /><Relationship Type="http://schemas.openxmlformats.org/officeDocument/2006/relationships/notesSlide" Target="/ppt/notesSlides/notesSlide7.xml" Id="R916c7ce8ff1045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0b40d4ad94547" /><Relationship Type="http://schemas.openxmlformats.org/officeDocument/2006/relationships/notesSlide" Target="/ppt/notesSlides/notesSlide8.xml" Id="R73b4de785f1b4a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59c5105114ad2" /><Relationship Type="http://schemas.openxmlformats.org/officeDocument/2006/relationships/notesSlide" Target="/ppt/notesSlides/notesSlide9.xml" Id="R2911b04be2fc49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f5f907b214363" /><Relationship Type="http://schemas.openxmlformats.org/officeDocument/2006/relationships/notesSlide" Target="/ppt/notesSlides/notesSlide10.xml" Id="Rcd293346a8af4b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2a1ffc0a04ca3" /><Relationship Type="http://schemas.openxmlformats.org/officeDocument/2006/relationships/notesSlide" Target="/ppt/notesSlides/notesSlide11.xml" Id="R2d9bf0a9827149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8866a2b164856" /><Relationship Type="http://schemas.openxmlformats.org/officeDocument/2006/relationships/notesSlide" Target="/ppt/notesSlides/notesSlide12.xml" Id="Rf726944f7f2340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4475bf5774d4c" /><Relationship Type="http://schemas.openxmlformats.org/officeDocument/2006/relationships/notesSlide" Target="/ppt/notesSlides/notesSlide13.xml" Id="R404d849a72754f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7c2a30491429b" /><Relationship Type="http://schemas.openxmlformats.org/officeDocument/2006/relationships/notesSlide" Target="/ppt/notesSlides/notesSlide14.xml" Id="Ra2096d15e62748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DA4E9C-F60E-44B8-B84D-F506D2E7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Executive Summary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4E181D-230A-4774-9C89-72B0DE26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2026-10-29 · Waymo 5개 도시 무인 서비스 영역 250제곱마일 확대</a:t>
            </a:r>
            <a:endParaRPr sz="1500"/>
          </a:p>
        </p:txBody>
      </p:sp>
      <p:sp>
        <p:nvSpPr>
          <p:cNvPr id="1030" name="Bullet marker 1-1">
            <a:extLst xmlns:a="http://schemas.openxmlformats.org/drawingml/2006/main">
              <a:ext uri="{FF2B5EF4-FFF2-40B4-BE49-F238E27FC236}">
                <a16:creationId xmlns:a16="http://schemas.microsoft.com/office/drawing/2014/main" id="{AF4ADB60-9EC7-4A4E-9D8F-8DC6E03B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1" name="Bullet text 1-1">
            <a:extLst xmlns:a="http://schemas.openxmlformats.org/drawingml/2006/main">
              <a:ext uri="{FF2B5EF4-FFF2-40B4-BE49-F238E27FC236}">
                <a16:creationId xmlns:a16="http://schemas.microsoft.com/office/drawing/2014/main" id="{E99AC60D-869D-4297-9278-C25D91A5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0000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Waymo [상용·무인/확대 진행]: 5개 도시에서 다음 1주 동안 서비스 영역 합계 약 250제곱마일 확대. [R1][R2]</a:t>
            </a:r>
            <a:endParaRPr sz="1500"/>
          </a:p>
        </p:txBody>
      </p:sp>
      <p:sp>
        <p:nvSpPr>
          <p:cNvPr id="1032" name="Bullet marker 1-2">
            <a:extLst xmlns:a="http://schemas.openxmlformats.org/drawingml/2006/main">
              <a:ext uri="{FF2B5EF4-FFF2-40B4-BE49-F238E27FC236}">
                <a16:creationId xmlns:a16="http://schemas.microsoft.com/office/drawing/2014/main" id="{8BC6830F-0B9E-46BE-80E2-DF2C201B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6666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3" name="Bullet text 1-2">
            <a:extLst xmlns:a="http://schemas.openxmlformats.org/drawingml/2006/main">
              <a:ext uri="{FF2B5EF4-FFF2-40B4-BE49-F238E27FC236}">
                <a16:creationId xmlns:a16="http://schemas.microsoft.com/office/drawing/2014/main" id="{05F455D4-6202-4B87-A7B6-6EA9E3C3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6666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지역: Torrance·La Jolla·Berryessa BART역 등 추가. 도시별 추가 면적·차량 수는 미공개. [R1]</a:t>
            </a:r>
            <a:endParaRPr sz="1500"/>
          </a:p>
        </p:txBody>
      </p:sp>
      <p:sp>
        <p:nvSpPr>
          <p:cNvPr id="1034" name="Bullet marker 1-3">
            <a:extLst xmlns:a="http://schemas.openxmlformats.org/drawingml/2006/main">
              <a:ext uri="{FF2B5EF4-FFF2-40B4-BE49-F238E27FC236}">
                <a16:creationId xmlns:a16="http://schemas.microsoft.com/office/drawing/2014/main" id="{D36BA013-E568-4C5C-8B1C-3E809B60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333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5" name="Bullet text 1-3">
            <a:extLst xmlns:a="http://schemas.openxmlformats.org/drawingml/2006/main">
              <a:ext uri="{FF2B5EF4-FFF2-40B4-BE49-F238E27FC236}">
                <a16:creationId xmlns:a16="http://schemas.microsoft.com/office/drawing/2014/main" id="{7E912DDD-2F2F-4407-B647-2308511F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3332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Waymo for Business: Ramp 경비처리 연동. 자율주행 단계 변화는 아님. [R2]</a:t>
            </a:r>
            <a:endParaRPr sz="1500"/>
          </a:p>
        </p:txBody>
      </p:sp>
      <p:sp>
        <p:nvSpPr>
          <p:cNvPr id="1036" name="Bullet marker 1-4">
            <a:extLst xmlns:a="http://schemas.openxmlformats.org/drawingml/2006/main">
              <a:ext uri="{FF2B5EF4-FFF2-40B4-BE49-F238E27FC236}">
                <a16:creationId xmlns:a16="http://schemas.microsoft.com/office/drawing/2014/main" id="{344F3B2C-9864-45C8-98A5-93EF9EC5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9998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7" name="Bullet text 1-4">
            <a:extLst xmlns:a="http://schemas.openxmlformats.org/drawingml/2006/main">
              <a:ext uri="{FF2B5EF4-FFF2-40B4-BE49-F238E27FC236}">
                <a16:creationId xmlns:a16="http://schemas.microsoft.com/office/drawing/2014/main" id="{A18B9ACA-5BDC-42D5-BBAE-B562262E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9998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지정 6개사: 신규 L4 운행·허가·무인 전환 확인 사항 없음. [R3][R4][R5][R6][R7][R8]</a:t>
            </a:r>
            <a:endParaRPr sz="1500"/>
          </a:p>
        </p:txBody>
      </p:sp>
      <p:sp>
        <p:nvSpPr>
          <p:cNvPr id="1038" name="Bullet marker 1-5">
            <a:extLst xmlns:a="http://schemas.openxmlformats.org/drawingml/2006/main">
              <a:ext uri="{FF2B5EF4-FFF2-40B4-BE49-F238E27FC236}">
                <a16:creationId xmlns:a16="http://schemas.microsoft.com/office/drawing/2014/main" id="{A69AC049-7EE5-46EE-ACF4-2C00F1D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06664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9" name="Bullet text 1-5">
            <a:extLst xmlns:a="http://schemas.openxmlformats.org/drawingml/2006/main">
              <a:ext uri="{FF2B5EF4-FFF2-40B4-BE49-F238E27FC236}">
                <a16:creationId xmlns:a16="http://schemas.microsoft.com/office/drawing/2014/main" id="{4710145A-F083-4AA9-BB5F-2BE7A25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6664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May Mobility [중복] 이전 보고 2026-10-28 · 신규 확인 사항 없음: 서비스·안전요원·실적·SPAC 신규 변화 없음. [R9][R10][R11][R15]</a:t>
            </a:r>
            <a:endParaRPr sz="1500"/>
          </a:p>
        </p:txBody>
      </p:sp>
      <p:sp>
        <p:nvSpPr>
          <p:cNvPr id="1040" name="Bullet marker 1-6">
            <a:extLst xmlns:a="http://schemas.openxmlformats.org/drawingml/2006/main">
              <a:ext uri="{FF2B5EF4-FFF2-40B4-BE49-F238E27FC236}">
                <a16:creationId xmlns:a16="http://schemas.microsoft.com/office/drawing/2014/main" id="{A6086B9C-0F58-465A-967D-1C2FE523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333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41" name="Bullet text 1-6">
            <a:extLst xmlns:a="http://schemas.openxmlformats.org/drawingml/2006/main">
              <a:ext uri="{FF2B5EF4-FFF2-40B4-BE49-F238E27FC236}">
                <a16:creationId xmlns:a16="http://schemas.microsoft.com/office/drawing/2014/main" id="{9383C0A5-3B17-4965-B0FA-65615B3A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3330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May Mobility California: 안전운전자 동승 시험 허가만 확인. [R10]</a:t>
            </a:r>
            <a:endParaRPr sz="1500"/>
          </a:p>
        </p:txBody>
      </p:sp>
      <p:sp>
        <p:nvSpPr>
          <p:cNvPr id="1042" name="Footer 1">
            <a:extLst xmlns:a="http://schemas.openxmlformats.org/drawingml/2006/main">
              <a:ext uri="{FF2B5EF4-FFF2-40B4-BE49-F238E27FC236}">
                <a16:creationId xmlns:a16="http://schemas.microsoft.com/office/drawing/2014/main" id="{E0DD0FC2-338D-44F2-AD88-D588417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90000"/>
            <a:ext cx="835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확인 기준: 2026-10-29 한국시간 아침. 2026-10-28 발송본과 대조해 May Mobility 외 동일 사건·수치의 재보도를 제외했다.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4710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5A59DA-3F6C-441D-8B11-939C8CD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주요 신규 업데이트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98BC213-C8F8-45FB-B695-B9EACACB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Waymo 5개 도시 서비스 영역 확대</a:t>
            </a:r>
            <a:endParaRPr sz="1500"/>
          </a:p>
        </p:txBody>
      </p:sp>
      <p:sp>
        <p:nvSpPr>
          <p:cNvPr id="1060" name="Bullet marker 2-1">
            <a:extLst xmlns:a="http://schemas.openxmlformats.org/drawingml/2006/main">
              <a:ext uri="{FF2B5EF4-FFF2-40B4-BE49-F238E27FC236}">
                <a16:creationId xmlns:a16="http://schemas.microsoft.com/office/drawing/2014/main" id="{4255ACCD-AFAA-4C7E-B133-F6B297B5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1" name="Bullet text 2-1">
            <a:extLst xmlns:a="http://schemas.openxmlformats.org/drawingml/2006/main">
              <a:ext uri="{FF2B5EF4-FFF2-40B4-BE49-F238E27FC236}">
                <a16:creationId xmlns:a16="http://schemas.microsoft.com/office/drawing/2014/main" id="{715A77BC-72EF-4EAB-8C1D-CBA6204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발표 2026-10-27 / 시행: 다음 1주 순차. 5개 도시 서비스 영역 약 250제곱마일 확대. [R1]</a:t>
            </a:r>
            <a:endParaRPr sz="1500"/>
          </a:p>
        </p:txBody>
      </p:sp>
      <p:sp>
        <p:nvSpPr>
          <p:cNvPr id="1062" name="Bullet marker 2-2">
            <a:extLst xmlns:a="http://schemas.openxmlformats.org/drawingml/2006/main">
              <a:ext uri="{FF2B5EF4-FFF2-40B4-BE49-F238E27FC236}">
                <a16:creationId xmlns:a16="http://schemas.microsoft.com/office/drawing/2014/main" id="{D5291910-2039-4A08-8F51-453C4064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6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3" name="Bullet text 2-2">
            <a:extLst xmlns:a="http://schemas.openxmlformats.org/drawingml/2006/main">
              <a:ext uri="{FF2B5EF4-FFF2-40B4-BE49-F238E27FC236}">
                <a16:creationId xmlns:a16="http://schemas.microsoft.com/office/drawing/2014/main" id="{C28F41A6-02FA-4769-BB45-7F84E9A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6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단계: 기존 상용 무인 호출 서비스 범위 확대. 도시별 면적·차량 규모는 미공개. [R1][R2]</a:t>
            </a:r>
            <a:endParaRPr sz="1500"/>
          </a:p>
        </p:txBody>
      </p:sp>
      <p:sp>
        <p:nvSpPr>
          <p:cNvPr id="1064" name="Bullet marker 2-3">
            <a:extLst xmlns:a="http://schemas.openxmlformats.org/drawingml/2006/main">
              <a:ext uri="{FF2B5EF4-FFF2-40B4-BE49-F238E27FC236}">
                <a16:creationId xmlns:a16="http://schemas.microsoft.com/office/drawing/2014/main" id="{E939AC48-0D8F-4B55-8DA1-D617D4A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5" name="Bullet text 2-3">
            <a:extLst xmlns:a="http://schemas.openxmlformats.org/drawingml/2006/main">
              <a:ext uri="{FF2B5EF4-FFF2-40B4-BE49-F238E27FC236}">
                <a16:creationId xmlns:a16="http://schemas.microsoft.com/office/drawing/2014/main" id="{B44A2CCE-B1D6-4B62-9458-475E27BD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지역: Torrance·Nashville Zoo·Orlando 동부/도심·La Jolla·Berryessa BART역. [R1]</a:t>
            </a:r>
            <a:endParaRPr sz="1500"/>
          </a:p>
        </p:txBody>
      </p:sp>
      <p:sp>
        <p:nvSpPr>
          <p:cNvPr id="1066" name="Bullet marker 2-4">
            <a:extLst xmlns:a="http://schemas.openxmlformats.org/drawingml/2006/main">
              <a:ext uri="{FF2B5EF4-FFF2-40B4-BE49-F238E27FC236}">
                <a16:creationId xmlns:a16="http://schemas.microsoft.com/office/drawing/2014/main" id="{369C9F54-1558-4C99-AAFB-09D46510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7" name="Bullet text 2-4">
            <a:extLst xmlns:a="http://schemas.openxmlformats.org/drawingml/2006/main">
              <a:ext uri="{FF2B5EF4-FFF2-40B4-BE49-F238E27FC236}">
                <a16:creationId xmlns:a16="http://schemas.microsoft.com/office/drawing/2014/main" id="{3D092231-BA32-4455-B0DF-BFEA413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발표 2026-10-28 / 시행: Ramp 연동 활성화. 무인 ODD·허가 변화가 아닌 상용 운영지원. [R2]</a:t>
            </a:r>
            <a:endParaRPr sz="1500"/>
          </a:p>
        </p:txBody>
      </p:sp>
      <p:sp>
        <p:nvSpPr>
          <p:cNvPr id="1068" name="Bullet marker 2-5">
            <a:extLst xmlns:a="http://schemas.openxmlformats.org/drawingml/2006/main">
              <a:ext uri="{FF2B5EF4-FFF2-40B4-BE49-F238E27FC236}">
                <a16:creationId xmlns:a16="http://schemas.microsoft.com/office/drawing/2014/main" id="{2C7F29CC-937A-40CA-BBEE-B1463E5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4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069" name="Bullet text 2-5">
            <a:extLst xmlns:a="http://schemas.openxmlformats.org/drawingml/2006/main">
              <a:ext uri="{FF2B5EF4-FFF2-40B4-BE49-F238E27FC236}">
                <a16:creationId xmlns:a16="http://schemas.microsoft.com/office/drawing/2014/main" id="{43A2A93A-8EC9-4756-A421-E982FF4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4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48588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7FA24D4-2880-4B94-B5D2-D065AB2B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기업/지역별 상세 내용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83D455-62AE-4FDD-94CE-389D5EF9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Waymo</a:t>
            </a:r>
            <a:endParaRPr sz="1500"/>
          </a:p>
        </p:txBody>
      </p:sp>
      <p:sp>
        <p:nvSpPr>
          <p:cNvPr id="1090" name="Bullet marker 3-1">
            <a:extLst xmlns:a="http://schemas.openxmlformats.org/drawingml/2006/main">
              <a:ext uri="{FF2B5EF4-FFF2-40B4-BE49-F238E27FC236}">
                <a16:creationId xmlns:a16="http://schemas.microsoft.com/office/drawing/2014/main" id="{E9D0C07A-5606-454F-83E6-5CC8C692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1" name="Bullet text 3-1">
            <a:extLst xmlns:a="http://schemas.openxmlformats.org/drawingml/2006/main">
              <a:ext uri="{FF2B5EF4-FFF2-40B4-BE49-F238E27FC236}">
                <a16:creationId xmlns:a16="http://schemas.microsoft.com/office/drawing/2014/main" id="{C3C51FF2-2DD2-471E-A57D-8E1637EB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Los Angeles·Nashville: Los Angeles는 해안 남쪽 South Bay를 거쳐 Torrance까지, Nashville은 동물원 방향 남부까지 확대한다. [R1]</a:t>
            </a:r>
            <a:endParaRPr sz="1500"/>
          </a:p>
        </p:txBody>
      </p:sp>
      <p:sp>
        <p:nvSpPr>
          <p:cNvPr id="1092" name="Bullet marker 3-2">
            <a:extLst xmlns:a="http://schemas.openxmlformats.org/drawingml/2006/main">
              <a:ext uri="{FF2B5EF4-FFF2-40B4-BE49-F238E27FC236}">
                <a16:creationId xmlns:a16="http://schemas.microsoft.com/office/drawing/2014/main" id="{0D7D1E8E-0AF5-4D9D-813D-4E9F8D1C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6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3" name="Bullet text 3-2">
            <a:extLst xmlns:a="http://schemas.openxmlformats.org/drawingml/2006/main">
              <a:ext uri="{FF2B5EF4-FFF2-40B4-BE49-F238E27FC236}">
                <a16:creationId xmlns:a16="http://schemas.microsoft.com/office/drawing/2014/main" id="{D76DA1B6-54CF-44E5-A28B-9BEB7B0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6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Orlando: 동부 서비스 영역을 거의 두 배로 확대하고 도심 서비스를 강화한다. [R1]</a:t>
            </a:r>
            <a:endParaRPr sz="1500"/>
          </a:p>
        </p:txBody>
      </p:sp>
      <p:sp>
        <p:nvSpPr>
          <p:cNvPr id="1094" name="Bullet marker 3-3">
            <a:extLst xmlns:a="http://schemas.openxmlformats.org/drawingml/2006/main">
              <a:ext uri="{FF2B5EF4-FFF2-40B4-BE49-F238E27FC236}">
                <a16:creationId xmlns:a16="http://schemas.microsoft.com/office/drawing/2014/main" id="{8DF22295-6623-458C-86D2-94AD5D6B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5" name="Bullet text 3-3">
            <a:extLst xmlns:a="http://schemas.openxmlformats.org/drawingml/2006/main">
              <a:ext uri="{FF2B5EF4-FFF2-40B4-BE49-F238E27FC236}">
                <a16:creationId xmlns:a16="http://schemas.microsoft.com/office/drawing/2014/main" id="{4CE58A06-73FB-4BDA-A31A-81EE0A7F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San Diego: 북쪽 La Jolla까지 확대한다. [R1]</a:t>
            </a:r>
            <a:endParaRPr sz="1500"/>
          </a:p>
        </p:txBody>
      </p:sp>
      <p:sp>
        <p:nvSpPr>
          <p:cNvPr id="1096" name="Bullet marker 3-4">
            <a:extLst xmlns:a="http://schemas.openxmlformats.org/drawingml/2006/main">
              <a:ext uri="{FF2B5EF4-FFF2-40B4-BE49-F238E27FC236}">
                <a16:creationId xmlns:a16="http://schemas.microsoft.com/office/drawing/2014/main" id="{0C6E00BB-42C6-4E13-BC4C-90FD9286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7" name="Bullet text 3-4">
            <a:extLst xmlns:a="http://schemas.openxmlformats.org/drawingml/2006/main">
              <a:ext uri="{FF2B5EF4-FFF2-40B4-BE49-F238E27FC236}">
                <a16:creationId xmlns:a16="http://schemas.microsoft.com/office/drawing/2014/main" id="{EC4432ED-2B23-4E39-AD99-D7C453F0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San Francisco Bay Area: South Bay 범위를 넓혀 Berryessa BART역 연결을 추가한다. [R1]</a:t>
            </a:r>
            <a:endParaRPr sz="1500"/>
          </a:p>
        </p:txBody>
      </p:sp>
      <p:sp>
        <p:nvSpPr>
          <p:cNvPr id="1098" name="Bullet marker 3-5">
            <a:extLst xmlns:a="http://schemas.openxmlformats.org/drawingml/2006/main">
              <a:ext uri="{FF2B5EF4-FFF2-40B4-BE49-F238E27FC236}">
                <a16:creationId xmlns:a16="http://schemas.microsoft.com/office/drawing/2014/main" id="{3A229B9A-B7B1-4F15-BA14-E78B3722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4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9" name="Bullet text 3-5">
            <a:extLst xmlns:a="http://schemas.openxmlformats.org/drawingml/2006/main">
              <a:ext uri="{FF2B5EF4-FFF2-40B4-BE49-F238E27FC236}">
                <a16:creationId xmlns:a16="http://schemas.microsoft.com/office/drawing/2014/main" id="{421F8A5A-AE8E-41EB-BB44-44C5F12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4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확인 한계: Waymo는 합계 약 250제곱마일만 제시했으며 도시별 면적, 증차 규모와 확대 완료 여부는 공개하지 않았다. [R1]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69521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9A1F5D-4660-4D9F-8BF3-03C2A1B8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지정 6개사 L4 점검</a:t>
            </a:r>
            <a:endParaRPr sz="22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FEAAC9F-4705-4999-8D53-5EAC7F26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96727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28C8DEF-A1BB-438A-BBD1-F98E95C4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74304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40825F-F5B0-4B16-890A-63557179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51881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442B6C3-254C-41F8-961D-DB68C06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9458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2572343-FA8F-4469-A914-6B3D9469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07035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2C38B52-8A07-40F8-95F6-C323225E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84612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D91CF20-3608-41CC-9EF4-2A07C977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62189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09B1E8F-9C38-441D-8E22-D419E98C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28876"/>
            <a:ext cx="8588121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75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graphicFrame>
        <p:nvGraphicFramePr>
          <p:cNvPr id="904" name="Editable source table">
            <a:extLst xmlns:a="http://schemas.openxmlformats.org/drawingml/2006/main">
              <a:ext uri="{FF2B5EF4-FFF2-40B4-BE49-F238E27FC236}">
                <a16:creationId xmlns:a16="http://schemas.microsoft.com/office/drawing/2014/main" id="{0A2960F0-AD9C-427F-99C4-41E573824084}"/>
              </a:ext>
            </a:extLst>
          </p:cNvPr>
          <p:cNvGraphicFramePr/>
          <p:nvPr/>
        </p:nvGraphicFramePr>
        <p:xfrm>
          <a:off xmlns:a="http://schemas.openxmlformats.org/drawingml/2006/main" x="438150" y="823912"/>
          <a:ext xmlns:a="http://schemas.openxmlformats.org/drawingml/2006/main" cx="8458200" cy="264303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66168"/>
                <a:gridCol w="2964954"/>
                <a:gridCol w="3527078"/>
              </a:tblGrid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기업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 보고 이후 확인 결과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점검 출처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Uber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신규 무인 운행·허가·지역 확대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Autonomous Newsroom [R3]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Avride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무인 단계·허가·차량 규모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홈페이지 [R4]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Bolt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23일 대파리 계획 이후 실행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Press Releases [R5]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Mobileye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22일 AEB 인증은 L4 사업 변화가 아님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News [R6]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카카오모빌리티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23일 ITS 전시는 신규 L4 운행·허가 변화가 아님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뉴스룸 [R7]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쏘카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26일 주차·충전 뉴스는 L4 사업과 무관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블로그 [R8]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765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FDF4F4-39A7-45A2-A263-8B3C8B5F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EC05E8-69D2-4D67-9FDB-F04D791D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2026-10-28 · 신규 확인 사항 없음</a:t>
            </a:r>
            <a:endParaRPr sz="1500"/>
          </a:p>
        </p:txBody>
      </p:sp>
      <p:sp>
        <p:nvSpPr>
          <p:cNvPr id="705" name="Subheading 5">
            <a:extLst xmlns:a="http://schemas.openxmlformats.org/drawingml/2006/main">
              <a:ext uri="{FF2B5EF4-FFF2-40B4-BE49-F238E27FC236}">
                <a16:creationId xmlns:a16="http://schemas.microsoft.com/office/drawing/2014/main" id="{EE4587E3-7390-4D0C-ACF5-932A68D1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① 실제 서비스 지역</a:t>
            </a:r>
            <a:endParaRPr sz="1500"/>
          </a:p>
        </p:txBody>
      </p:sp>
      <p:sp>
        <p:nvSpPr>
          <p:cNvPr id="1150" name="Bullet marker 5-1">
            <a:extLst xmlns:a="http://schemas.openxmlformats.org/drawingml/2006/main">
              <a:ext uri="{FF2B5EF4-FFF2-40B4-BE49-F238E27FC236}">
                <a16:creationId xmlns:a16="http://schemas.microsoft.com/office/drawing/2014/main" id="{FAA654DF-356E-44FB-80FD-A805F3A1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1" name="Bullet text 5-1">
            <a:extLst xmlns:a="http://schemas.openxmlformats.org/drawingml/2006/main">
              <a:ext uri="{FF2B5EF4-FFF2-40B4-BE49-F238E27FC236}">
                <a16:creationId xmlns:a16="http://schemas.microsoft.com/office/drawing/2014/main" id="{C0E9FB4D-F00C-40BA-A18F-9DCB6C49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신규 서비스·무인 전환 확인 사항 없음. 회사 뉴스 인덱스의 최신 회사 발표는 2026년 9월 16일 SPAC 공지로 유지됐다. [R9] [R19]</a:t>
            </a:r>
            <a:endParaRPr sz="1500"/>
          </a:p>
        </p:txBody>
      </p:sp>
      <p:sp>
        <p:nvSpPr>
          <p:cNvPr id="1152" name="Bullet marker 5-2">
            <a:extLst xmlns:a="http://schemas.openxmlformats.org/drawingml/2006/main">
              <a:ext uri="{FF2B5EF4-FFF2-40B4-BE49-F238E27FC236}">
                <a16:creationId xmlns:a16="http://schemas.microsoft.com/office/drawing/2014/main" id="{885FB200-15F8-4C98-80FD-76F321F7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3" name="Bullet text 5-2">
            <a:extLst xmlns:a="http://schemas.openxmlformats.org/drawingml/2006/main">
              <a:ext uri="{FF2B5EF4-FFF2-40B4-BE49-F238E27FC236}">
                <a16:creationId xmlns:a16="http://schemas.microsoft.com/office/drawing/2014/main" id="{EC4A5819-3298-4011-B4A2-C98EA3F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미국 상용 [중복]: SEC 자료는 Atlanta, Eden Prairie와 Grand Rapids를 상업 운영 지역으로 명시한다. [R11]</a:t>
            </a:r>
            <a:endParaRPr sz="1500"/>
          </a:p>
        </p:txBody>
      </p:sp>
      <p:sp>
        <p:nvSpPr>
          <p:cNvPr id="1154" name="Bullet marker 5-3">
            <a:extLst xmlns:a="http://schemas.openxmlformats.org/drawingml/2006/main">
              <a:ext uri="{FF2B5EF4-FFF2-40B4-BE49-F238E27FC236}">
                <a16:creationId xmlns:a16="http://schemas.microsoft.com/office/drawing/2014/main" id="{78C4460E-C4A6-4128-B4A4-005B0743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5" name="Bullet text 5-3">
            <a:extLst xmlns:a="http://schemas.openxmlformats.org/drawingml/2006/main">
              <a:ext uri="{FF2B5EF4-FFF2-40B4-BE49-F238E27FC236}">
                <a16:creationId xmlns:a16="http://schemas.microsoft.com/office/drawing/2014/main" id="{E45870B9-82A0-42DC-929A-DAE85FA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Arlington·Uber [중복]: 개시 목표는 2026년 4분기부터 2027년 1분기이며 실제 개시는 추가 확인되지 않았다. [R11] [R15]</a:t>
            </a:r>
            <a:endParaRPr sz="1500"/>
          </a:p>
        </p:txBody>
      </p:sp>
      <p:sp>
        <p:nvSpPr>
          <p:cNvPr id="1156" name="Bullet marker 5-4">
            <a:extLst xmlns:a="http://schemas.openxmlformats.org/drawingml/2006/main">
              <a:ext uri="{FF2B5EF4-FFF2-40B4-BE49-F238E27FC236}">
                <a16:creationId xmlns:a16="http://schemas.microsoft.com/office/drawing/2014/main" id="{9C0A8E78-2914-4DEE-9045-A323078A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7" name="Bullet text 5-4">
            <a:extLst xmlns:a="http://schemas.openxmlformats.org/drawingml/2006/main">
              <a:ext uri="{FF2B5EF4-FFF2-40B4-BE49-F238E27FC236}">
                <a16:creationId xmlns:a16="http://schemas.microsoft.com/office/drawing/2014/main" id="{BBECCF03-3FFC-4DBB-98DA-DA83FEC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나고야·e-Palette [중복]: 2026년 9월 11일부터 2027년 3월 19일까지 평일 실증으로 차량 3대와 승하차 지점 5곳을 제시했다. 현재 운전석 무인 상용 서비스 개시를 뜻하지 않는다. [R12] [R16]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35540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E0098C-93F1-45CC-9D4A-DCD6C464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2026-10-28 · 신규 확인 사항 없음</a:t>
            </a:r>
            <a:endParaRPr sz="1500"/>
          </a:p>
        </p:txBody>
      </p:sp>
      <p:sp>
        <p:nvSpPr>
          <p:cNvPr id="706" name="Subheading 6">
            <a:extLst xmlns:a="http://schemas.openxmlformats.org/drawingml/2006/main">
              <a:ext uri="{FF2B5EF4-FFF2-40B4-BE49-F238E27FC236}">
                <a16:creationId xmlns:a16="http://schemas.microsoft.com/office/drawing/2014/main" id="{6393B169-0136-4077-BF25-C3E87DDA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② 안전요원·무인 수준 / 기술·ODD</a:t>
            </a:r>
            <a:endParaRPr sz="1500"/>
          </a:p>
        </p:txBody>
      </p:sp>
      <p:sp>
        <p:nvSpPr>
          <p:cNvPr id="1180" name="Bullet marker 6-1">
            <a:extLst xmlns:a="http://schemas.openxmlformats.org/drawingml/2006/main">
              <a:ext uri="{FF2B5EF4-FFF2-40B4-BE49-F238E27FC236}">
                <a16:creationId xmlns:a16="http://schemas.microsoft.com/office/drawing/2014/main" id="{D4A03F95-5F4A-4BCE-A144-1313D63D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1" name="Bullet text 6-1">
            <a:extLst xmlns:a="http://schemas.openxmlformats.org/drawingml/2006/main">
              <a:ext uri="{FF2B5EF4-FFF2-40B4-BE49-F238E27FC236}">
                <a16:creationId xmlns:a16="http://schemas.microsoft.com/office/drawing/2014/main" id="{4BE02B9C-1E49-4911-96AE-FCCD726E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California [중복]: DMV의 2026년 10월 21일 갱신 명단에서 May Mobility는 ‘Testing with a Driver’에만 포함되고 무인 시험·배치 명단에는 없다. [R10]</a:t>
            </a:r>
            <a:endParaRPr sz="1500"/>
          </a:p>
        </p:txBody>
      </p:sp>
      <p:sp>
        <p:nvSpPr>
          <p:cNvPr id="1182" name="Bullet marker 6-2">
            <a:extLst xmlns:a="http://schemas.openxmlformats.org/drawingml/2006/main">
              <a:ext uri="{FF2B5EF4-FFF2-40B4-BE49-F238E27FC236}">
                <a16:creationId xmlns:a16="http://schemas.microsoft.com/office/drawing/2014/main" id="{24AB4742-3613-4C47-BC18-FD04A614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3" name="Bullet text 6-2">
            <a:extLst xmlns:a="http://schemas.openxmlformats.org/drawingml/2006/main">
              <a:ext uri="{FF2B5EF4-FFF2-40B4-BE49-F238E27FC236}">
                <a16:creationId xmlns:a16="http://schemas.microsoft.com/office/drawing/2014/main" id="{F6BEE0C4-9ED7-4A7E-979B-9E585C3B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Atlanta [중복]: 공식 긴급대응 지침은 Toyota Sienna 운전석 Safety Operator 탑승을 명시한다. [R13]</a:t>
            </a:r>
            <a:endParaRPr sz="1500"/>
          </a:p>
        </p:txBody>
      </p:sp>
      <p:sp>
        <p:nvSpPr>
          <p:cNvPr id="1184" name="Bullet marker 6-3">
            <a:extLst xmlns:a="http://schemas.openxmlformats.org/drawingml/2006/main">
              <a:ext uri="{FF2B5EF4-FFF2-40B4-BE49-F238E27FC236}">
                <a16:creationId xmlns:a16="http://schemas.microsoft.com/office/drawing/2014/main" id="{40AC5E27-3D07-425C-B4EA-2606277C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5" name="Bullet text 6-3">
            <a:extLst xmlns:a="http://schemas.openxmlformats.org/drawingml/2006/main">
              <a:ext uri="{FF2B5EF4-FFF2-40B4-BE49-F238E27FC236}">
                <a16:creationId xmlns:a16="http://schemas.microsoft.com/office/drawing/2014/main" id="{38747B8C-CDD9-4BA8-9066-824F38B2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나고야 [중복]: 안내문은 향후 승무원 없는 L4를 상정한 실증이며 현재 운전석 무인 허가·달성을 뜻하지 않는다. [R12] [R16]</a:t>
            </a:r>
            <a:endParaRPr sz="1500"/>
          </a:p>
        </p:txBody>
      </p:sp>
      <p:sp>
        <p:nvSpPr>
          <p:cNvPr id="1186" name="Bullet marker 6-4">
            <a:extLst xmlns:a="http://schemas.openxmlformats.org/drawingml/2006/main">
              <a:ext uri="{FF2B5EF4-FFF2-40B4-BE49-F238E27FC236}">
                <a16:creationId xmlns:a16="http://schemas.microsoft.com/office/drawing/2014/main" id="{A4110EA9-991F-42FE-8448-F6011759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7" name="Bullet text 6-4">
            <a:extLst xmlns:a="http://schemas.openxmlformats.org/drawingml/2006/main">
              <a:ext uri="{FF2B5EF4-FFF2-40B4-BE49-F238E27FC236}">
                <a16:creationId xmlns:a16="http://schemas.microsoft.com/office/drawing/2014/main" id="{21C1B306-DC74-46D9-8071-5D6001C3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기술·ODD [중복]: 5세대 구조는 딥러닝, 차량 내 월드 모델과 추론 엔진을 결합한다. 최신 속도·기상·도로별 전체 ODD와 추가 안전요원 철수는 공개자료에서 확인되지 않았다. [R14]</a:t>
            </a:r>
            <a:endParaRPr sz="15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0EAA9C-8716-4B3D-B6DF-22778C2C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1299126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D41ACF-CC26-432F-BC7B-8E1962B6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C17C57-9302-484D-B14F-470BEC62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[중복] 이전 보고 2026-10-28 · 신규 확인 사항 없음</a:t>
            </a:r>
            <a:endParaRPr sz="1500"/>
          </a:p>
        </p:txBody>
      </p:sp>
      <p:sp>
        <p:nvSpPr>
          <p:cNvPr id="707" name="Subheading 7">
            <a:extLst xmlns:a="http://schemas.openxmlformats.org/drawingml/2006/main">
              <a:ext uri="{FF2B5EF4-FFF2-40B4-BE49-F238E27FC236}">
                <a16:creationId xmlns:a16="http://schemas.microsoft.com/office/drawing/2014/main" id="{50A88524-C980-45A6-9A6A-4DC0ED14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③ 차량·운영 실적 / ④ 투자·SPAC 일정</a:t>
            </a:r>
            <a:endParaRPr sz="1500"/>
          </a:p>
        </p:txBody>
      </p:sp>
      <p:sp>
        <p:nvSpPr>
          <p:cNvPr id="1210" name="Bullet marker 7-1">
            <a:extLst xmlns:a="http://schemas.openxmlformats.org/drawingml/2006/main">
              <a:ext uri="{FF2B5EF4-FFF2-40B4-BE49-F238E27FC236}">
                <a16:creationId xmlns:a16="http://schemas.microsoft.com/office/drawing/2014/main" id="{B66C3604-188E-444B-92F2-C9ECD784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1" name="Bullet text 7-1">
            <a:extLst xmlns:a="http://schemas.openxmlformats.org/drawingml/2006/main">
              <a:ext uri="{FF2B5EF4-FFF2-40B4-BE49-F238E27FC236}">
                <a16:creationId xmlns:a16="http://schemas.microsoft.com/office/drawing/2014/main" id="{6B872026-580F-4957-AE9C-642E2C04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누적 실적 [중복]: 2026년 9월 16일 기준 상업 승차 55만 회 초과, 110만 마일과 driver-out 배치 3건이다. 모든 지역이 무인이라는 뜻은 아니다. [R11]</a:t>
            </a:r>
            <a:endParaRPr sz="1500"/>
          </a:p>
        </p:txBody>
      </p:sp>
      <p:sp>
        <p:nvSpPr>
          <p:cNvPr id="1212" name="Bullet marker 7-2">
            <a:extLst xmlns:a="http://schemas.openxmlformats.org/drawingml/2006/main">
              <a:ext uri="{FF2B5EF4-FFF2-40B4-BE49-F238E27FC236}">
                <a16:creationId xmlns:a16="http://schemas.microsoft.com/office/drawing/2014/main" id="{AC0F9192-947E-4D82-B38E-907281FC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3489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3" name="Bullet text 7-2">
            <a:extLst xmlns:a="http://schemas.openxmlformats.org/drawingml/2006/main">
              <a:ext uri="{FF2B5EF4-FFF2-40B4-BE49-F238E27FC236}">
                <a16:creationId xmlns:a16="http://schemas.microsoft.com/office/drawing/2014/main" id="{D039CB3D-A541-42DE-9DE3-25EA319B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3489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AaaS [중복]: 파트너가 차량 소유·차고 운영·유지보수를 맡고 May Mobility가 자율주행 기술을 제공하는 모델을 제시한다. [R11] [R15]</a:t>
            </a:r>
            <a:endParaRPr sz="1500"/>
          </a:p>
        </p:txBody>
      </p:sp>
      <p:sp>
        <p:nvSpPr>
          <p:cNvPr id="1214" name="Bullet marker 7-3">
            <a:extLst xmlns:a="http://schemas.openxmlformats.org/drawingml/2006/main">
              <a:ext uri="{FF2B5EF4-FFF2-40B4-BE49-F238E27FC236}">
                <a16:creationId xmlns:a16="http://schemas.microsoft.com/office/drawing/2014/main" id="{92983FEC-583E-49D9-8A42-99D7A7F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116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5" name="Bullet text 7-3">
            <a:extLst xmlns:a="http://schemas.openxmlformats.org/drawingml/2006/main">
              <a:ext uri="{FF2B5EF4-FFF2-40B4-BE49-F238E27FC236}">
                <a16:creationId xmlns:a16="http://schemas.microsoft.com/office/drawing/2014/main" id="{D8CC23E8-88BD-4D96-88B6-3BDBFD93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116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SPAC 발표값 [중복]: 기업가치 약 14억 달러, 최대 조달 3억3,700만 달러와 PIPE 1억2,000만 달러이며 환매·종결 조건의 영향을 받는다. [R11] [R17] [R18] [R19]</a:t>
            </a:r>
            <a:endParaRPr sz="1500"/>
          </a:p>
        </p:txBody>
      </p:sp>
      <p:sp>
        <p:nvSpPr>
          <p:cNvPr id="1216" name="Bullet marker 7-4">
            <a:extLst xmlns:a="http://schemas.openxmlformats.org/drawingml/2006/main">
              <a:ext uri="{FF2B5EF4-FFF2-40B4-BE49-F238E27FC236}">
                <a16:creationId xmlns:a16="http://schemas.microsoft.com/office/drawing/2014/main" id="{A0EC3BBF-C4B5-4B73-B2C9-D763B845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16743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7" name="Bullet text 7-4">
            <a:extLst xmlns:a="http://schemas.openxmlformats.org/drawingml/2006/main">
              <a:ext uri="{FF2B5EF4-FFF2-40B4-BE49-F238E27FC236}">
                <a16:creationId xmlns:a16="http://schemas.microsoft.com/office/drawing/2014/main" id="{060901C9-EABE-4399-B058-8381EB3C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6743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종결 목표 [중복]: 투자자 자료는 2027년 1분기를 제시한다. 합병·상장 완료는 추가 확인하지 못했다. [R15]</a:t>
            </a:r>
            <a:endParaRPr sz="1500"/>
          </a:p>
        </p:txBody>
      </p:sp>
      <p:sp>
        <p:nvSpPr>
          <p:cNvPr id="1218" name="Bullet marker 7-5">
            <a:extLst xmlns:a="http://schemas.openxmlformats.org/drawingml/2006/main">
              <a:ext uri="{FF2B5EF4-FFF2-40B4-BE49-F238E27FC236}">
                <a16:creationId xmlns:a16="http://schemas.microsoft.com/office/drawing/2014/main" id="{854DF30B-F301-47CF-B003-C55B3B28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3337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9" name="Bullet text 7-5">
            <a:extLst xmlns:a="http://schemas.openxmlformats.org/drawingml/2006/main">
              <a:ext uri="{FF2B5EF4-FFF2-40B4-BE49-F238E27FC236}">
                <a16:creationId xmlns:a16="http://schemas.microsoft.com/office/drawing/2014/main" id="{40CF16FC-D0BE-45C8-B900-AA56D089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337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현대자동차: 신규 직접 계약·차량 적용 근거는 확인되지 않았다. [R9] [R11] [R15]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36249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C080AB-C486-4F6E-9E84-ADD39A80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규제·안전</a:t>
            </a:r>
            <a:endParaRPr sz="2250"/>
          </a:p>
        </p:txBody>
      </p:sp>
      <p:sp>
        <p:nvSpPr>
          <p:cNvPr id="1240" name="Bullet marker 8-1">
            <a:extLst xmlns:a="http://schemas.openxmlformats.org/drawingml/2006/main">
              <a:ext uri="{FF2B5EF4-FFF2-40B4-BE49-F238E27FC236}">
                <a16:creationId xmlns:a16="http://schemas.microsoft.com/office/drawing/2014/main" id="{6770C92F-5EDA-4308-A44A-ACC2411A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1" name="Bullet text 8-1">
            <a:extLst xmlns:a="http://schemas.openxmlformats.org/drawingml/2006/main">
              <a:ext uri="{FF2B5EF4-FFF2-40B4-BE49-F238E27FC236}">
                <a16:creationId xmlns:a16="http://schemas.microsoft.com/office/drawing/2014/main" id="{A0BDE690-9095-427A-8E35-C45876B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해당 없음</a:t>
            </a:r>
            <a:endParaRPr sz="1500"/>
          </a:p>
        </p:txBody>
      </p:sp>
      <p:sp>
        <p:nvSpPr>
          <p:cNvPr id="1242" name="Bullet marker 8-2">
            <a:extLst xmlns:a="http://schemas.openxmlformats.org/drawingml/2006/main">
              <a:ext uri="{FF2B5EF4-FFF2-40B4-BE49-F238E27FC236}">
                <a16:creationId xmlns:a16="http://schemas.microsoft.com/office/drawing/2014/main" id="{5B5A8FDC-7111-4117-B5F8-3C9483EB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3" name="Bullet text 8-2">
            <a:extLst xmlns:a="http://schemas.openxmlformats.org/drawingml/2006/main">
              <a:ext uri="{FF2B5EF4-FFF2-40B4-BE49-F238E27FC236}">
                <a16:creationId xmlns:a16="http://schemas.microsoft.com/office/drawing/2014/main" id="{D53B1FD4-7109-4263-B745-DAE6F876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4" name="Bullet marker 8-3">
            <a:extLst xmlns:a="http://schemas.openxmlformats.org/drawingml/2006/main">
              <a:ext uri="{FF2B5EF4-FFF2-40B4-BE49-F238E27FC236}">
                <a16:creationId xmlns:a16="http://schemas.microsoft.com/office/drawing/2014/main" id="{7183365D-5DE1-472A-A0C0-9DCB2CF1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5" name="Bullet text 8-3">
            <a:extLst xmlns:a="http://schemas.openxmlformats.org/drawingml/2006/main">
              <a:ext uri="{FF2B5EF4-FFF2-40B4-BE49-F238E27FC236}">
                <a16:creationId xmlns:a16="http://schemas.microsoft.com/office/drawing/2014/main" id="{2F74F247-EE9A-4F17-98E6-ECEB084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6" name="Bullet marker 8-4">
            <a:extLst xmlns:a="http://schemas.openxmlformats.org/drawingml/2006/main">
              <a:ext uri="{FF2B5EF4-FFF2-40B4-BE49-F238E27FC236}">
                <a16:creationId xmlns:a16="http://schemas.microsoft.com/office/drawing/2014/main" id="{E42CE2C3-A214-40C7-94DB-EDC8C26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47" name="Bullet text 8-4">
            <a:extLst xmlns:a="http://schemas.openxmlformats.org/drawingml/2006/main">
              <a:ext uri="{FF2B5EF4-FFF2-40B4-BE49-F238E27FC236}">
                <a16:creationId xmlns:a16="http://schemas.microsoft.com/office/drawing/2014/main" id="{E1A0818E-C85F-4DE1-B2E2-70AB41E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04681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B871FC-5CB1-432D-ACA7-A62F2B6D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기술·공급망</a:t>
            </a:r>
            <a:endParaRPr sz="2250"/>
          </a:p>
        </p:txBody>
      </p:sp>
      <p:sp>
        <p:nvSpPr>
          <p:cNvPr id="1270" name="Bullet marker 9-1">
            <a:extLst xmlns:a="http://schemas.openxmlformats.org/drawingml/2006/main">
              <a:ext uri="{FF2B5EF4-FFF2-40B4-BE49-F238E27FC236}">
                <a16:creationId xmlns:a16="http://schemas.microsoft.com/office/drawing/2014/main" id="{7B754F4A-D65D-4661-8550-39B1B15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71" name="Bullet text 9-1">
            <a:extLst xmlns:a="http://schemas.openxmlformats.org/drawingml/2006/main">
              <a:ext uri="{FF2B5EF4-FFF2-40B4-BE49-F238E27FC236}">
                <a16:creationId xmlns:a16="http://schemas.microsoft.com/office/drawing/2014/main" id="{9663B968-E977-4240-BEF7-E0DEF8BF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해당 없음</a:t>
            </a:r>
            <a:endParaRPr sz="1500"/>
          </a:p>
        </p:txBody>
      </p:sp>
      <p:sp>
        <p:nvSpPr>
          <p:cNvPr id="1272" name="Bullet marker 9-2">
            <a:extLst xmlns:a="http://schemas.openxmlformats.org/drawingml/2006/main">
              <a:ext uri="{FF2B5EF4-FFF2-40B4-BE49-F238E27FC236}">
                <a16:creationId xmlns:a16="http://schemas.microsoft.com/office/drawing/2014/main" id="{DDB011FD-B6BD-4BC4-BA18-4DA16DB0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3" name="Bullet text 9-2">
            <a:extLst xmlns:a="http://schemas.openxmlformats.org/drawingml/2006/main">
              <a:ext uri="{FF2B5EF4-FFF2-40B4-BE49-F238E27FC236}">
                <a16:creationId xmlns:a16="http://schemas.microsoft.com/office/drawing/2014/main" id="{E829100F-072F-4FF2-868B-210FEE0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4" name="Bullet marker 9-3">
            <a:extLst xmlns:a="http://schemas.openxmlformats.org/drawingml/2006/main">
              <a:ext uri="{FF2B5EF4-FFF2-40B4-BE49-F238E27FC236}">
                <a16:creationId xmlns:a16="http://schemas.microsoft.com/office/drawing/2014/main" id="{4B3DED9F-70CD-4D8A-88A9-A68FD226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5" name="Bullet text 9-3">
            <a:extLst xmlns:a="http://schemas.openxmlformats.org/drawingml/2006/main">
              <a:ext uri="{FF2B5EF4-FFF2-40B4-BE49-F238E27FC236}">
                <a16:creationId xmlns:a16="http://schemas.microsoft.com/office/drawing/2014/main" id="{4617369F-5E89-4B9D-9DC8-DA3F052C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6" name="Bullet marker 9-4">
            <a:extLst xmlns:a="http://schemas.openxmlformats.org/drawingml/2006/main">
              <a:ext uri="{FF2B5EF4-FFF2-40B4-BE49-F238E27FC236}">
                <a16:creationId xmlns:a16="http://schemas.microsoft.com/office/drawing/2014/main" id="{84E54330-DF18-4CF3-8FA1-6647DE94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sp>
        <p:nvSpPr>
          <p:cNvPr id="1277" name="Bullet text 9-4">
            <a:extLst xmlns:a="http://schemas.openxmlformats.org/drawingml/2006/main">
              <a:ext uri="{FF2B5EF4-FFF2-40B4-BE49-F238E27FC236}">
                <a16:creationId xmlns:a16="http://schemas.microsoft.com/office/drawing/2014/main" id="{99B641AE-F16A-409C-8E46-222AC04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51636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0" name="Reference title 10">
            <a:extLst xmlns:a="http://schemas.openxmlformats.org/drawingml/2006/main">
              <a:ext uri="{FF2B5EF4-FFF2-40B4-BE49-F238E27FC236}">
                <a16:creationId xmlns:a16="http://schemas.microsoft.com/office/drawing/2014/main" id="{4C11DCC9-CD94-428F-8C8B-07AC4443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01" name="Reference subtitle 10">
            <a:extLst xmlns:a="http://schemas.openxmlformats.org/drawingml/2006/main">
              <a:ext uri="{FF2B5EF4-FFF2-40B4-BE49-F238E27FC236}">
                <a16:creationId xmlns:a16="http://schemas.microsoft.com/office/drawing/2014/main" id="{8479726C-0A26-48F2-B593-7A45A04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1–4</a:t>
            </a:r>
            <a:endParaRPr sz="1500"/>
          </a:p>
        </p:txBody>
      </p:sp>
      <p:sp>
        <p:nvSpPr>
          <p:cNvPr id="1700" name="Reference marker 10-1">
            <a:extLst xmlns:a="http://schemas.openxmlformats.org/drawingml/2006/main">
              <a:ext uri="{FF2B5EF4-FFF2-40B4-BE49-F238E27FC236}">
                <a16:creationId xmlns:a16="http://schemas.microsoft.com/office/drawing/2014/main" id="{D34EA3AE-65BC-47AB-9A2F-D6C4DF5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1" name="Reference text 10-1">
            <a:extLst xmlns:a="http://schemas.openxmlformats.org/drawingml/2006/main">
              <a:ext uri="{FF2B5EF4-FFF2-40B4-BE49-F238E27FC236}">
                <a16:creationId xmlns:a16="http://schemas.microsoft.com/office/drawing/2014/main" id="{794B798D-75C7-4688-B42B-FAE466D2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[R1] Waymo, From the road — October 27, 2026, 2026-10-27: https://waymo.com/blog/shorts/more-places/</a:t>
            </a:r>
            <a:endParaRPr sz="1050"/>
          </a:p>
        </p:txBody>
      </p:sp>
      <p:sp>
        <p:nvSpPr>
          <p:cNvPr id="1702" name="Reference marker 10-2">
            <a:extLst xmlns:a="http://schemas.openxmlformats.org/drawingml/2006/main">
              <a:ext uri="{FF2B5EF4-FFF2-40B4-BE49-F238E27FC236}">
                <a16:creationId xmlns:a16="http://schemas.microsoft.com/office/drawing/2014/main" id="{EA1D634C-41A0-483E-BEC5-93135018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3" name="Reference text 10-2">
            <a:extLst xmlns:a="http://schemas.openxmlformats.org/drawingml/2006/main">
              <a:ext uri="{FF2B5EF4-FFF2-40B4-BE49-F238E27FC236}">
                <a16:creationId xmlns:a16="http://schemas.microsoft.com/office/drawing/2014/main" id="{86D59CF0-E8FA-4B05-9444-496E035C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[R2] Waymo, From the road — October 28, 2026, 2026-10-28: https://waymo.com/blog/shorts/waymo-and-ramp/</a:t>
            </a:r>
            <a:endParaRPr sz="1050"/>
          </a:p>
        </p:txBody>
      </p:sp>
      <p:sp>
        <p:nvSpPr>
          <p:cNvPr id="1704" name="Reference marker 10-3">
            <a:extLst xmlns:a="http://schemas.openxmlformats.org/drawingml/2006/main">
              <a:ext uri="{FF2B5EF4-FFF2-40B4-BE49-F238E27FC236}">
                <a16:creationId xmlns:a16="http://schemas.microsoft.com/office/drawing/2014/main" id="{DC26F101-EB1F-42E8-9169-B2E60841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5" name="Reference text 10-3">
            <a:extLst xmlns:a="http://schemas.openxmlformats.org/drawingml/2006/main">
              <a:ext uri="{FF2B5EF4-FFF2-40B4-BE49-F238E27FC236}">
                <a16:creationId xmlns:a16="http://schemas.microsoft.com/office/drawing/2014/main" id="{49141882-3201-4FB6-8242-EFB3679A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[R3] Uber, Autonomous Articles, 2026-10-29 확인: https://www.uber.com/us/en/newsroom/autonomous/</a:t>
            </a:r>
            <a:endParaRPr sz="1050"/>
          </a:p>
        </p:txBody>
      </p:sp>
      <p:sp>
        <p:nvSpPr>
          <p:cNvPr id="1706" name="Reference marker 10-4">
            <a:extLst xmlns:a="http://schemas.openxmlformats.org/drawingml/2006/main">
              <a:ext uri="{FF2B5EF4-FFF2-40B4-BE49-F238E27FC236}">
                <a16:creationId xmlns:a16="http://schemas.microsoft.com/office/drawing/2014/main" id="{283D1262-5DCB-42A7-83EB-C75F53A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7" name="Reference text 10-4">
            <a:extLst xmlns:a="http://schemas.openxmlformats.org/drawingml/2006/main">
              <a:ext uri="{FF2B5EF4-FFF2-40B4-BE49-F238E27FC236}">
                <a16:creationId xmlns:a16="http://schemas.microsoft.com/office/drawing/2014/main" id="{2F7D3F12-E698-491D-B9FF-A78F3368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[R4] Avride, 공식 홈페이지, 2026-10-29 확인: https://www.avride.ai/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569261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0" name="Reference title 11">
            <a:extLst xmlns:a="http://schemas.openxmlformats.org/drawingml/2006/main">
              <a:ext uri="{FF2B5EF4-FFF2-40B4-BE49-F238E27FC236}">
                <a16:creationId xmlns:a16="http://schemas.microsoft.com/office/drawing/2014/main" id="{AF33BD41-DEAA-40BB-B1F5-96BDA22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21" name="Reference subtitle 11">
            <a:extLst xmlns:a="http://schemas.openxmlformats.org/drawingml/2006/main">
              <a:ext uri="{FF2B5EF4-FFF2-40B4-BE49-F238E27FC236}">
                <a16:creationId xmlns:a16="http://schemas.microsoft.com/office/drawing/2014/main" id="{293D7ACB-D0D8-453A-9D3E-71E473DB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5–8</a:t>
            </a:r>
            <a:endParaRPr sz="1500"/>
          </a:p>
        </p:txBody>
      </p:sp>
      <p:sp>
        <p:nvSpPr>
          <p:cNvPr id="1720" name="Reference marker 11-1">
            <a:extLst xmlns:a="http://schemas.openxmlformats.org/drawingml/2006/main">
              <a:ext uri="{FF2B5EF4-FFF2-40B4-BE49-F238E27FC236}">
                <a16:creationId xmlns:a16="http://schemas.microsoft.com/office/drawing/2014/main" id="{8E2329A7-1D15-405A-92B7-EB9FF20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1" name="Reference text 11-1">
            <a:extLst xmlns:a="http://schemas.openxmlformats.org/drawingml/2006/main">
              <a:ext uri="{FF2B5EF4-FFF2-40B4-BE49-F238E27FC236}">
                <a16:creationId xmlns:a16="http://schemas.microsoft.com/office/drawing/2014/main" id="{1C185E7C-614C-4A0D-B49E-270CD1A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[R5] Bolt, Press Releases, 2026-10-29 확인: https://bolt.eu/en/blog/category/press-releases/</a:t>
            </a:r>
            <a:endParaRPr sz="1050"/>
          </a:p>
        </p:txBody>
      </p:sp>
      <p:sp>
        <p:nvSpPr>
          <p:cNvPr id="1722" name="Reference marker 11-2">
            <a:extLst xmlns:a="http://schemas.openxmlformats.org/drawingml/2006/main">
              <a:ext uri="{FF2B5EF4-FFF2-40B4-BE49-F238E27FC236}">
                <a16:creationId xmlns:a16="http://schemas.microsoft.com/office/drawing/2014/main" id="{B70F9720-5EB1-4668-B658-DF7DD830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3" name="Reference text 11-2">
            <a:extLst xmlns:a="http://schemas.openxmlformats.org/drawingml/2006/main">
              <a:ext uri="{FF2B5EF4-FFF2-40B4-BE49-F238E27FC236}">
                <a16:creationId xmlns:a16="http://schemas.microsoft.com/office/drawing/2014/main" id="{F752552D-05A2-45D3-BFC3-5DB5E48B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[R6] Mobileye, News, 2026-10-29 확인: https://www.mobileye.com/news/</a:t>
            </a:r>
            <a:endParaRPr sz="1050"/>
          </a:p>
        </p:txBody>
      </p:sp>
      <p:sp>
        <p:nvSpPr>
          <p:cNvPr id="1724" name="Reference marker 11-3">
            <a:extLst xmlns:a="http://schemas.openxmlformats.org/drawingml/2006/main">
              <a:ext uri="{FF2B5EF4-FFF2-40B4-BE49-F238E27FC236}">
                <a16:creationId xmlns:a16="http://schemas.microsoft.com/office/drawing/2014/main" id="{D0E21534-DDD5-4606-9FBB-708AF5EB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5" name="Reference text 11-3">
            <a:extLst xmlns:a="http://schemas.openxmlformats.org/drawingml/2006/main">
              <a:ext uri="{FF2B5EF4-FFF2-40B4-BE49-F238E27FC236}">
                <a16:creationId xmlns:a16="http://schemas.microsoft.com/office/drawing/2014/main" id="{15D8A9E8-0095-415D-9DC3-17B699B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[R7] 카카오모빌리티, 뉴스룸, 2026-10-29 확인: https://www.kakaomobility.com/newsroom/news</a:t>
            </a:r>
            <a:endParaRPr sz="1050"/>
          </a:p>
        </p:txBody>
      </p:sp>
      <p:sp>
        <p:nvSpPr>
          <p:cNvPr id="1726" name="Reference marker 11-4">
            <a:extLst xmlns:a="http://schemas.openxmlformats.org/drawingml/2006/main">
              <a:ext uri="{FF2B5EF4-FFF2-40B4-BE49-F238E27FC236}">
                <a16:creationId xmlns:a16="http://schemas.microsoft.com/office/drawing/2014/main" id="{80609077-CFFD-4E5A-8E95-32985C9B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7" name="Reference text 11-4">
            <a:extLst xmlns:a="http://schemas.openxmlformats.org/drawingml/2006/main">
              <a:ext uri="{FF2B5EF4-FFF2-40B4-BE49-F238E27FC236}">
                <a16:creationId xmlns:a16="http://schemas.microsoft.com/office/drawing/2014/main" id="{DB88362F-7BE5-4DCA-A7EF-12D19FE9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[R8] 쏘카, 공식 블로그, 2026-10-29 확인: https://www.socarcorp.kr/blog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543700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0" name="Reference title 12">
            <a:extLst xmlns:a="http://schemas.openxmlformats.org/drawingml/2006/main">
              <a:ext uri="{FF2B5EF4-FFF2-40B4-BE49-F238E27FC236}">
                <a16:creationId xmlns:a16="http://schemas.microsoft.com/office/drawing/2014/main" id="{8DDE6B02-F37B-49E4-B7E1-3FD5E5A9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41" name="Reference subtitle 12">
            <a:extLst xmlns:a="http://schemas.openxmlformats.org/drawingml/2006/main">
              <a:ext uri="{FF2B5EF4-FFF2-40B4-BE49-F238E27FC236}">
                <a16:creationId xmlns:a16="http://schemas.microsoft.com/office/drawing/2014/main" id="{68469EC8-2088-45AF-9104-0649BF5C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9–12</a:t>
            </a:r>
            <a:endParaRPr sz="1500"/>
          </a:p>
        </p:txBody>
      </p:sp>
      <p:sp>
        <p:nvSpPr>
          <p:cNvPr id="1740" name="Reference marker 12-1">
            <a:extLst xmlns:a="http://schemas.openxmlformats.org/drawingml/2006/main">
              <a:ext uri="{FF2B5EF4-FFF2-40B4-BE49-F238E27FC236}">
                <a16:creationId xmlns:a16="http://schemas.microsoft.com/office/drawing/2014/main" id="{1BD22C31-FF70-4246-B88C-2C09D87B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1" name="Reference text 12-1">
            <a:extLst xmlns:a="http://schemas.openxmlformats.org/drawingml/2006/main">
              <a:ext uri="{FF2B5EF4-FFF2-40B4-BE49-F238E27FC236}">
                <a16:creationId xmlns:a16="http://schemas.microsoft.com/office/drawing/2014/main" id="{24564A60-E3D4-4483-BBFF-982BF322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[R9] May Mobility, Company News, 2026-10-29 확인: https://maymobility.com/posts/type/company-news</a:t>
            </a:r>
            <a:endParaRPr sz="1050"/>
          </a:p>
        </p:txBody>
      </p:sp>
      <p:sp>
        <p:nvSpPr>
          <p:cNvPr id="1742" name="Reference marker 12-2">
            <a:extLst xmlns:a="http://schemas.openxmlformats.org/drawingml/2006/main">
              <a:ext uri="{FF2B5EF4-FFF2-40B4-BE49-F238E27FC236}">
                <a16:creationId xmlns:a16="http://schemas.microsoft.com/office/drawing/2014/main" id="{BF70F848-5BB8-4ABB-998E-846BE0E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3" name="Reference text 12-2">
            <a:extLst xmlns:a="http://schemas.openxmlformats.org/drawingml/2006/main">
              <a:ext uri="{FF2B5EF4-FFF2-40B4-BE49-F238E27FC236}">
                <a16:creationId xmlns:a16="http://schemas.microsoft.com/office/drawing/2014/main" id="{11EB1FFE-6BC6-4224-844D-B4A84AF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[R10] California DMV, Autonomous Vehicle Permit Holders, 2026-10-21 갱신·2026-10-29 확인: https://qr.dmv.ca.gov/portal/vehicle-industry-services/autonomous-vehicles/autonomous-vehicle-testing-permit-holders/</a:t>
            </a:r>
            <a:endParaRPr sz="1050"/>
          </a:p>
        </p:txBody>
      </p:sp>
      <p:sp>
        <p:nvSpPr>
          <p:cNvPr id="1744" name="Reference marker 12-3">
            <a:extLst xmlns:a="http://schemas.openxmlformats.org/drawingml/2006/main">
              <a:ext uri="{FF2B5EF4-FFF2-40B4-BE49-F238E27FC236}">
                <a16:creationId xmlns:a16="http://schemas.microsoft.com/office/drawing/2014/main" id="{43BADAE3-3257-4908-B89A-E76C5EC9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5" name="Reference text 12-3">
            <a:extLst xmlns:a="http://schemas.openxmlformats.org/drawingml/2006/main">
              <a:ext uri="{FF2B5EF4-FFF2-40B4-BE49-F238E27FC236}">
                <a16:creationId xmlns:a16="http://schemas.microsoft.com/office/drawing/2014/main" id="{F1CCB076-48EB-4AE7-BCE5-2161D7D5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[R11] May Mobility·SEC, Business combination announcement, Exhibit 99.1, 2026-09-16: https://www.sec.gov/Archives/edgar/data/2111542/000121390026100367/ea030470201ex99-1.htm</a:t>
            </a:r>
            <a:endParaRPr sz="1050"/>
          </a:p>
        </p:txBody>
      </p:sp>
      <p:sp>
        <p:nvSpPr>
          <p:cNvPr id="1746" name="Reference marker 12-4">
            <a:extLst xmlns:a="http://schemas.openxmlformats.org/drawingml/2006/main">
              <a:ext uri="{FF2B5EF4-FFF2-40B4-BE49-F238E27FC236}">
                <a16:creationId xmlns:a16="http://schemas.microsoft.com/office/drawing/2014/main" id="{EE8D1A8F-B61F-4438-A6FF-C2545C9F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7" name="Reference text 12-4">
            <a:extLst xmlns:a="http://schemas.openxmlformats.org/drawingml/2006/main">
              <a:ext uri="{FF2B5EF4-FFF2-40B4-BE49-F238E27FC236}">
                <a16:creationId xmlns:a16="http://schemas.microsoft.com/office/drawing/2014/main" id="{3618CD8F-28D9-4068-A11E-1A1D355E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[R12] NTT Mobility, 나고야 자율주행·온디맨드 실증 개시, 2026-08-12: https://www.ntt-mobility.com/news/20260812/newsrelease-260812/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70550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0" name="Reference title 13">
            <a:extLst xmlns:a="http://schemas.openxmlformats.org/drawingml/2006/main">
              <a:ext uri="{FF2B5EF4-FFF2-40B4-BE49-F238E27FC236}">
                <a16:creationId xmlns:a16="http://schemas.microsoft.com/office/drawing/2014/main" id="{D8146F54-E77A-42EB-8E64-98D9DD0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61" name="Reference subtitle 13">
            <a:extLst xmlns:a="http://schemas.openxmlformats.org/drawingml/2006/main">
              <a:ext uri="{FF2B5EF4-FFF2-40B4-BE49-F238E27FC236}">
                <a16:creationId xmlns:a16="http://schemas.microsoft.com/office/drawing/2014/main" id="{DC3B56B1-FDC1-4C83-870A-BA6D0765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13–16</a:t>
            </a:r>
            <a:endParaRPr sz="1500"/>
          </a:p>
        </p:txBody>
      </p:sp>
      <p:sp>
        <p:nvSpPr>
          <p:cNvPr id="1760" name="Reference marker 13-1">
            <a:extLst xmlns:a="http://schemas.openxmlformats.org/drawingml/2006/main">
              <a:ext uri="{FF2B5EF4-FFF2-40B4-BE49-F238E27FC236}">
                <a16:creationId xmlns:a16="http://schemas.microsoft.com/office/drawing/2014/main" id="{339BD6AB-C8AD-4139-A53E-9CE963B1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1" name="Reference text 13-1">
            <a:extLst xmlns:a="http://schemas.openxmlformats.org/drawingml/2006/main">
              <a:ext uri="{FF2B5EF4-FFF2-40B4-BE49-F238E27FC236}">
                <a16:creationId xmlns:a16="http://schemas.microsoft.com/office/drawing/2014/main" id="{663E0D4A-EF50-4B36-8B79-08F18F7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[R13] May Mobility, First Responder Interaction Protocol: Atlanta, 게시일 미표기·2026-10-29 확인: https://maymobility.com/first-responders/frip-atlanta-georgia</a:t>
            </a:r>
            <a:endParaRPr sz="1050"/>
          </a:p>
        </p:txBody>
      </p:sp>
      <p:sp>
        <p:nvSpPr>
          <p:cNvPr id="1762" name="Reference marker 13-2">
            <a:extLst xmlns:a="http://schemas.openxmlformats.org/drawingml/2006/main">
              <a:ext uri="{FF2B5EF4-FFF2-40B4-BE49-F238E27FC236}">
                <a16:creationId xmlns:a16="http://schemas.microsoft.com/office/drawing/2014/main" id="{90393B8D-AA0A-4E23-BE0A-AE6E287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3" name="Reference text 13-2">
            <a:extLst xmlns:a="http://schemas.openxmlformats.org/drawingml/2006/main">
              <a:ext uri="{FF2B5EF4-FFF2-40B4-BE49-F238E27FC236}">
                <a16:creationId xmlns:a16="http://schemas.microsoft.com/office/drawing/2014/main" id="{5D5E008B-CBD1-4337-B488-C3BC711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[R14] May Mobility, May Mobility launches New AV Architecture, 2026-05-20: https://maymobility.com/posts/may-mobility-launches-new-av-architecture/</a:t>
            </a:r>
            <a:endParaRPr sz="1050"/>
          </a:p>
        </p:txBody>
      </p:sp>
      <p:sp>
        <p:nvSpPr>
          <p:cNvPr id="1764" name="Reference marker 13-3">
            <a:extLst xmlns:a="http://schemas.openxmlformats.org/drawingml/2006/main">
              <a:ext uri="{FF2B5EF4-FFF2-40B4-BE49-F238E27FC236}">
                <a16:creationId xmlns:a16="http://schemas.microsoft.com/office/drawing/2014/main" id="{5F786F5D-D74B-410B-9084-F5CA33F9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5" name="Reference text 13-3">
            <a:extLst xmlns:a="http://schemas.openxmlformats.org/drawingml/2006/main">
              <a:ext uri="{FF2B5EF4-FFF2-40B4-BE49-F238E27FC236}">
                <a16:creationId xmlns:a16="http://schemas.microsoft.com/office/drawing/2014/main" id="{F29A1040-9A01-40B6-B932-4140201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[R15] May Mobility·SEC, Investor presentation, Exhibit 99.2, 2026-09-16: https://www.sec.gov/Archives/edgar/data/2111542/000121390026100367/ea030470201ex99-2.htm</a:t>
            </a:r>
            <a:endParaRPr sz="1050"/>
          </a:p>
        </p:txBody>
      </p:sp>
      <p:sp>
        <p:nvSpPr>
          <p:cNvPr id="1766" name="Reference marker 13-4">
            <a:extLst xmlns:a="http://schemas.openxmlformats.org/drawingml/2006/main">
              <a:ext uri="{FF2B5EF4-FFF2-40B4-BE49-F238E27FC236}">
                <a16:creationId xmlns:a16="http://schemas.microsoft.com/office/drawing/2014/main" id="{E1D678A0-3F74-4C48-821C-AC8D1FF4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7" name="Reference text 13-4">
            <a:extLst xmlns:a="http://schemas.openxmlformats.org/drawingml/2006/main">
              <a:ext uri="{FF2B5EF4-FFF2-40B4-BE49-F238E27FC236}">
                <a16:creationId xmlns:a16="http://schemas.microsoft.com/office/drawing/2014/main" id="{3508F99E-C4EB-4FBC-AC8C-495852A0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[R16] May Mobility, May Mobility and NTT Mobility to Launch First Public Rides on Autonomous e-Palette, 2026-09-03: https://maymobility.com/posts/may-mobility-and-ntt-mobility-to-launch-first-public-rides-on-autonomous-e-palette/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231294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0" name="Reference title 14">
            <a:extLst xmlns:a="http://schemas.openxmlformats.org/drawingml/2006/main">
              <a:ext uri="{FF2B5EF4-FFF2-40B4-BE49-F238E27FC236}">
                <a16:creationId xmlns:a16="http://schemas.microsoft.com/office/drawing/2014/main" id="{7B9F562B-4F0D-43A4-8164-A374645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81" name="Reference subtitle 14">
            <a:extLst xmlns:a="http://schemas.openxmlformats.org/drawingml/2006/main">
              <a:ext uri="{FF2B5EF4-FFF2-40B4-BE49-F238E27FC236}">
                <a16:creationId xmlns:a16="http://schemas.microsoft.com/office/drawing/2014/main" id="{4A2C87AE-1D02-4EF6-B463-85B7F639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17–19</a:t>
            </a:r>
            <a:endParaRPr sz="1500"/>
          </a:p>
        </p:txBody>
      </p:sp>
      <p:sp>
        <p:nvSpPr>
          <p:cNvPr id="1780" name="Reference marker 14-1">
            <a:extLst xmlns:a="http://schemas.openxmlformats.org/drawingml/2006/main">
              <a:ext uri="{FF2B5EF4-FFF2-40B4-BE49-F238E27FC236}">
                <a16:creationId xmlns:a16="http://schemas.microsoft.com/office/drawing/2014/main" id="{D2867F3B-1B2A-464E-9547-26E80280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81" name="Reference text 14-1">
            <a:extLst xmlns:a="http://schemas.openxmlformats.org/drawingml/2006/main">
              <a:ext uri="{FF2B5EF4-FFF2-40B4-BE49-F238E27FC236}">
                <a16:creationId xmlns:a16="http://schemas.microsoft.com/office/drawing/2014/main" id="{94805AF6-5F5F-4B51-9F75-3873B2FF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[R17] Reuters, May Mobility to list on Nasdaq via $1.4 billion SPAC deal, 2026-09-16: https://www.reuters.com/legal/transactional/may-mobility-list-nasdaq-via-14-billion-spac-deal-2026-09-16/</a:t>
            </a:r>
            <a:endParaRPr sz="1050"/>
          </a:p>
        </p:txBody>
      </p:sp>
      <p:sp>
        <p:nvSpPr>
          <p:cNvPr id="1782" name="Reference marker 14-2">
            <a:extLst xmlns:a="http://schemas.openxmlformats.org/drawingml/2006/main">
              <a:ext uri="{FF2B5EF4-FFF2-40B4-BE49-F238E27FC236}">
                <a16:creationId xmlns:a16="http://schemas.microsoft.com/office/drawing/2014/main" id="{833A2EE4-6BBB-425D-BBA5-8890A1DA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83" name="Reference text 14-2">
            <a:extLst xmlns:a="http://schemas.openxmlformats.org/drawingml/2006/main">
              <a:ext uri="{FF2B5EF4-FFF2-40B4-BE49-F238E27FC236}">
                <a16:creationId xmlns:a16="http://schemas.microsoft.com/office/drawing/2014/main" id="{587D0E97-91E2-4668-AFA9-C73FCA9F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[R18] Axios, May Mobility to go public in SPAC deal at $1.4B valuation, 2026-09-16: https://www.axios.com/2026/09/16/may-mobility-public-spac-atlas-credit-partners-acp</a:t>
            </a:r>
            <a:endParaRPr sz="1050"/>
          </a:p>
        </p:txBody>
      </p:sp>
      <p:sp>
        <p:nvSpPr>
          <p:cNvPr id="1784" name="Reference marker 14-3">
            <a:extLst xmlns:a="http://schemas.openxmlformats.org/drawingml/2006/main">
              <a:ext uri="{FF2B5EF4-FFF2-40B4-BE49-F238E27FC236}">
                <a16:creationId xmlns:a16="http://schemas.microsoft.com/office/drawing/2014/main" id="{236A52D4-6BEC-4855-AC03-DBCAA559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0" y="2382012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</a:p>
        </p:txBody>
      </p:sp>
      <p:sp>
        <p:nvSpPr>
          <p:cNvPr id="1785" name="Reference text 14-3">
            <a:extLst xmlns:a="http://schemas.openxmlformats.org/drawingml/2006/main">
              <a:ext uri="{FF2B5EF4-FFF2-40B4-BE49-F238E27FC236}">
                <a16:creationId xmlns:a16="http://schemas.microsoft.com/office/drawing/2014/main" id="{51E30782-B8EF-4DBA-B674-643FDD78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0" y="2382012"/>
            <a:ext cx="8303990" cy="429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[R19] May Mobility, May Mobility to become publicly listed through ACP business combination, 2026-09-16: https://maymobility.com/posts/may-mobility-first-publicly-listed-pure-play-autonomous-ride-hail-technology-company-acp-holdings-acquisition-corp/</a:t>
            </a:r>
          </a:p>
        </p:txBody>
      </p:sp>
      <p:sp>
        <p:nvSpPr>
          <p:cNvPr id="1786" name="Reference marker 14-4">
            <a:extLst xmlns:a="http://schemas.openxmlformats.org/drawingml/2006/main">
              <a:ext uri="{FF2B5EF4-FFF2-40B4-BE49-F238E27FC236}">
                <a16:creationId xmlns:a16="http://schemas.microsoft.com/office/drawing/2014/main" id="{45388335-3957-4941-8BF5-4ED05E38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0" y="2941987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87" name="Reference text 14-4">
            <a:extLst xmlns:a="http://schemas.openxmlformats.org/drawingml/2006/main">
              <a:ext uri="{FF2B5EF4-FFF2-40B4-BE49-F238E27FC236}">
                <a16:creationId xmlns:a16="http://schemas.microsoft.com/office/drawing/2014/main" id="{79206FBD-278B-4686-9548-8677086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0" y="2941987"/>
            <a:ext cx="8303990" cy="429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955727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2026-10-28T22:31:05.3660000Z</dcterms:created>
  <dcterms:modified xsi:type="dcterms:W3CDTF">2026-10-28T22:31:05.3660000Z</dcterms:modified>
</coreProperties>
</file>