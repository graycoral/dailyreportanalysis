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2c2662f664b92" /><Relationship Type="http://schemas.openxmlformats.org/officeDocument/2006/relationships/extended-properties" Target="/docProps/app.xml" Id="Rff648451959f4d49" /><Relationship Type="http://schemas.openxmlformats.org/officeDocument/2006/relationships/officeDocument" Target="/ppt/presentation.xml" Id="R26b82e63b51b4c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b85bb5e3284ba7"/>
  </p:sldMasterIdLst>
  <p:notesMasterIdLst>
    <p:notesMasterId xmlns:r="http://schemas.openxmlformats.org/officeDocument/2006/relationships" r:id="Rbf696d87b6f14076"/>
  </p:notesMasterIdLst>
  <p:sldIdLst>
    <p:sldId xmlns:r="http://schemas.openxmlformats.org/officeDocument/2006/relationships" id="256" r:id="Rce9dcc7b90e94a0d"/>
    <p:sldId xmlns:r="http://schemas.openxmlformats.org/officeDocument/2006/relationships" id="257" r:id="Rff55266e8c264b32"/>
    <p:sldId xmlns:r="http://schemas.openxmlformats.org/officeDocument/2006/relationships" id="258" r:id="R9f77ed3ae4034194"/>
    <p:sldId xmlns:r="http://schemas.openxmlformats.org/officeDocument/2006/relationships" id="259" r:id="Re1ccd4d0ab0443ca"/>
    <p:sldId xmlns:r="http://schemas.openxmlformats.org/officeDocument/2006/relationships" id="260" r:id="R4565ac0c658b4983"/>
    <p:sldId xmlns:r="http://schemas.openxmlformats.org/officeDocument/2006/relationships" id="261" r:id="Rfd0d9f87500349c2"/>
    <p:sldId xmlns:r="http://schemas.openxmlformats.org/officeDocument/2006/relationships" id="262" r:id="Rd5753849b6914d96"/>
    <p:sldId xmlns:r="http://schemas.openxmlformats.org/officeDocument/2006/relationships" id="263" r:id="R68bb2a5568244faf"/>
    <p:sldId xmlns:r="http://schemas.openxmlformats.org/officeDocument/2006/relationships" id="264" r:id="R11c053526ffe40f5"/>
    <p:sldId xmlns:r="http://schemas.openxmlformats.org/officeDocument/2006/relationships" id="265" r:id="Raf411396d16a4a17"/>
    <p:sldId xmlns:r="http://schemas.openxmlformats.org/officeDocument/2006/relationships" id="266" r:id="R6edcf04dd96d4134"/>
    <p:sldId xmlns:r="http://schemas.openxmlformats.org/officeDocument/2006/relationships" id="267" r:id="R797fd47b9a75459b"/>
    <p:sldId xmlns:r="http://schemas.openxmlformats.org/officeDocument/2006/relationships" id="268" r:id="R1030721d1305492f"/>
    <p:sldId xmlns:r="http://schemas.openxmlformats.org/officeDocument/2006/relationships" id="269" r:id="R1b9104b8084f46ba"/>
  </p:sldIdLst>
  <p:sldSz cx="9334500" cy="5248275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9749f9784248c2" /><Relationship Type="http://schemas.openxmlformats.org/officeDocument/2006/relationships/slideMaster" Target="/ppt/slideMasters/slideMaster1.xml" Id="R0bb85bb5e3284ba7" /><Relationship Type="http://schemas.openxmlformats.org/officeDocument/2006/relationships/notesMaster" Target="/ppt/notesMasters/notesMaster1.xml" Id="Rbf696d87b6f14076" /><Relationship Type="http://schemas.openxmlformats.org/officeDocument/2006/relationships/presProps" Target="/ppt/presProps.xml" Id="R9adcfd6689794007" /><Relationship Type="http://schemas.openxmlformats.org/officeDocument/2006/relationships/viewProps" Target="/ppt/viewProps.xml" Id="Rf9d441371624484e" /><Relationship Type="http://schemas.openxmlformats.org/officeDocument/2006/relationships/tableStyles" Target="/ppt/tableStyles.xml" Id="Ra50881221a4e400a" /><Relationship Type="http://schemas.openxmlformats.org/officeDocument/2006/relationships/slide" Target="/ppt/slides/slide1.xml" Id="Rce9dcc7b90e94a0d" /><Relationship Type="http://schemas.openxmlformats.org/officeDocument/2006/relationships/slide" Target="/ppt/slides/slide2.xml" Id="Rff55266e8c264b32" /><Relationship Type="http://schemas.openxmlformats.org/officeDocument/2006/relationships/slide" Target="/ppt/slides/slide3.xml" Id="R9f77ed3ae4034194" /><Relationship Type="http://schemas.openxmlformats.org/officeDocument/2006/relationships/slide" Target="/ppt/slides/slide4.xml" Id="Re1ccd4d0ab0443ca" /><Relationship Type="http://schemas.openxmlformats.org/officeDocument/2006/relationships/slide" Target="/ppt/slides/slide5.xml" Id="R4565ac0c658b4983" /><Relationship Type="http://schemas.openxmlformats.org/officeDocument/2006/relationships/slide" Target="/ppt/slides/slide6.xml" Id="Rfd0d9f87500349c2" /><Relationship Type="http://schemas.openxmlformats.org/officeDocument/2006/relationships/slide" Target="/ppt/slides/slide7.xml" Id="Rd5753849b6914d96" /><Relationship Type="http://schemas.openxmlformats.org/officeDocument/2006/relationships/slide" Target="/ppt/slides/slide8.xml" Id="R68bb2a5568244faf" /><Relationship Type="http://schemas.openxmlformats.org/officeDocument/2006/relationships/slide" Target="/ppt/slides/slide9.xml" Id="R11c053526ffe40f5" /><Relationship Type="http://schemas.openxmlformats.org/officeDocument/2006/relationships/slide" Target="/ppt/slides/slide10.xml" Id="Raf411396d16a4a17" /><Relationship Type="http://schemas.openxmlformats.org/officeDocument/2006/relationships/slide" Target="/ppt/slides/slide11.xml" Id="R6edcf04dd96d4134" /><Relationship Type="http://schemas.openxmlformats.org/officeDocument/2006/relationships/slide" Target="/ppt/slides/slide12.xml" Id="R797fd47b9a75459b" /><Relationship Type="http://schemas.openxmlformats.org/officeDocument/2006/relationships/slide" Target="/ppt/slides/slide13.xml" Id="R1030721d1305492f" /><Relationship Type="http://schemas.openxmlformats.org/officeDocument/2006/relationships/slide" Target="/ppt/slides/slide14.xml" Id="R1b9104b8084f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c2ca0fd76a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96674103f4616" /><Relationship Type="http://schemas.openxmlformats.org/officeDocument/2006/relationships/notesMaster" Target="/ppt/notesMasters/notesMaster1.xml" Id="R8f525cd33f474f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1ef7c0366344d9" /><Relationship Type="http://schemas.openxmlformats.org/officeDocument/2006/relationships/notesMaster" Target="/ppt/notesMasters/notesMaster1.xml" Id="Rff9c0f84140d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22dc7de0f2481f" /><Relationship Type="http://schemas.openxmlformats.org/officeDocument/2006/relationships/notesMaster" Target="/ppt/notesMasters/notesMaster1.xml" Id="R7c6a9cfff5f04c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81f668d5fe4f19" /><Relationship Type="http://schemas.openxmlformats.org/officeDocument/2006/relationships/notesMaster" Target="/ppt/notesMasters/notesMaster1.xml" Id="R841408e2ccb2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03218d4ddb4d20" /><Relationship Type="http://schemas.openxmlformats.org/officeDocument/2006/relationships/notesMaster" Target="/ppt/notesMasters/notesMaster1.xml" Id="R34c8ae864083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0680f0ed146a8" /><Relationship Type="http://schemas.openxmlformats.org/officeDocument/2006/relationships/notesMaster" Target="/ppt/notesMasters/notesMaster1.xml" Id="R5353c7212787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ff5355457471a" /><Relationship Type="http://schemas.openxmlformats.org/officeDocument/2006/relationships/notesMaster" Target="/ppt/notesMasters/notesMaster1.xml" Id="R6120389862f74a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86c733632e465d" /><Relationship Type="http://schemas.openxmlformats.org/officeDocument/2006/relationships/notesMaster" Target="/ppt/notesMasters/notesMaster1.xml" Id="Rca0df2ed97d34e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7439da041b4384" /><Relationship Type="http://schemas.openxmlformats.org/officeDocument/2006/relationships/notesMaster" Target="/ppt/notesMasters/notesMaster1.xml" Id="R8c528413c2fb46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bbf4c6b16f468c" /><Relationship Type="http://schemas.openxmlformats.org/officeDocument/2006/relationships/notesMaster" Target="/ppt/notesMasters/notesMaster1.xml" Id="Rcb0ec98326004f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0bbacbaada4307" /><Relationship Type="http://schemas.openxmlformats.org/officeDocument/2006/relationships/notesMaster" Target="/ppt/notesMasters/notesMaster1.xml" Id="Rc695c48e73d54ca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c68f502ed422e" /><Relationship Type="http://schemas.openxmlformats.org/officeDocument/2006/relationships/notesMaster" Target="/ppt/notesMasters/notesMaster1.xml" Id="R984993a8db6443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c139deee26406f" /><Relationship Type="http://schemas.openxmlformats.org/officeDocument/2006/relationships/notesMaster" Target="/ppt/notesMasters/notesMaster1.xml" Id="Rb7c11a6af5d04b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b1168a2a5b40ac" /><Relationship Type="http://schemas.openxmlformats.org/officeDocument/2006/relationships/notesMaster" Target="/ppt/notesMasters/notesMaster1.xml" Id="R7708ad66015147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China’s Baidu tests robotaxi on London streets, 2026-10-23: https://www.reuters.com/business/finance/chinas-baidu-tests-robotaxi-london-streets-2026-10-23/</a:t>
            </a:r>
          </a:p>
          <a:p xmlns:a="http://schemas.openxmlformats.org/drawingml/2006/main">
            <a:r>
              <a:t>[R2] NHTSA, NHTSA Proposes Vehicle Lighting Updates to Facilitate Automated Vehicles, 2026-10-23: https://www.nhtsa.gov/press-releases/vehicle-lighting-updates-automated-vehicles</a:t>
            </a:r>
          </a:p>
          <a:p xmlns:a="http://schemas.openxmlformats.org/drawingml/2006/main">
            <a:r>
              <a:t>[R3] NHTSA, FMVSS No. 108; Lamps, Reflective Devices, and Associated Equipment NPRM, 2026-10-22: https://www.nhtsa.gov/node/144326</a:t>
            </a:r>
          </a:p>
          <a:p xmlns:a="http://schemas.openxmlformats.org/drawingml/2006/main">
            <a: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</a:p>
          <a:p xmlns:a="http://schemas.openxmlformats.org/drawingml/2006/main">
            <a:r>
              <a:t>[R5] Wayve, Wayve, Stellantis, and NVIDIA Collaborate to Advance Safe and Responsible Autonomous Vehicle Deployment Across France, 2026-10-23: https://wayve.ai/press/wayve-stellantis-nvidia-collaborate-on-deployment-across-france/</a:t>
            </a:r>
          </a:p>
          <a:p xmlns:a="http://schemas.openxmlformats.org/drawingml/2006/main">
            <a:r>
              <a:t>[R6] Pony.ai, inDrive and Pony.ai Announce Collaboration to Explore Autonomous Mobility in Kazakhstan Built on NVIDIA Hyperion, 2026-10-23: https://blog.pony.ai/indrive-and-pony-ai-announce-collaboration-to-explore-autonomous-mobility-in-kazakhstan-built-on-nvidia-hyperion/</a:t>
            </a:r>
          </a:p>
          <a:p xmlns:a="http://schemas.openxmlformats.org/drawingml/2006/main">
            <a:r>
              <a:t>[R7] Uber, Autonomous Articles, 2026-10-26 확인: https://www.uber.com/us/en/newsroom/autonomous/</a:t>
            </a:r>
          </a:p>
          <a:p xmlns:a="http://schemas.openxmlformats.org/drawingml/2006/main">
            <a:r>
              <a:t>[R8] Avride, 공식 홈페이지, 2026-10-26 확인: https://www.avride.ai/</a:t>
            </a:r>
          </a:p>
          <a:p xmlns:a="http://schemas.openxmlformats.org/drawingml/2006/main">
            <a:r>
              <a:t>[R9] Mobileye, News Releases, 2026-10-26 확인: https://ir.mobileye.com/news-events/news-releases</a:t>
            </a:r>
          </a:p>
          <a:p xmlns:a="http://schemas.openxmlformats.org/drawingml/2006/main">
            <a:r>
              <a:t>[R10] 카카오모빌리티, 뉴스룸, 2026-10-26 확인: https://www.kakaomobility.com/newsroom/news</a:t>
            </a:r>
          </a:p>
          <a:p xmlns:a="http://schemas.openxmlformats.org/drawingml/2006/main">
            <a:r>
              <a:t>[R11] 쏘카, 공식 블로그, 2026-10-26 확인: https://www.socarcorp.kr/blog</a:t>
            </a:r>
          </a:p>
          <a:p xmlns:a="http://schemas.openxmlformats.org/drawingml/2006/main">
            <a:r>
              <a:t>[R12] May Mobility, Company News, 2026-10-26 확인: https://maymobility.com/posts/type/company-news</a:t>
            </a:r>
          </a:p>
          <a:p xmlns:a="http://schemas.openxmlformats.org/drawingml/2006/main">
            <a:r>
              <a:t>[R13] California DMV, Autonomous Vehicle Testing Permit Holders, 2026-10-21 갱신·2026-10-26 확인: https://qr.dmv.ca.gov/portal/vehicle-industry-services/autonomous-vehicles/autonomous-vehicle-testing-permit-holders/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China’s Baidu tests robotaxi on London streets, 2026-10-23: https://www.reuters.com/business/finance/chinas-baidu-tests-robotaxi-london-streets-2026-10-23/</a:t>
            </a:r>
          </a:p>
          <a:p xmlns:a="http://schemas.openxmlformats.org/drawingml/2006/main">
            <a:r>
              <a:t>[R2] NHTSA, NHTSA Proposes Vehicle Lighting Updates to Facilitate Automated Vehicles, 2026-10-23: https://www.nhtsa.gov/press-releases/vehicle-lighting-updates-automated-vehicles</a:t>
            </a:r>
          </a:p>
          <a:p xmlns:a="http://schemas.openxmlformats.org/drawingml/2006/main">
            <a:r>
              <a:t>[R3] NHTSA, FMVSS No. 108; Lamps, Reflective Devices, and Associated Equipment NPRM, 2026-10-22: https://www.nhtsa.gov/node/144326</a:t>
            </a:r>
          </a:p>
          <a:p xmlns:a="http://schemas.openxmlformats.org/drawingml/2006/main">
            <a: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</a:p>
          <a:p xmlns:a="http://schemas.openxmlformats.org/drawingml/2006/main">
            <a:r>
              <a:t>[R5] Wayve, Wayve, Stellantis, and NVIDIA Collaborate to Advance Safe and Responsible Autonomous Vehicle Deployment Across France, 2026-10-23: https://wayve.ai/press/wayve-stellantis-nvidia-collaborate-on-deployment-across-france/</a:t>
            </a:r>
          </a:p>
          <a:p xmlns:a="http://schemas.openxmlformats.org/drawingml/2006/main">
            <a:r>
              <a:t>[R6] Pony.ai, inDrive and Pony.ai Announce Collaboration to Explore Autonomous Mobility in Kazakhstan Built on NVIDIA Hyperion, 2026-10-23: https://blog.pony.ai/indrive-and-pony-ai-announce-collaboration-to-explore-autonomous-mobility-in-kazakhstan-built-on-nvidia-hyperion/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China’s Baidu tests robotaxi on London streets, 2026-10-23: https://www.reuters.com/business/finance/chinas-baidu-tests-robotaxi-london-streets-2026-10-23/</a:t>
            </a:r>
          </a:p>
          <a:p xmlns:a="http://schemas.openxmlformats.org/drawingml/2006/main">
            <a: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</a:p>
          <a:p xmlns:a="http://schemas.openxmlformats.org/drawingml/2006/main">
            <a:r>
              <a:t>[R5] Wayve, Wayve, Stellantis, and NVIDIA Collaborate to Advance Safe and Responsible Autonomous Vehicle Deployment Across France, 2026-10-23: https://wayve.ai/press/wayve-stellantis-nvidia-collaborate-on-deployment-across-france/</a:t>
            </a:r>
          </a:p>
          <a:p xmlns:a="http://schemas.openxmlformats.org/drawingml/2006/main">
            <a:r>
              <a:t>[R6] Pony.ai, inDrive and Pony.ai Announce Collaboration to Explore Autonomous Mobility in Kazakhstan Built on NVIDIA Hyperion, 2026-10-23: https://blog.pony.ai/indrive-and-pony-ai-announce-collaboration-to-explore-autonomous-mobility-in-kazakhstan-built-on-nvidia-hyperion/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</a:p>
          <a:p xmlns:a="http://schemas.openxmlformats.org/drawingml/2006/main">
            <a:r>
              <a:t>[R7] Uber, Autonomous Articles, 2026-10-26 확인: https://www.uber.com/us/en/newsroom/autonomous/</a:t>
            </a:r>
          </a:p>
          <a:p xmlns:a="http://schemas.openxmlformats.org/drawingml/2006/main">
            <a:r>
              <a:t>[R8] Avride, 공식 홈페이지, 2026-10-26 확인: https://www.avride.ai/</a:t>
            </a:r>
          </a:p>
          <a:p xmlns:a="http://schemas.openxmlformats.org/drawingml/2006/main">
            <a:r>
              <a:t>[R9] Mobileye, News Releases, 2026-10-26 확인: https://ir.mobileye.com/news-events/news-releases</a:t>
            </a:r>
          </a:p>
          <a:p xmlns:a="http://schemas.openxmlformats.org/drawingml/2006/main">
            <a:r>
              <a:t>[R10] 카카오모빌리티, 뉴스룸, 2026-10-26 확인: https://www.kakaomobility.com/newsroom/news</a:t>
            </a:r>
          </a:p>
          <a:p xmlns:a="http://schemas.openxmlformats.org/drawingml/2006/main">
            <a:r>
              <a:t>[R11] 쏘카, 공식 블로그, 2026-10-26 확인: https://www.socarcorp.kr/blog</a:t>
            </a:r>
          </a:p>
          <a:p xmlns:a="http://schemas.openxmlformats.org/drawingml/2006/main">
            <a:r>
              <a:t>[R20] Bolt, Press Releases, 2026-10-26 확인: https://bolt.eu/en/blog/category/press-releases/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[R12] May Mobility, Company News, 2026-10-26 확인: https://maymobility.com/posts/type/company-news</a:t>
            </a:r>
          </a:p>
          <a:p xmlns:a="http://schemas.openxmlformats.org/drawingml/2006/main">
            <a:r>
              <a:t>[R14]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[R19]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California DMV, Autonomous Vehicle Testing Permit Holders, 2026-10-21 갱신·2026-10-26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[R15]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[R16] May Mobility, First Responder Interaction Protocol: Atlanta, 게시일 미표기·2026-10-26 확인: https://maymobility.com/first-responders/frip-atlanta-georgia</a:t>
            </a:r>
          </a:p>
          <a:p xmlns:a="http://schemas.openxmlformats.org/drawingml/2006/main">
            <a:r>
              <a:t>[R17] May Mobility, May Mobility launches New AV Architecture, 2026-05-20: https://maymobility.com/posts/may-mobility-launches-new-av-architecture/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[R12] May Mobility, Company News, 2026-10-26 확인: https://maymobility.com/posts/type/company-news</a:t>
            </a:r>
          </a:p>
          <a:p xmlns:a="http://schemas.openxmlformats.org/drawingml/2006/main">
            <a:r>
              <a:t>[R14]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[R18] May Mobility·SEC, Investor presentation, Exhibit 99.2, 2026-09-16: 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[R2] NHTSA, NHTSA Proposes Vehicle Lighting Updates to Facilitate Automated Vehicles, 2026-10-23: https://www.nhtsa.gov/press-releases/vehicle-lighting-updates-automated-vehicles</a:t>
            </a:r>
          </a:p>
          <a:p xmlns:a="http://schemas.openxmlformats.org/drawingml/2006/main">
            <a:r>
              <a:t>[R3] NHTSA, FMVSS No. 108; Lamps, Reflective Devices, and Associated Equipment NPRM, 2026-10-22: https://www.nhtsa.gov/node/144326</a:t>
            </a:r>
          </a:p>
          <a:p xmlns:a="http://schemas.openxmlformats.org/drawingml/2006/main">
            <a:r>
              <a:t>[R13] California DMV, Autonomous Vehicle Testing Permit Holders, 2026-10-21 갱신·2026-10-26 확인: https://qr.dmv.ca.gov/portal/vehicle-industry-services/autonomous-vehicles/autonomous-vehicle-testing-permit-holders/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China’s Baidu tests robotaxi on London streets, 2026-10-23: https://www.reuters.com/business/finance/chinas-baidu-tests-robotaxi-london-streets-2026-10-23/</a:t>
            </a:r>
          </a:p>
          <a:p xmlns:a="http://schemas.openxmlformats.org/drawingml/2006/main">
            <a: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</a:p>
          <a:p xmlns:a="http://schemas.openxmlformats.org/drawingml/2006/main">
            <a:r>
              <a:t>[R5] Wayve, Wayve, Stellantis, and NVIDIA Collaborate to Advance Safe and Responsible Autonomous Vehicle Deployment Across France, 2026-10-23: https://wayve.ai/press/wayve-stellantis-nvidia-collaborate-on-deployment-across-france/</a:t>
            </a:r>
          </a:p>
          <a:p xmlns:a="http://schemas.openxmlformats.org/drawingml/2006/main">
            <a:r>
              <a:t>[R6] Pony.ai, inDrive and Pony.ai Announce Collaboration to Explore Autonomous Mobility in Kazakhstan Built on NVIDIA Hyperion, 2026-10-23: https://blog.pony.ai/indrive-and-pony-ai-announce-collaboration-to-explore-autonomous-mobility-in-kazakhstan-built-on-nvidia-hyperion/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[R1] Reuters, China’s Baidu tests robotaxi on London streets, 2026-10-23: https://www.reuters.com/business/finance/chinas-baidu-tests-robotaxi-london-streets-2026-10-23/</a:t>
            </a:r>
          </a:p>
          <a:p xmlns:a="http://schemas.openxmlformats.org/drawingml/2006/main">
            <a:r>
              <a:t>[R2] NHTSA, NHTSA Proposes Vehicle Lighting Updates to Facilitate Automated Vehicles, 2026-10-23: https://www.nhtsa.gov/press-releases/vehicle-lighting-updates-automated-vehicles</a:t>
            </a:r>
          </a:p>
          <a:p xmlns:a="http://schemas.openxmlformats.org/drawingml/2006/main">
            <a:r>
              <a:t>[R3] NHTSA, FMVSS No. 108; Lamps, Reflective Devices, and Associated Equipment NPRM, 2026-10-22: https://www.nhtsa.gov/node/144326</a:t>
            </a:r>
          </a:p>
          <a:p xmlns:a="http://schemas.openxmlformats.org/drawingml/2006/main">
            <a: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[R5] Wayve, Wayve, Stellantis, and NVIDIA Collaborate to Advance Safe and Responsible Autonomous Vehicle Deployment Across France, 2026-10-23: https://wayve.ai/press/wayve-stellantis-nvidia-collaborate-on-deployment-across-france/</a:t>
            </a:r>
          </a:p>
          <a:p xmlns:a="http://schemas.openxmlformats.org/drawingml/2006/main">
            <a:r>
              <a:t>[R6] Pony.ai, inDrive and Pony.ai Announce Collaboration to Explore Autonomous Mobility in Kazakhstan Built on NVIDIA Hyperion, 2026-10-23: https://blog.pony.ai/indrive-and-pony-ai-announce-collaboration-to-explore-autonomous-mobility-in-kazakhstan-built-on-nvidia-hyperion/</a:t>
            </a:r>
          </a:p>
          <a:p xmlns:a="http://schemas.openxmlformats.org/drawingml/2006/main">
            <a:r>
              <a:t>[R7] Uber, Autonomous Articles, 2026-10-26 확인: https://www.uber.com/us/en/newsroom/autonomous/</a:t>
            </a:r>
          </a:p>
          <a:p xmlns:a="http://schemas.openxmlformats.org/drawingml/2006/main">
            <a:r>
              <a:t>[R8] Avride, 공식 홈페이지, 2026-10-26 확인: https://www.avride.ai/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[R9] Mobileye, News Releases, 2026-10-26 확인: https://ir.mobileye.com/news-events/news-releases</a:t>
            </a:r>
          </a:p>
          <a:p xmlns:a="http://schemas.openxmlformats.org/drawingml/2006/main">
            <a:r>
              <a:t>[R10] 카카오모빌리티, 뉴스룸, 2026-10-26 확인: https://www.kakaomobility.com/newsroom/news</a:t>
            </a:r>
          </a:p>
          <a:p xmlns:a="http://schemas.openxmlformats.org/drawingml/2006/main">
            <a:r>
              <a:t>[R11] 쏘카, 공식 블로그, 2026-10-26 확인: https://www.socarcorp.kr/blog</a:t>
            </a:r>
          </a:p>
          <a:p xmlns:a="http://schemas.openxmlformats.org/drawingml/2006/main">
            <a:r>
              <a:t>[R12] May Mobility, Company News, 2026-10-26 확인: https://maymobility.com/posts/type/company-news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[R13] California DMV, Autonomous Vehicle Testing Permit Holders, 2026-10-21 갱신·2026-10-26 확인: https://qr.dmv.ca.gov/portal/vehicle-industry-services/autonomous-vehicles/autonomous-vehicle-testing-permit-holders/</a:t>
            </a:r>
          </a:p>
          <a:p xmlns:a="http://schemas.openxmlformats.org/drawingml/2006/main">
            <a:r>
              <a:t>[R14] May Mobility·SEC, Business combination announcement, Exhibit 99.1, 2026-09-16: https://www.sec.gov/Archives/edgar/data/2111542/000121390026100367/ea030470201ex99-1.htm</a:t>
            </a:r>
          </a:p>
          <a:p xmlns:a="http://schemas.openxmlformats.org/drawingml/2006/main">
            <a:r>
              <a:t>[R15] NTT Mobility, 나고야 자율주행·온디맨드 실증 개시, 2026-08-12: https://www.ntt-mobility.com/news/20260812/newsrelease-260812/</a:t>
            </a:r>
          </a:p>
          <a:p xmlns:a="http://schemas.openxmlformats.org/drawingml/2006/main">
            <a:r>
              <a:t>[R16] May Mobility, First Responder Interaction Protocol: Atlanta, 게시일 미표기·2026-10-26 확인: https://maymobility.com/first-responders/frip-atlanta-georgia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[R17] May Mobility, May Mobility launches New AV Architecture, 2026-05-20: https://maymobility.com/posts/may-mobility-launches-new-av-architecture/</a:t>
            </a:r>
          </a:p>
          <a:p xmlns:a="http://schemas.openxmlformats.org/drawingml/2006/main">
            <a:r>
              <a:t>[R18] May Mobility·SEC, Investor presentation, Exhibit 99.2, 2026-09-16: https://www.sec.gov/Archives/edgar/data/2111542/000121390026100367/ea030470201ex99-2.htm</a:t>
            </a:r>
          </a:p>
          <a:p xmlns:a="http://schemas.openxmlformats.org/drawingml/2006/main">
            <a:r>
              <a:t>[R19] May Mobility, May Mobility and NTT Mobility to Launch First Public Rides on Autonomous e-Palette, 2026-09-03: https://maymobility.com/posts/may-mobility-and-ntt-mobility-to-launch-first-public-rides-on-autonomous-e-palette/</a:t>
            </a:r>
          </a:p>
          <a:p xmlns:a="http://schemas.openxmlformats.org/drawingml/2006/main">
            <a:r>
              <a:t>[R20] Bolt, Press Releases, 2026-10-26 확인: https://bolt.eu/en/blog/category/press-releases/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db81bd94e4b3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66d07d01f5423c" /><Relationship Type="http://schemas.openxmlformats.org/officeDocument/2006/relationships/slideLayout" Target="/ppt/slideLayouts/slideLayout1.xml" Id="R5971d97a09454b9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71d97a09454b9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975a68e3143b7" /><Relationship Type="http://schemas.openxmlformats.org/officeDocument/2006/relationships/notesSlide" Target="/ppt/notesSlides/notesSlide1.xml" Id="R42d22fbde21b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efa4b6a73405a" /><Relationship Type="http://schemas.openxmlformats.org/officeDocument/2006/relationships/notesSlide" Target="/ppt/notesSlides/notesSlide2.xml" Id="R945b7827724541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db02cfb4e4bfc" /><Relationship Type="http://schemas.openxmlformats.org/officeDocument/2006/relationships/notesSlide" Target="/ppt/notesSlides/notesSlide3.xml" Id="R248e53bfa8be46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e2aee23c342b5" /><Relationship Type="http://schemas.openxmlformats.org/officeDocument/2006/relationships/notesSlide" Target="/ppt/notesSlides/notesSlide4.xml" Id="R0829d9c121f146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e257a00974f30" /><Relationship Type="http://schemas.openxmlformats.org/officeDocument/2006/relationships/notesSlide" Target="/ppt/notesSlides/notesSlide5.xml" Id="R5aed8ee412d4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49de9cd4a4fb3" /><Relationship Type="http://schemas.openxmlformats.org/officeDocument/2006/relationships/notesSlide" Target="/ppt/notesSlides/notesSlide6.xml" Id="R579f9ce3dec1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c941dd9f94a2d" /><Relationship Type="http://schemas.openxmlformats.org/officeDocument/2006/relationships/notesSlide" Target="/ppt/notesSlides/notesSlide7.xml" Id="Re9ec2a090e2241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8de4ade114761" /><Relationship Type="http://schemas.openxmlformats.org/officeDocument/2006/relationships/notesSlide" Target="/ppt/notesSlides/notesSlide8.xml" Id="R5bb3e52fc55944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ce7c2df1c49dd" /><Relationship Type="http://schemas.openxmlformats.org/officeDocument/2006/relationships/notesSlide" Target="/ppt/notesSlides/notesSlide9.xml" Id="Rc8347dc792c74b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87e20a92c4584" /><Relationship Type="http://schemas.openxmlformats.org/officeDocument/2006/relationships/notesSlide" Target="/ppt/notesSlides/notesSlide10.xml" Id="Rfed1407f6ff749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107356464cd3" /><Relationship Type="http://schemas.openxmlformats.org/officeDocument/2006/relationships/notesSlide" Target="/ppt/notesSlides/notesSlide11.xml" Id="Rb89657ac0b8344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8e90caed8423d" /><Relationship Type="http://schemas.openxmlformats.org/officeDocument/2006/relationships/notesSlide" Target="/ppt/notesSlides/notesSlide12.xml" Id="Rea1a4f9a9db547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a827eb09f4a85" /><Relationship Type="http://schemas.openxmlformats.org/officeDocument/2006/relationships/notesSlide" Target="/ppt/notesSlides/notesSlide13.xml" Id="R03d2bbdde5384d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9b6330bfb41cf" /><Relationship Type="http://schemas.openxmlformats.org/officeDocument/2006/relationships/notesSlide" Target="/ppt/notesSlides/notesSlide14.xml" Id="Rd5f35e979e894d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EDA4E9C-F60E-44B8-B84D-F506D2E7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Executive Summary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4E181D-230A-4774-9C89-72B0DE26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2026-10-26 · Baidu 런던 유인 시험·유럽 L4 계획·NHTSA 조명 제안</a:t>
            </a:r>
            <a:endParaRPr sz="1500"/>
          </a:p>
        </p:txBody>
      </p:sp>
      <p:sp>
        <p:nvSpPr>
          <p:cNvPr id="1030" name="Bullet marker 1-1">
            <a:extLst xmlns:a="http://schemas.openxmlformats.org/drawingml/2006/main">
              <a:ext uri="{FF2B5EF4-FFF2-40B4-BE49-F238E27FC236}">
                <a16:creationId xmlns:a16="http://schemas.microsoft.com/office/drawing/2014/main" id="{AF4ADB60-9EC7-4A4E-9D8F-8DC6E03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1" name="Bullet text 1-1">
            <a:extLst xmlns:a="http://schemas.openxmlformats.org/drawingml/2006/main">
              <a:ext uri="{FF2B5EF4-FFF2-40B4-BE49-F238E27FC236}">
                <a16:creationId xmlns:a16="http://schemas.microsoft.com/office/drawing/2014/main" id="{E99AC60D-869D-4297-9278-C25D91A5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000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[신규·시험/계획] Baidu·Freenow: 런던 RT6 안전운전자 동승 시험 중. 2027년 무인·상용 전환은 목표이며 현재 달성 사실이 아니다. [R1]</a:t>
            </a:r>
            <a:endParaRPr sz="1500"/>
          </a:p>
        </p:txBody>
      </p:sp>
      <p:sp>
        <p:nvSpPr>
          <p:cNvPr id="1032" name="Bullet marker 1-2">
            <a:extLst xmlns:a="http://schemas.openxmlformats.org/drawingml/2006/main">
              <a:ext uri="{FF2B5EF4-FFF2-40B4-BE49-F238E27FC236}">
                <a16:creationId xmlns:a16="http://schemas.microsoft.com/office/drawing/2014/main" id="{8BC6830F-0B9E-46BE-80E2-DF2C201B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666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3" name="Bullet text 1-2">
            <a:extLst xmlns:a="http://schemas.openxmlformats.org/drawingml/2006/main">
              <a:ext uri="{FF2B5EF4-FFF2-40B4-BE49-F238E27FC236}">
                <a16:creationId xmlns:a16="http://schemas.microsoft.com/office/drawing/2014/main" id="{05F455D4-6202-4B87-A7B6-6EA9E3C3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6666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[신규·계획] Bolt·Stellantis·대파리: 2028년 최대 5개 지자체 실증, 2030년 약 30개 확대를 목표로 한다. 노선·허가·차량 규모는 미확정이다. [R4]</a:t>
            </a:r>
            <a:endParaRPr sz="1500"/>
          </a:p>
        </p:txBody>
      </p:sp>
      <p:sp>
        <p:nvSpPr>
          <p:cNvPr id="1034" name="Bullet marker 1-3">
            <a:extLst xmlns:a="http://schemas.openxmlformats.org/drawingml/2006/main">
              <a:ext uri="{FF2B5EF4-FFF2-40B4-BE49-F238E27FC236}">
                <a16:creationId xmlns:a16="http://schemas.microsoft.com/office/drawing/2014/main" id="{D36BA013-E568-4C5C-8B1C-3E809B60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333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5" name="Bullet text 1-3">
            <a:extLst xmlns:a="http://schemas.openxmlformats.org/drawingml/2006/main">
              <a:ext uri="{FF2B5EF4-FFF2-40B4-BE49-F238E27FC236}">
                <a16:creationId xmlns:a16="http://schemas.microsoft.com/office/drawing/2014/main" id="{7E912DDD-2F2F-4407-B647-2308511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332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[신규·규칙 제안] NHTSA: FMVSS 108의 ADS 전용차 조명 요건 조정과 선택형 청록색 표시등을 제안했다. 최종 규칙이 아니다. [R2] [R3]</a:t>
            </a:r>
            <a:endParaRPr sz="1500"/>
          </a:p>
        </p:txBody>
      </p:sp>
      <p:sp>
        <p:nvSpPr>
          <p:cNvPr id="1036" name="Bullet marker 1-4">
            <a:extLst xmlns:a="http://schemas.openxmlformats.org/drawingml/2006/main">
              <a:ext uri="{FF2B5EF4-FFF2-40B4-BE49-F238E27FC236}">
                <a16:creationId xmlns:a16="http://schemas.microsoft.com/office/drawing/2014/main" id="{344F3B2C-9864-45C8-98A5-93EF9EC5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69998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7" name="Bullet text 1-4">
            <a:extLst xmlns:a="http://schemas.openxmlformats.org/drawingml/2006/main">
              <a:ext uri="{FF2B5EF4-FFF2-40B4-BE49-F238E27FC236}">
                <a16:creationId xmlns:a16="http://schemas.microsoft.com/office/drawing/2014/main" id="{A18B9ACA-5BDC-42D5-BBAE-B562262E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9998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[신규·협력/계획] Wayve·Pony.ai: 프랑스 AV 생태계와 Kazakhstan L4 검토를 각각 발표했으나 실제 서비스·무인 전환은 미확인이다. [R5] [R6]</a:t>
            </a:r>
            <a:endParaRPr sz="1500"/>
          </a:p>
        </p:txBody>
      </p:sp>
      <p:sp>
        <p:nvSpPr>
          <p:cNvPr id="1038" name="Bullet marker 1-5">
            <a:extLst xmlns:a="http://schemas.openxmlformats.org/drawingml/2006/main">
              <a:ext uri="{FF2B5EF4-FFF2-40B4-BE49-F238E27FC236}">
                <a16:creationId xmlns:a16="http://schemas.microsoft.com/office/drawing/2014/main" id="{A69AC049-7EE5-46EE-ACF4-2C00F1D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6664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39" name="Bullet text 1-5">
            <a:extLst xmlns:a="http://schemas.openxmlformats.org/drawingml/2006/main">
              <a:ext uri="{FF2B5EF4-FFF2-40B4-BE49-F238E27FC236}">
                <a16:creationId xmlns:a16="http://schemas.microsoft.com/office/drawing/2014/main" id="{4710145A-F083-4AA9-BB5F-2BE7A25D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6664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지정 6개사: Bolt만 신규 계획 확인. 나머지 5개사는 신규 L4 운행·허가·무인 전환 미확인이다. [R4] [R7] [R8] [R9] [R10] [R11]</a:t>
            </a:r>
            <a:endParaRPr sz="1500"/>
          </a:p>
        </p:txBody>
      </p:sp>
      <p:sp>
        <p:nvSpPr>
          <p:cNvPr id="1040" name="Bullet marker 1-6">
            <a:extLst xmlns:a="http://schemas.openxmlformats.org/drawingml/2006/main">
              <a:ext uri="{FF2B5EF4-FFF2-40B4-BE49-F238E27FC236}">
                <a16:creationId xmlns:a16="http://schemas.microsoft.com/office/drawing/2014/main" id="{A6086B9C-0F58-465A-967D-1C2FE52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333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41" name="Bullet text 1-6">
            <a:extLst xmlns:a="http://schemas.openxmlformats.org/drawingml/2006/main">
              <a:ext uri="{FF2B5EF4-FFF2-40B4-BE49-F238E27FC236}">
                <a16:creationId xmlns:a16="http://schemas.microsoft.com/office/drawing/2014/main" id="{9383C0A5-3B17-4965-B0FA-65615B3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3330"/>
            <a:ext cx="8229600" cy="491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May Mobility [중복·추가 확인] 이전 보고 2026-10-23 · California 유인 시험 허가 재확인: 무인 시험·배치 허가는 미확인. 신규 서비스·무인 전환 확인 사항 없음. [R12] [R13]</a:t>
            </a:r>
            <a:endParaRPr sz="1500"/>
          </a:p>
        </p:txBody>
      </p:sp>
      <p:sp>
        <p:nvSpPr>
          <p:cNvPr id="1042" name="Footer 1">
            <a:extLst xmlns:a="http://schemas.openxmlformats.org/drawingml/2006/main">
              <a:ext uri="{FF2B5EF4-FFF2-40B4-BE49-F238E27FC236}">
                <a16:creationId xmlns:a16="http://schemas.microsoft.com/office/drawing/2014/main" id="{E0DD0FC2-338D-44F2-AD88-D5884175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90000"/>
            <a:ext cx="8350000" cy="3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확인 기준: 2026-10-26 한국시간 아침. 2026-10-23 발송본과 대조해 May Mobility 외 동일 사건·수치의 재보도를 제외했다.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4710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5A59DA-3F6C-441D-8B11-939C8CDA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주요 신규 업데이트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98BC213-C8F8-45FB-B695-B9EACACB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시험·계획·규칙 제안을 실제 운행과 분리</a:t>
            </a:r>
            <a:endParaRPr sz="1500"/>
          </a:p>
        </p:txBody>
      </p:sp>
      <p:sp>
        <p:nvSpPr>
          <p:cNvPr id="1060" name="Bullet marker 2-1">
            <a:extLst xmlns:a="http://schemas.openxmlformats.org/drawingml/2006/main">
              <a:ext uri="{FF2B5EF4-FFF2-40B4-BE49-F238E27FC236}">
                <a16:creationId xmlns:a16="http://schemas.microsoft.com/office/drawing/2014/main" id="{4255ACCD-AFAA-4C7E-B133-F6B297B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1" name="Bullet text 2-1">
            <a:extLst xmlns:a="http://schemas.openxmlformats.org/drawingml/2006/main">
              <a:ext uri="{FF2B5EF4-FFF2-40B4-BE49-F238E27FC236}">
                <a16:creationId xmlns:a16="http://schemas.microsoft.com/office/drawing/2014/main" id="{715A77BC-72EF-4EAB-8C1D-CBA6204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보도일 2026-10-23 · 실제 단계: 시험: Baidu Apollo Go와 Lyft 계열 Freenow는 2026년 여름부터 런던에서 안전운전자 탑승 RT6 시험을 진행했다. 2027년 무인·상용 전환은 목표다. [R1]</a:t>
            </a:r>
            <a:endParaRPr sz="1500"/>
          </a:p>
        </p:txBody>
      </p:sp>
      <p:sp>
        <p:nvSpPr>
          <p:cNvPr id="1062" name="Bullet marker 2-2">
            <a:extLst xmlns:a="http://schemas.openxmlformats.org/drawingml/2006/main">
              <a:ext uri="{FF2B5EF4-FFF2-40B4-BE49-F238E27FC236}">
                <a16:creationId xmlns:a16="http://schemas.microsoft.com/office/drawing/2014/main" id="{D5291910-2039-4A08-8F51-453C406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3" name="Bullet text 2-2">
            <a:extLst xmlns:a="http://schemas.openxmlformats.org/drawingml/2006/main">
              <a:ext uri="{FF2B5EF4-FFF2-40B4-BE49-F238E27FC236}">
                <a16:creationId xmlns:a16="http://schemas.microsoft.com/office/drawing/2014/main" id="{C28F41A6-02FA-4769-BB45-7F84E9A1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발표일 2026-10-23 · 예정 시점 2028년: Bolt·Stellantis·Métropole du Grand Paris는 대파리 북서부 최대 5개 지자체에서 자율주행 실증을 시작하고, 승인에 따라 2030년 약 30개 지자체와 상용 운영 가능성을 검토한다. [R4]</a:t>
            </a:r>
            <a:endParaRPr sz="1500"/>
          </a:p>
        </p:txBody>
      </p:sp>
      <p:sp>
        <p:nvSpPr>
          <p:cNvPr id="1064" name="Bullet marker 2-3">
            <a:extLst xmlns:a="http://schemas.openxmlformats.org/drawingml/2006/main">
              <a:ext uri="{FF2B5EF4-FFF2-40B4-BE49-F238E27FC236}">
                <a16:creationId xmlns:a16="http://schemas.microsoft.com/office/drawing/2014/main" id="{E939AC48-0D8F-4B55-8DA1-D617D4A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5" name="Bullet text 2-3">
            <a:extLst xmlns:a="http://schemas.openxmlformats.org/drawingml/2006/main">
              <a:ext uri="{FF2B5EF4-FFF2-40B4-BE49-F238E27FC236}">
                <a16:creationId xmlns:a16="http://schemas.microsoft.com/office/drawing/2014/main" id="{B44A2CCE-B1D6-4B62-9458-475E27B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발표일 2026-10-23 · 규제 단계: 제안: NHTSA는 FMVSS 108 개정안과 선택형 청록색 ADS 표시등을 제안했다. Federal Register 게재 후 30일 의견수렴 절차가 예정돼 있다. [R2] [R3]</a:t>
            </a:r>
            <a:endParaRPr sz="1500"/>
          </a:p>
        </p:txBody>
      </p:sp>
      <p:sp>
        <p:nvSpPr>
          <p:cNvPr id="1066" name="Bullet marker 2-4">
            <a:extLst xmlns:a="http://schemas.openxmlformats.org/drawingml/2006/main">
              <a:ext uri="{FF2B5EF4-FFF2-40B4-BE49-F238E27FC236}">
                <a16:creationId xmlns:a16="http://schemas.microsoft.com/office/drawing/2014/main" id="{369C9F54-1558-4C99-AAFB-09D4651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7" name="Bullet text 2-4">
            <a:extLst xmlns:a="http://schemas.openxmlformats.org/drawingml/2006/main">
              <a:ext uri="{FF2B5EF4-FFF2-40B4-BE49-F238E27FC236}">
                <a16:creationId xmlns:a16="http://schemas.microsoft.com/office/drawing/2014/main" id="{3D092231-BA32-4455-B0DF-BFEA41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발표일 2026-10-23 · 단계: 협력: Wayve·Stellantis·NVIDIA는 프랑스 정부와 L4-Ready 플랫폼, Wayve AI Driver, Hyperion·Halos를 결합하는 생태계 구상을 발표했다. [R5]</a:t>
            </a:r>
            <a:endParaRPr sz="1500"/>
          </a:p>
        </p:txBody>
      </p:sp>
      <p:sp>
        <p:nvSpPr>
          <p:cNvPr id="1068" name="Bullet marker 2-5">
            <a:extLst xmlns:a="http://schemas.openxmlformats.org/drawingml/2006/main">
              <a:ext uri="{FF2B5EF4-FFF2-40B4-BE49-F238E27FC236}">
                <a16:creationId xmlns:a16="http://schemas.microsoft.com/office/drawing/2014/main" id="{2C7F29CC-937A-40CA-BBEE-B1463E5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69" name="Bullet text 2-5">
            <a:extLst xmlns:a="http://schemas.openxmlformats.org/drawingml/2006/main">
              <a:ext uri="{FF2B5EF4-FFF2-40B4-BE49-F238E27FC236}">
                <a16:creationId xmlns:a16="http://schemas.microsoft.com/office/drawing/2014/main" id="{43A2A93A-8EC9-4756-A421-E982FF4D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발표일 2026-10-23 · 단계: MOU: Pony.ai·inDrive·NVIDIA는 Kazakhstan을 첫 검토 시장으로 정하고 Astana L4 서비스의 기술·운영·규제·상업 타당성을 평가하기로 했다. 일정·차량 수·허가·안전요원은 공개되지 않았다. [R6]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48588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FA24D4-2880-4B94-B5D2-D065AB2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기업/지역별 상세 내용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883D455-62AE-4FDD-94CE-389D5EF9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런던·대파리·프랑스·카자흐스탄</a:t>
            </a:r>
            <a:endParaRPr sz="1500"/>
          </a:p>
        </p:txBody>
      </p:sp>
      <p:sp>
        <p:nvSpPr>
          <p:cNvPr id="1090" name="Bullet marker 3-1">
            <a:extLst xmlns:a="http://schemas.openxmlformats.org/drawingml/2006/main">
              <a:ext uri="{FF2B5EF4-FFF2-40B4-BE49-F238E27FC236}">
                <a16:creationId xmlns:a16="http://schemas.microsoft.com/office/drawing/2014/main" id="{E9D0C07A-5606-454F-83E6-5CC8C692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1" name="Bullet text 3-1">
            <a:extLst xmlns:a="http://schemas.openxmlformats.org/drawingml/2006/main">
              <a:ext uri="{FF2B5EF4-FFF2-40B4-BE49-F238E27FC236}">
                <a16:creationId xmlns:a16="http://schemas.microsoft.com/office/drawing/2014/main" id="{C3C51FF2-2DD2-471E-A57D-8E1637EB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런던: Baidu RT6는 현재 안전운전자 동승 시험이다. 2027년 완전 무인화·상용 출시 목표와 향후 1~2년 수십 대 시험 계획은 달성 사실이 아니다. [R1]</a:t>
            </a:r>
            <a:endParaRPr sz="1500"/>
          </a:p>
        </p:txBody>
      </p:sp>
      <p:sp>
        <p:nvSpPr>
          <p:cNvPr id="1092" name="Bullet marker 3-2">
            <a:extLst xmlns:a="http://schemas.openxmlformats.org/drawingml/2006/main">
              <a:ext uri="{FF2B5EF4-FFF2-40B4-BE49-F238E27FC236}">
                <a16:creationId xmlns:a16="http://schemas.microsoft.com/office/drawing/2014/main" id="{0D7D1E8E-0AF5-4D9D-813D-4E9F8D1C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6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3" name="Bullet text 3-2">
            <a:extLst xmlns:a="http://schemas.openxmlformats.org/drawingml/2006/main">
              <a:ext uri="{FF2B5EF4-FFF2-40B4-BE49-F238E27FC236}">
                <a16:creationId xmlns:a16="http://schemas.microsoft.com/office/drawing/2014/main" id="{D76DA1B6-54CF-44E5-A28B-9BEB7B0A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6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대파리: Bolt는 서비스 통합·배치 계획, Stellantis는 L4-Ready 차량, 대파리는 지자체 조정·평가를 맡는다. Pony.ai는 잠재적 ADS 공급사로 지목됐으며 필요한 승인은 아직 확보 대상이다. [R4]</a:t>
            </a:r>
            <a:endParaRPr sz="1500"/>
          </a:p>
        </p:txBody>
      </p:sp>
      <p:sp>
        <p:nvSpPr>
          <p:cNvPr id="1094" name="Bullet marker 3-3">
            <a:extLst xmlns:a="http://schemas.openxmlformats.org/drawingml/2006/main">
              <a:ext uri="{FF2B5EF4-FFF2-40B4-BE49-F238E27FC236}">
                <a16:creationId xmlns:a16="http://schemas.microsoft.com/office/drawing/2014/main" id="{8DF22295-6623-458C-86D2-94AD5D6B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5" name="Bullet text 3-3">
            <a:extLst xmlns:a="http://schemas.openxmlformats.org/drawingml/2006/main">
              <a:ext uri="{FF2B5EF4-FFF2-40B4-BE49-F238E27FC236}">
                <a16:creationId xmlns:a16="http://schemas.microsoft.com/office/drawing/2014/main" id="{4CE58A06-73FB-4BDA-A31A-81EE0A7F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프랑스: Wayve 협력은 기술·정책 생태계 발표다. 실제 시험 노선, 서비스 지역, 차량 대수와 무인 운행 개시일은 공식 발표에 없다. [R5]</a:t>
            </a:r>
            <a:endParaRPr sz="1500"/>
          </a:p>
        </p:txBody>
      </p:sp>
      <p:sp>
        <p:nvSpPr>
          <p:cNvPr id="1096" name="Bullet marker 3-4">
            <a:extLst xmlns:a="http://schemas.openxmlformats.org/drawingml/2006/main">
              <a:ext uri="{FF2B5EF4-FFF2-40B4-BE49-F238E27FC236}">
                <a16:creationId xmlns:a16="http://schemas.microsoft.com/office/drawing/2014/main" id="{0C6E00BB-42C6-4E13-BC4C-90FD9286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8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7" name="Bullet text 3-4">
            <a:extLst xmlns:a="http://schemas.openxmlformats.org/drawingml/2006/main">
              <a:ext uri="{FF2B5EF4-FFF2-40B4-BE49-F238E27FC236}">
                <a16:creationId xmlns:a16="http://schemas.microsoft.com/office/drawing/2014/main" id="{EC4432ED-2B23-4E39-AD99-D7C453F0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8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Kazakhstan: Pony.ai Gen-7, inDrive 플랫폼·운영, NVIDIA AI 인프라를 조합해 Astana 도입 가능성을 검토한다. 정부 합의가 전제이며 운행 개시는 확인되지 않았다. [R6]</a:t>
            </a:r>
            <a:endParaRPr sz="1500"/>
          </a:p>
        </p:txBody>
      </p:sp>
      <p:sp>
        <p:nvSpPr>
          <p:cNvPr id="1098" name="Bullet marker 3-5">
            <a:extLst xmlns:a="http://schemas.openxmlformats.org/drawingml/2006/main">
              <a:ext uri="{FF2B5EF4-FFF2-40B4-BE49-F238E27FC236}">
                <a16:creationId xmlns:a16="http://schemas.microsoft.com/office/drawing/2014/main" id="{3A229B9A-B7B1-4F15-BA14-E78B3722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84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099" name="Bullet text 3-5">
            <a:extLst xmlns:a="http://schemas.openxmlformats.org/drawingml/2006/main">
              <a:ext uri="{FF2B5EF4-FFF2-40B4-BE49-F238E27FC236}">
                <a16:creationId xmlns:a16="http://schemas.microsoft.com/office/drawing/2014/main" id="{421F8A5A-AE8E-41EB-BB44-44C5F12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4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공통 해석: 네 사안 모두 시험 또는 계획·MOU 단계가 포함된다. 공개자료로 확인되지 않은 무인 상용화·허가 취득·차량 규모는 추정하지 않았다. [R1] [R4] [R5] [R6]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669521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9A1F5D-4660-4D9F-8BF3-03C2A1B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지정 6개사 L4 점검</a:t>
            </a:r>
            <a:endParaRPr sz="225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FEAAC9F-4705-4999-8D53-5EAC7F2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96727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28C8DEF-A1BB-438A-BBD1-F98E95C4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74304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40825F-F5B0-4B16-890A-63557179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51881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F442B6C3-254C-41F8-961D-DB68C06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9458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2572343-FA8F-4469-A914-6B3D9469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07035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2C38B52-8A07-40F8-95F6-C323225E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84612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91CF20-3608-41CC-9EF4-2A07C977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62189"/>
            <a:ext cx="845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A3AF">
              <a:alpha val="20000"/>
            </a:srgbClr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09B1E8F-9C38-441D-8E22-D419E98C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8876"/>
            <a:ext cx="8588121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175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/>
            </a:r>
            <a:endParaRPr sz="1500"/>
          </a:p>
        </p:txBody>
      </p:sp>
      <p:graphicFrame>
        <p:nvGraphicFramePr>
          <p:cNvPr id="904" name="Editable source table">
            <a:extLst xmlns:a="http://schemas.openxmlformats.org/drawingml/2006/main">
              <a:ext uri="{FF2B5EF4-FFF2-40B4-BE49-F238E27FC236}">
                <a16:creationId xmlns:a16="http://schemas.microsoft.com/office/drawing/2014/main" id="{4250354F-FD38-44A6-8A3E-90506BBDA228}"/>
              </a:ext>
            </a:extLst>
          </p:cNvPr>
          <p:cNvGraphicFramePr/>
          <p:nvPr/>
        </p:nvGraphicFramePr>
        <p:xfrm>
          <a:off xmlns:a="http://schemas.openxmlformats.org/drawingml/2006/main" x="438150" y="823912"/>
          <a:ext xmlns:a="http://schemas.openxmlformats.org/drawingml/2006/main" cx="8458200" cy="264303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66168"/>
                <a:gridCol w="2964954"/>
                <a:gridCol w="3527078"/>
              </a:tblGrid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기업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보고 이후 확인 결과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점검 출처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Uber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신규 무인 운행·허가·지역 확대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Autonomous Newsroom [R7]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Avride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무인 단계·허가·차량 규모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홈페이지 [R8]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Bolt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[신규·계획] 대파리 최대 5개 지자체 2028년 실증, 2030년 약 30개 확대·상용 가능성 검토. 현재 운행·허가·안전요원·차량 대수 미확정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Stellantis·Bolt 발표 [R4] [R20]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Mobileye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22일 AEB 개발 프로세스 인증 이후 L4 운행·허가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News Releases [R9]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카카오모빌리티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10월 23일 AI 주차·ITS 발표는 L4 운행·허가·무인 전환 변화가 아님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뉴스룸 [R10]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  <a:tr h="377577"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쏘카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확인 사항 없음. L4 상용 운행·허가·무인 전환 변화 미확인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indent="0" algn="l">
                        <a:buNone/>
                      </a:pPr>
                      <a:r>
                        <a:rPr sz="1275">
                          <a:solidFill>
                            <a:srgbClr val="203047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공식 블로그 [R11]</a:t>
                      </a:r>
                      <a:endParaRPr sz="1275"/>
                    </a:p>
                  </a:txBody>
                  <a:tcPr marL="66675" marR="66675" marT="66675" marB="0" anchor="t">
                    <a:lnB w="6350">
                      <a:solidFill>
                        <a:srgbClr val="DDE3E9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765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FDF4F4-39A7-45A2-A263-8B3C8B5F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EC05E8-69D2-4D67-9FDB-F04D791D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[중복·추가 확인] 이전 보고 2026-10-23 · California 유인 시험 허가 재확인</a:t>
            </a:r>
            <a:endParaRPr sz="1500"/>
          </a:p>
        </p:txBody>
      </p:sp>
      <p:sp>
        <p:nvSpPr>
          <p:cNvPr id="705" name="Subheading 5">
            <a:extLst xmlns:a="http://schemas.openxmlformats.org/drawingml/2006/main">
              <a:ext uri="{FF2B5EF4-FFF2-40B4-BE49-F238E27FC236}">
                <a16:creationId xmlns:a16="http://schemas.microsoft.com/office/drawing/2014/main" id="{EE4587E3-7390-4D0C-ACF5-932A68D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① 실제 서비스 지역</a:t>
            </a:r>
            <a:endParaRPr sz="1500"/>
          </a:p>
        </p:txBody>
      </p:sp>
      <p:sp>
        <p:nvSpPr>
          <p:cNvPr id="1150" name="Bullet marker 5-1">
            <a:extLst xmlns:a="http://schemas.openxmlformats.org/drawingml/2006/main">
              <a:ext uri="{FF2B5EF4-FFF2-40B4-BE49-F238E27FC236}">
                <a16:creationId xmlns:a16="http://schemas.microsoft.com/office/drawing/2014/main" id="{FAA654DF-356E-44FB-80FD-A805F3A1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1" name="Bullet text 5-1">
            <a:extLst xmlns:a="http://schemas.openxmlformats.org/drawingml/2006/main">
              <a:ext uri="{FF2B5EF4-FFF2-40B4-BE49-F238E27FC236}">
                <a16:creationId xmlns:a16="http://schemas.microsoft.com/office/drawing/2014/main" id="{C0E9FB4D-F00C-40BA-A18F-9DCB6C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신규 서비스·무인 전환 확인 사항 없음. 회사 뉴스 인덱스에서 이전 보고 이후 신규 서비스 발표를 확인하지 못했다. [R12]</a:t>
            </a:r>
            <a:endParaRPr sz="1500"/>
          </a:p>
        </p:txBody>
      </p:sp>
      <p:sp>
        <p:nvSpPr>
          <p:cNvPr id="1152" name="Bullet marker 5-2">
            <a:extLst xmlns:a="http://schemas.openxmlformats.org/drawingml/2006/main">
              <a:ext uri="{FF2B5EF4-FFF2-40B4-BE49-F238E27FC236}">
                <a16:creationId xmlns:a16="http://schemas.microsoft.com/office/drawing/2014/main" id="{885FB200-15F8-4C98-80FD-76F321F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3" name="Bullet text 5-2">
            <a:extLst xmlns:a="http://schemas.openxmlformats.org/drawingml/2006/main">
              <a:ext uri="{FF2B5EF4-FFF2-40B4-BE49-F238E27FC236}">
                <a16:creationId xmlns:a16="http://schemas.microsoft.com/office/drawing/2014/main" id="{EC4A5819-3298-4011-B4A2-C98EA3F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미국 상용 [중복]: SEC 자료는 Atlanta, Eden Prairie와 Grand Rapids를 상업 운영 지역으로 명시한다. [R14]</a:t>
            </a:r>
            <a:endParaRPr sz="1500"/>
          </a:p>
        </p:txBody>
      </p:sp>
      <p:sp>
        <p:nvSpPr>
          <p:cNvPr id="1154" name="Bullet marker 5-3">
            <a:extLst xmlns:a="http://schemas.openxmlformats.org/drawingml/2006/main">
              <a:ext uri="{FF2B5EF4-FFF2-40B4-BE49-F238E27FC236}">
                <a16:creationId xmlns:a16="http://schemas.microsoft.com/office/drawing/2014/main" id="{78C4460E-C4A6-4128-B4A4-005B0743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5" name="Bullet text 5-3">
            <a:extLst xmlns:a="http://schemas.openxmlformats.org/drawingml/2006/main">
              <a:ext uri="{FF2B5EF4-FFF2-40B4-BE49-F238E27FC236}">
                <a16:creationId xmlns:a16="http://schemas.microsoft.com/office/drawing/2014/main" id="{E45870B9-82A0-42DC-929A-DAE85FA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Arlington·Uber [중복]: 개시 목표는 2026년 4분기~2027년 1분기이며, 실제 개시는 추가 확인되지 않았다. [R12] [R14]</a:t>
            </a:r>
            <a:endParaRPr sz="1500"/>
          </a:p>
        </p:txBody>
      </p:sp>
      <p:sp>
        <p:nvSpPr>
          <p:cNvPr id="1156" name="Bullet marker 5-4">
            <a:extLst xmlns:a="http://schemas.openxmlformats.org/drawingml/2006/main">
              <a:ext uri="{FF2B5EF4-FFF2-40B4-BE49-F238E27FC236}">
                <a16:creationId xmlns:a16="http://schemas.microsoft.com/office/drawing/2014/main" id="{9C0A8E78-2914-4DEE-9045-A323078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57" name="Bullet text 5-4">
            <a:extLst xmlns:a="http://schemas.openxmlformats.org/drawingml/2006/main">
              <a:ext uri="{FF2B5EF4-FFF2-40B4-BE49-F238E27FC236}">
                <a16:creationId xmlns:a16="http://schemas.microsoft.com/office/drawing/2014/main" id="{BBECCF03-3FFC-4DBB-98DA-DA83FEC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나고야·e-Palette [중복]: 2026년 9월 11일~2027년 3월 19일 평일 실증으로 차량 3대와 승하차 지점 5곳을 제시했다. 공공도로 배치와 향후 운전석 무인 L4는 목표이며 현재 무인 상용 개시를 뜻하지 않는다. [R15] [R19]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355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6E0098C-93F1-45CC-9D4A-DCD6C464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[중복·추가 확인] 이전 보고 2026-10-23 · California 유인 시험 허가 재확인</a:t>
            </a:r>
            <a:endParaRPr sz="1500"/>
          </a:p>
        </p:txBody>
      </p:sp>
      <p:sp>
        <p:nvSpPr>
          <p:cNvPr id="706" name="Subheading 6">
            <a:extLst xmlns:a="http://schemas.openxmlformats.org/drawingml/2006/main">
              <a:ext uri="{FF2B5EF4-FFF2-40B4-BE49-F238E27FC236}">
                <a16:creationId xmlns:a16="http://schemas.microsoft.com/office/drawing/2014/main" id="{6393B169-0136-4077-BF25-C3E87DD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② 안전요원·무인 수준 / 기술·ODD</a:t>
            </a:r>
            <a:endParaRPr sz="1500"/>
          </a:p>
        </p:txBody>
      </p:sp>
      <p:sp>
        <p:nvSpPr>
          <p:cNvPr id="1180" name="Bullet marker 6-1">
            <a:extLst xmlns:a="http://schemas.openxmlformats.org/drawingml/2006/main">
              <a:ext uri="{FF2B5EF4-FFF2-40B4-BE49-F238E27FC236}">
                <a16:creationId xmlns:a16="http://schemas.microsoft.com/office/drawing/2014/main" id="{D4A03F95-5F4A-4BCE-A144-1313D63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1" name="Bullet text 6-1">
            <a:extLst xmlns:a="http://schemas.openxmlformats.org/drawingml/2006/main">
              <a:ext uri="{FF2B5EF4-FFF2-40B4-BE49-F238E27FC236}">
                <a16:creationId xmlns:a16="http://schemas.microsoft.com/office/drawing/2014/main" id="{4BE02B9C-1E49-4911-96AE-FCCD726E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California [추가 확인]: DMV의 2026년 10월 21일 갱신 명단에서 May Mobility는 ‘Testing with a Driver’에 포함된다. 무인 시험·상용 배치 허가 명단에는 없다. [R13]</a:t>
            </a:r>
            <a:endParaRPr sz="1500"/>
          </a:p>
        </p:txBody>
      </p:sp>
      <p:sp>
        <p:nvSpPr>
          <p:cNvPr id="1182" name="Bullet marker 6-2">
            <a:extLst xmlns:a="http://schemas.openxmlformats.org/drawingml/2006/main">
              <a:ext uri="{FF2B5EF4-FFF2-40B4-BE49-F238E27FC236}">
                <a16:creationId xmlns:a16="http://schemas.microsoft.com/office/drawing/2014/main" id="{24AB4742-3613-4C47-BC18-FD04A614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3" name="Bullet text 6-2">
            <a:extLst xmlns:a="http://schemas.openxmlformats.org/drawingml/2006/main">
              <a:ext uri="{FF2B5EF4-FFF2-40B4-BE49-F238E27FC236}">
                <a16:creationId xmlns:a16="http://schemas.microsoft.com/office/drawing/2014/main" id="{F6BEE0C4-9ED7-4A7E-979B-9E585C3B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Atlanta [중복]: 공식 긴급대응 지침은 Toyota Sienna 운전석 Safety Operator 탑승을 명시한다. [R16]</a:t>
            </a:r>
            <a:endParaRPr sz="1500"/>
          </a:p>
        </p:txBody>
      </p:sp>
      <p:sp>
        <p:nvSpPr>
          <p:cNvPr id="1184" name="Bullet marker 6-3">
            <a:extLst xmlns:a="http://schemas.openxmlformats.org/drawingml/2006/main">
              <a:ext uri="{FF2B5EF4-FFF2-40B4-BE49-F238E27FC236}">
                <a16:creationId xmlns:a16="http://schemas.microsoft.com/office/drawing/2014/main" id="{40AC5E27-3D07-425C-B4EA-2606277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5" name="Bullet text 6-3">
            <a:extLst xmlns:a="http://schemas.openxmlformats.org/drawingml/2006/main">
              <a:ext uri="{FF2B5EF4-FFF2-40B4-BE49-F238E27FC236}">
                <a16:creationId xmlns:a16="http://schemas.microsoft.com/office/drawing/2014/main" id="{38747B8C-CDD9-4BA8-9066-824F38B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나고야 [중복]: 안내문은 향후 승무원 없는 L4를 상정한 실증이며 현재 운전석 무인 허가·달성을 뜻하지 않는다. [R15]</a:t>
            </a:r>
            <a:endParaRPr sz="1500"/>
          </a:p>
        </p:txBody>
      </p:sp>
      <p:sp>
        <p:nvSpPr>
          <p:cNvPr id="1186" name="Bullet marker 6-4">
            <a:extLst xmlns:a="http://schemas.openxmlformats.org/drawingml/2006/main">
              <a:ext uri="{FF2B5EF4-FFF2-40B4-BE49-F238E27FC236}">
                <a16:creationId xmlns:a16="http://schemas.microsoft.com/office/drawing/2014/main" id="{A4110EA9-991F-42FE-8448-F601175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4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187" name="Bullet text 6-4">
            <a:extLst xmlns:a="http://schemas.openxmlformats.org/drawingml/2006/main">
              <a:ext uri="{FF2B5EF4-FFF2-40B4-BE49-F238E27FC236}">
                <a16:creationId xmlns:a16="http://schemas.microsoft.com/office/drawing/2014/main" id="{21C1B306-DC74-46D9-8071-5D6001C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5세대 기술·ODD [중복]: 딥러닝, 예측 월드 모델과 추론 엔진을 차량 내에서 결합한다고 설명한다. 최신 속도·기상·도로별 전체 ODD와 추가 안전요원 철수는 공개자료에서 확인되지 않았다. [R13] [R15] [R16] [R17]</a:t>
            </a:r>
            <a:endParaRPr sz="15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0EAA9C-8716-4B3D-B6DF-22778C2C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</p:spTree>
    <p:extLst>
      <p:ext uri="{BB962C8B-B14F-4D97-AF65-F5344CB8AC3E}">
        <p14:creationId xmlns:p14="http://schemas.microsoft.com/office/powerpoint/2010/main" val="1299126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4D41ACF-CC26-432F-BC7B-8E1962B6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May Mobility 심층 점검</a:t>
            </a:r>
            <a:endParaRPr sz="22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C17C57-9302-484D-B14F-470BEC62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8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[중복·추가 확인] 이전 보고 2026-10-23 · California 유인 시험 허가 재확인</a:t>
            </a:r>
            <a:endParaRPr sz="1500"/>
          </a:p>
        </p:txBody>
      </p:sp>
      <p:sp>
        <p:nvSpPr>
          <p:cNvPr id="707" name="Subheading 7">
            <a:extLst xmlns:a="http://schemas.openxmlformats.org/drawingml/2006/main">
              <a:ext uri="{FF2B5EF4-FFF2-40B4-BE49-F238E27FC236}">
                <a16:creationId xmlns:a16="http://schemas.microsoft.com/office/drawing/2014/main" id="{50A88524-C980-45A6-9A6A-4DC0ED14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43013"/>
            <a:ext cx="820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③ 차량·운영 실적 / ④ 투자·SPAC 일정</a:t>
            </a:r>
            <a:endParaRPr sz="1500"/>
          </a:p>
        </p:txBody>
      </p:sp>
      <p:sp>
        <p:nvSpPr>
          <p:cNvPr id="1210" name="Bullet marker 7-1">
            <a:extLst xmlns:a="http://schemas.openxmlformats.org/drawingml/2006/main">
              <a:ext uri="{FF2B5EF4-FFF2-40B4-BE49-F238E27FC236}">
                <a16:creationId xmlns:a16="http://schemas.microsoft.com/office/drawing/2014/main" id="{B66C3604-188E-444B-92F2-C9ECD78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6862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1" name="Bullet text 7-1">
            <a:extLst xmlns:a="http://schemas.openxmlformats.org/drawingml/2006/main">
              <a:ext uri="{FF2B5EF4-FFF2-40B4-BE49-F238E27FC236}">
                <a16:creationId xmlns:a16="http://schemas.microsoft.com/office/drawing/2014/main" id="{6B872026-580F-4957-AE9C-642E2C0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6862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누적 실적 [중복]: 2026년 9월 16일 기준 상업 승차 55만 회 초과, 110만 마일과 driver-out 배치 3건이다. 모든 지역이 무인이라는 뜻은 아니다. [R14]</a:t>
            </a:r>
            <a:endParaRPr sz="1500"/>
          </a:p>
        </p:txBody>
      </p:sp>
      <p:sp>
        <p:nvSpPr>
          <p:cNvPr id="1212" name="Bullet marker 7-2">
            <a:extLst xmlns:a="http://schemas.openxmlformats.org/drawingml/2006/main">
              <a:ext uri="{FF2B5EF4-FFF2-40B4-BE49-F238E27FC236}">
                <a16:creationId xmlns:a16="http://schemas.microsoft.com/office/drawing/2014/main" id="{AC0F9192-947E-4D82-B38E-907281FC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3489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3" name="Bullet text 7-2">
            <a:extLst xmlns:a="http://schemas.openxmlformats.org/drawingml/2006/main">
              <a:ext uri="{FF2B5EF4-FFF2-40B4-BE49-F238E27FC236}">
                <a16:creationId xmlns:a16="http://schemas.microsoft.com/office/drawing/2014/main" id="{D039CB3D-A541-42DE-9DE3-25EA319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3489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AaaS [중복]: 파트너가 차량 소유·차고 운영·유지보수를 맡고 May Mobility가 자율주행 기술을 제공하는 모델을 제시한다. [R14] [R18]</a:t>
            </a:r>
            <a:endParaRPr sz="1500"/>
          </a:p>
        </p:txBody>
      </p:sp>
      <p:sp>
        <p:nvSpPr>
          <p:cNvPr id="1214" name="Bullet marker 7-3">
            <a:extLst xmlns:a="http://schemas.openxmlformats.org/drawingml/2006/main">
              <a:ext uri="{FF2B5EF4-FFF2-40B4-BE49-F238E27FC236}">
                <a16:creationId xmlns:a16="http://schemas.microsoft.com/office/drawing/2014/main" id="{92983FEC-583E-49D9-8A42-99D7A7F1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116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5" name="Bullet text 7-3">
            <a:extLst xmlns:a="http://schemas.openxmlformats.org/drawingml/2006/main">
              <a:ext uri="{FF2B5EF4-FFF2-40B4-BE49-F238E27FC236}">
                <a16:creationId xmlns:a16="http://schemas.microsoft.com/office/drawing/2014/main" id="{D8CC23E8-88BD-4D96-88B6-3BDBFD93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116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SPAC 발표값 [중복]: 기업가치 약 14억 달러, 최대 조달 3억3,700만 달러와 PIPE 1억2,000만 달러이며 환매·종결 조건의 영향을 받는다. [R14]</a:t>
            </a:r>
            <a:endParaRPr sz="1500"/>
          </a:p>
        </p:txBody>
      </p:sp>
      <p:sp>
        <p:nvSpPr>
          <p:cNvPr id="1216" name="Bullet marker 7-4">
            <a:extLst xmlns:a="http://schemas.openxmlformats.org/drawingml/2006/main">
              <a:ext uri="{FF2B5EF4-FFF2-40B4-BE49-F238E27FC236}">
                <a16:creationId xmlns:a16="http://schemas.microsoft.com/office/drawing/2014/main" id="{A0EC3BBF-C4B5-4B73-B2C9-D763B845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16743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7" name="Bullet text 7-4">
            <a:extLst xmlns:a="http://schemas.openxmlformats.org/drawingml/2006/main">
              <a:ext uri="{FF2B5EF4-FFF2-40B4-BE49-F238E27FC236}">
                <a16:creationId xmlns:a16="http://schemas.microsoft.com/office/drawing/2014/main" id="{060901C9-EABE-4399-B058-8381EB3C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6743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종결 목표 [중복]: 투자자 자료는 2027년 1분기를 제시한다. 합병·상장 완료는 추가 확인하지 못했다. [R18]</a:t>
            </a:r>
            <a:endParaRPr sz="1500"/>
          </a:p>
        </p:txBody>
      </p:sp>
      <p:sp>
        <p:nvSpPr>
          <p:cNvPr id="1218" name="Bullet marker 7-5">
            <a:extLst xmlns:a="http://schemas.openxmlformats.org/drawingml/2006/main">
              <a:ext uri="{FF2B5EF4-FFF2-40B4-BE49-F238E27FC236}">
                <a16:creationId xmlns:a16="http://schemas.microsoft.com/office/drawing/2014/main" id="{854DF30B-F301-47CF-B003-C55B3B2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337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19" name="Bullet text 7-5">
            <a:extLst xmlns:a="http://schemas.openxmlformats.org/drawingml/2006/main">
              <a:ext uri="{FF2B5EF4-FFF2-40B4-BE49-F238E27FC236}">
                <a16:creationId xmlns:a16="http://schemas.microsoft.com/office/drawing/2014/main" id="{40CF16FC-D0BE-45C8-B900-AA56D089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337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7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현대자동차: 신규 직접 계약·차량 적용 근거는 확인되지 않았다. [R12] [R14] [R18]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936249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C080AB-C486-4F6E-9E84-ADD39A80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규제·안전</a:t>
            </a:r>
            <a:endParaRPr sz="2250"/>
          </a:p>
        </p:txBody>
      </p:sp>
      <p:sp>
        <p:nvSpPr>
          <p:cNvPr id="1240" name="Bullet marker 8-1">
            <a:extLst xmlns:a="http://schemas.openxmlformats.org/drawingml/2006/main">
              <a:ext uri="{FF2B5EF4-FFF2-40B4-BE49-F238E27FC236}">
                <a16:creationId xmlns:a16="http://schemas.microsoft.com/office/drawing/2014/main" id="{6770C92F-5EDA-4308-A44A-ACC2411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1" name="Bullet text 8-1">
            <a:extLst xmlns:a="http://schemas.openxmlformats.org/drawingml/2006/main">
              <a:ext uri="{FF2B5EF4-FFF2-40B4-BE49-F238E27FC236}">
                <a16:creationId xmlns:a16="http://schemas.microsoft.com/office/drawing/2014/main" id="{A0BDE690-9095-427A-8E35-C45876BD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FMVSS 108 제안: ADS 전용차에 수동 방향지시·비상등·상향등 조작장치가 항상 필요하다는 전제를 조정하려는 안이다. [R2] [R3]</a:t>
            </a:r>
            <a:endParaRPr sz="1500"/>
          </a:p>
        </p:txBody>
      </p:sp>
      <p:sp>
        <p:nvSpPr>
          <p:cNvPr id="1242" name="Bullet marker 8-2">
            <a:extLst xmlns:a="http://schemas.openxmlformats.org/drawingml/2006/main">
              <a:ext uri="{FF2B5EF4-FFF2-40B4-BE49-F238E27FC236}">
                <a16:creationId xmlns:a16="http://schemas.microsoft.com/office/drawing/2014/main" id="{5B5A8FDC-7111-4117-B5F8-3C9483EB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3" name="Bullet text 8-2">
            <a:extLst xmlns:a="http://schemas.openxmlformats.org/drawingml/2006/main">
              <a:ext uri="{FF2B5EF4-FFF2-40B4-BE49-F238E27FC236}">
                <a16:creationId xmlns:a16="http://schemas.microsoft.com/office/drawing/2014/main" id="{D53B1FD4-7109-4263-B745-DAE6F876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청록색 표시등: ADS 작동 상태를 외부 도로 이용자에게 알리는 선택형 표준 표시등의 색상·장착·활성화·가시성 기준을 제안했다. [R2] [R3]</a:t>
            </a:r>
            <a:endParaRPr sz="1500"/>
          </a:p>
        </p:txBody>
      </p:sp>
      <p:sp>
        <p:nvSpPr>
          <p:cNvPr id="1244" name="Bullet marker 8-3">
            <a:extLst xmlns:a="http://schemas.openxmlformats.org/drawingml/2006/main">
              <a:ext uri="{FF2B5EF4-FFF2-40B4-BE49-F238E27FC236}">
                <a16:creationId xmlns:a16="http://schemas.microsoft.com/office/drawing/2014/main" id="{7183365D-5DE1-472A-A0C0-9DCB2CF1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5" name="Bullet text 8-3">
            <a:extLst xmlns:a="http://schemas.openxmlformats.org/drawingml/2006/main">
              <a:ext uri="{FF2B5EF4-FFF2-40B4-BE49-F238E27FC236}">
                <a16:creationId xmlns:a16="http://schemas.microsoft.com/office/drawing/2014/main" id="{2F74F247-EE9A-4F17-98E6-ECEB084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절차: 규칙 제정 제안이며 Federal Register 게재 후 30일 의견수렴과 docket NHTSA-2026-1519 검토가 남는다. [R2] [R3]</a:t>
            </a:r>
            <a:endParaRPr sz="1500"/>
          </a:p>
        </p:txBody>
      </p:sp>
      <p:sp>
        <p:nvSpPr>
          <p:cNvPr id="1246" name="Bullet marker 8-4">
            <a:extLst xmlns:a="http://schemas.openxmlformats.org/drawingml/2006/main">
              <a:ext uri="{FF2B5EF4-FFF2-40B4-BE49-F238E27FC236}">
                <a16:creationId xmlns:a16="http://schemas.microsoft.com/office/drawing/2014/main" id="{E42CE2C3-A214-40C7-94DB-EDC8C26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47" name="Bullet text 8-4">
            <a:extLst xmlns:a="http://schemas.openxmlformats.org/drawingml/2006/main">
              <a:ext uri="{FF2B5EF4-FFF2-40B4-BE49-F238E27FC236}">
                <a16:creationId xmlns:a16="http://schemas.microsoft.com/office/drawing/2014/main" id="{E1A0818E-C85F-4DE1-B2E2-70AB41E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California May Mobility: 운전자 탑승 시험 허가와 무인 시험·배치 허가는 별도다. 현재 공개 명단은 May Mobility의 후자 두 허가를 보여주지 않는다. [R13]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04681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B871FC-5CB1-432D-ACA7-A62F2B6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50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기술·공급망</a:t>
            </a:r>
            <a:endParaRPr sz="2250"/>
          </a:p>
        </p:txBody>
      </p:sp>
      <p:sp>
        <p:nvSpPr>
          <p:cNvPr id="1270" name="Bullet marker 9-1">
            <a:extLst xmlns:a="http://schemas.openxmlformats.org/drawingml/2006/main">
              <a:ext uri="{FF2B5EF4-FFF2-40B4-BE49-F238E27FC236}">
                <a16:creationId xmlns:a16="http://schemas.microsoft.com/office/drawing/2014/main" id="{7B754F4A-D65D-4661-8550-39B1B15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1" name="Bullet text 9-1">
            <a:extLst xmlns:a="http://schemas.openxmlformats.org/drawingml/2006/main">
              <a:ext uri="{FF2B5EF4-FFF2-40B4-BE49-F238E27FC236}">
                <a16:creationId xmlns:a16="http://schemas.microsoft.com/office/drawing/2014/main" id="{9663B968-E977-4240-BEF7-E0DEF8BF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Wayve·Stellantis·NVIDIA: Stellantis L4-Ready Platforms, Wayve AI Driver, NVIDIA Hyperion·Halos를 결합하는 프랑스 협력 구상이다. 제품 양산·서비스 개시 일정은 미공개다. [R5]</a:t>
            </a:r>
            <a:endParaRPr sz="1500"/>
          </a:p>
        </p:txBody>
      </p:sp>
      <p:sp>
        <p:nvSpPr>
          <p:cNvPr id="1272" name="Bullet marker 9-2">
            <a:extLst xmlns:a="http://schemas.openxmlformats.org/drawingml/2006/main">
              <a:ext uri="{FF2B5EF4-FFF2-40B4-BE49-F238E27FC236}">
                <a16:creationId xmlns:a16="http://schemas.microsoft.com/office/drawing/2014/main" id="{DDB011FD-B6BD-4BC4-BA18-4DA16DB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8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3" name="Bullet text 9-2">
            <a:extLst xmlns:a="http://schemas.openxmlformats.org/drawingml/2006/main">
              <a:ext uri="{FF2B5EF4-FFF2-40B4-BE49-F238E27FC236}">
                <a16:creationId xmlns:a16="http://schemas.microsoft.com/office/drawing/2014/main" id="{E829100F-072F-4FF2-868B-210FEE0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Pony.ai·inDrive·NVIDIA: Pony.ai Gen-7 차량, inDrive 플랫폼·운영과 NVIDIA AI 인프라로 Kazakhstan 타당성을 검토한다. 발표는 MOU 단계다. [R6]</a:t>
            </a:r>
            <a:endParaRPr sz="1500"/>
          </a:p>
        </p:txBody>
      </p:sp>
      <p:sp>
        <p:nvSpPr>
          <p:cNvPr id="1274" name="Bullet marker 9-3">
            <a:extLst xmlns:a="http://schemas.openxmlformats.org/drawingml/2006/main">
              <a:ext uri="{FF2B5EF4-FFF2-40B4-BE49-F238E27FC236}">
                <a16:creationId xmlns:a16="http://schemas.microsoft.com/office/drawing/2014/main" id="{4B3DED9F-70CD-4D8A-88A9-A68FD226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5" name="Bullet text 9-3">
            <a:extLst xmlns:a="http://schemas.openxmlformats.org/drawingml/2006/main">
              <a:ext uri="{FF2B5EF4-FFF2-40B4-BE49-F238E27FC236}">
                <a16:creationId xmlns:a16="http://schemas.microsoft.com/office/drawing/2014/main" id="{4617369F-5E89-4B9D-9DC8-DA3F052C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Bolt·대파리: 차량 통합은 Stellantis, 서비스 통합은 Bolt, 잠재 ADS 공급은 Pony.ai 역할로 제시됐다. 2028년 실증 전 노선·승인 확정이 필요하다. [R4]</a:t>
            </a:r>
            <a:endParaRPr sz="1500"/>
          </a:p>
        </p:txBody>
      </p:sp>
      <p:sp>
        <p:nvSpPr>
          <p:cNvPr id="1276" name="Bullet marker 9-4">
            <a:extLst xmlns:a="http://schemas.openxmlformats.org/drawingml/2006/main">
              <a:ext uri="{FF2B5EF4-FFF2-40B4-BE49-F238E27FC236}">
                <a16:creationId xmlns:a16="http://schemas.microsoft.com/office/drawing/2014/main" id="{84E54330-DF18-4CF3-8FA1-6647DE94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00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500"/>
          </a:p>
        </p:txBody>
      </p:sp>
      <p:sp>
        <p:nvSpPr>
          <p:cNvPr id="1277" name="Bullet text 9-4">
            <a:extLst xmlns:a="http://schemas.openxmlformats.org/drawingml/2006/main">
              <a:ext uri="{FF2B5EF4-FFF2-40B4-BE49-F238E27FC236}">
                <a16:creationId xmlns:a16="http://schemas.microsoft.com/office/drawing/2014/main" id="{99B641AE-F16A-409C-8E46-222AC04F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0000"/>
            <a:ext cx="8229600" cy="5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250"/>
              </a:lnSpc>
              <a:buNone/>
            </a:pPr>
            <a:r>
              <a:rPr sz="150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Baidu RT6: 런던 시험은 안전운전자 동승으로 시작했다. 수십 대 확대·무인화는 목표이며 현재 차량 수와 무인 허가는 공개되지 않았다. [R1]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51636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0" name="Reference title 10">
            <a:extLst xmlns:a="http://schemas.openxmlformats.org/drawingml/2006/main">
              <a:ext uri="{FF2B5EF4-FFF2-40B4-BE49-F238E27FC236}">
                <a16:creationId xmlns:a16="http://schemas.microsoft.com/office/drawing/2014/main" id="{4C11DCC9-CD94-428F-8C8B-07AC444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01" name="Reference subtitle 10">
            <a:extLst xmlns:a="http://schemas.openxmlformats.org/drawingml/2006/main">
              <a:ext uri="{FF2B5EF4-FFF2-40B4-BE49-F238E27FC236}">
                <a16:creationId xmlns:a16="http://schemas.microsoft.com/office/drawing/2014/main" id="{8479726C-0A26-48F2-B593-7A45A04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1–4</a:t>
            </a:r>
            <a:endParaRPr sz="1500"/>
          </a:p>
        </p:txBody>
      </p:sp>
      <p:sp>
        <p:nvSpPr>
          <p:cNvPr id="1700" name="Reference marker 10-1">
            <a:extLst xmlns:a="http://schemas.openxmlformats.org/drawingml/2006/main">
              <a:ext uri="{FF2B5EF4-FFF2-40B4-BE49-F238E27FC236}">
                <a16:creationId xmlns:a16="http://schemas.microsoft.com/office/drawing/2014/main" id="{D34EA3AE-65BC-47AB-9A2F-D6C4DF5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1" name="Reference text 10-1">
            <a:extLst xmlns:a="http://schemas.openxmlformats.org/drawingml/2006/main">
              <a:ext uri="{FF2B5EF4-FFF2-40B4-BE49-F238E27FC236}">
                <a16:creationId xmlns:a16="http://schemas.microsoft.com/office/drawing/2014/main" id="{794B798D-75C7-4688-B42B-FAE466D2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[R1] Reuters, China’s Baidu tests robotaxi on London streets, 2026-10-23: https://www.reuters.com/business/finance/chinas-baidu-tests-robotaxi-london-streets-2026-10-23/</a:t>
            </a:r>
            <a:endParaRPr sz="1050"/>
          </a:p>
        </p:txBody>
      </p:sp>
      <p:sp>
        <p:nvSpPr>
          <p:cNvPr id="1702" name="Reference marker 10-2">
            <a:extLst xmlns:a="http://schemas.openxmlformats.org/drawingml/2006/main">
              <a:ext uri="{FF2B5EF4-FFF2-40B4-BE49-F238E27FC236}">
                <a16:creationId xmlns:a16="http://schemas.microsoft.com/office/drawing/2014/main" id="{EA1D634C-41A0-483E-BEC5-93135018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3" name="Reference text 10-2">
            <a:extLst xmlns:a="http://schemas.openxmlformats.org/drawingml/2006/main">
              <a:ext uri="{FF2B5EF4-FFF2-40B4-BE49-F238E27FC236}">
                <a16:creationId xmlns:a16="http://schemas.microsoft.com/office/drawing/2014/main" id="{86D59CF0-E8FA-4B05-9444-496E035C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[R2] NHTSA, NHTSA Proposes Vehicle Lighting Updates to Facilitate Automated Vehicles, 2026-10-23: https://www.nhtsa.gov/press-releases/vehicle-lighting-updates-automated-vehicles</a:t>
            </a:r>
            <a:endParaRPr sz="1050"/>
          </a:p>
        </p:txBody>
      </p:sp>
      <p:sp>
        <p:nvSpPr>
          <p:cNvPr id="1704" name="Reference marker 10-3">
            <a:extLst xmlns:a="http://schemas.openxmlformats.org/drawingml/2006/main">
              <a:ext uri="{FF2B5EF4-FFF2-40B4-BE49-F238E27FC236}">
                <a16:creationId xmlns:a16="http://schemas.microsoft.com/office/drawing/2014/main" id="{DC26F101-EB1F-42E8-9169-B2E6084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5" name="Reference text 10-3">
            <a:extLst xmlns:a="http://schemas.openxmlformats.org/drawingml/2006/main">
              <a:ext uri="{FF2B5EF4-FFF2-40B4-BE49-F238E27FC236}">
                <a16:creationId xmlns:a16="http://schemas.microsoft.com/office/drawing/2014/main" id="{49141882-3201-4FB6-8242-EFB3679A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[R3] NHTSA, FMVSS No. 108; Lamps, Reflective Devices, and Associated Equipment NPRM, 2026-10-22: https://www.nhtsa.gov/node/144326</a:t>
            </a:r>
            <a:endParaRPr sz="1050"/>
          </a:p>
        </p:txBody>
      </p:sp>
      <p:sp>
        <p:nvSpPr>
          <p:cNvPr id="1706" name="Reference marker 10-4">
            <a:extLst xmlns:a="http://schemas.openxmlformats.org/drawingml/2006/main">
              <a:ext uri="{FF2B5EF4-FFF2-40B4-BE49-F238E27FC236}">
                <a16:creationId xmlns:a16="http://schemas.microsoft.com/office/drawing/2014/main" id="{283D1262-5DCB-42A7-83EB-C75F53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07" name="Reference text 10-4">
            <a:extLst xmlns:a="http://schemas.openxmlformats.org/drawingml/2006/main">
              <a:ext uri="{FF2B5EF4-FFF2-40B4-BE49-F238E27FC236}">
                <a16:creationId xmlns:a16="http://schemas.microsoft.com/office/drawing/2014/main" id="{2F7D3F12-E698-491D-B9FF-A78F3368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[R4] Stellantis·Bolt, Greater Paris autonomous mobility experimentation from 2028, 2026-10-23: https://www.media.stellantis.com/uk-en/corporate/press/metropole-du-grand-paris-bolt-and-stellantis-together-aim-to-bring-autonomous-vehicles-by-experimentation-to-greater-paris-from-2028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569261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0" name="Reference title 11">
            <a:extLst xmlns:a="http://schemas.openxmlformats.org/drawingml/2006/main">
              <a:ext uri="{FF2B5EF4-FFF2-40B4-BE49-F238E27FC236}">
                <a16:creationId xmlns:a16="http://schemas.microsoft.com/office/drawing/2014/main" id="{AF33BD41-DEAA-40BB-B1F5-96BDA227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21" name="Reference subtitle 11">
            <a:extLst xmlns:a="http://schemas.openxmlformats.org/drawingml/2006/main">
              <a:ext uri="{FF2B5EF4-FFF2-40B4-BE49-F238E27FC236}">
                <a16:creationId xmlns:a16="http://schemas.microsoft.com/office/drawing/2014/main" id="{293D7ACB-D0D8-453A-9D3E-71E473D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5–8</a:t>
            </a:r>
            <a:endParaRPr sz="1500"/>
          </a:p>
        </p:txBody>
      </p:sp>
      <p:sp>
        <p:nvSpPr>
          <p:cNvPr id="1720" name="Reference marker 11-1">
            <a:extLst xmlns:a="http://schemas.openxmlformats.org/drawingml/2006/main">
              <a:ext uri="{FF2B5EF4-FFF2-40B4-BE49-F238E27FC236}">
                <a16:creationId xmlns:a16="http://schemas.microsoft.com/office/drawing/2014/main" id="{8E2329A7-1D15-405A-92B7-EB9FF20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1" name="Reference text 11-1">
            <a:extLst xmlns:a="http://schemas.openxmlformats.org/drawingml/2006/main">
              <a:ext uri="{FF2B5EF4-FFF2-40B4-BE49-F238E27FC236}">
                <a16:creationId xmlns:a16="http://schemas.microsoft.com/office/drawing/2014/main" id="{1C185E7C-614C-4A0D-B49E-270CD1A4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[R5] Wayve, Wayve, Stellantis, and NVIDIA Collaborate to Advance Safe and Responsible Autonomous Vehicle Deployment Across France, 2026-10-23: https://wayve.ai/press/wayve-stellantis-nvidia-collaborate-on-deployment-across-france/</a:t>
            </a:r>
            <a:endParaRPr sz="1050"/>
          </a:p>
        </p:txBody>
      </p:sp>
      <p:sp>
        <p:nvSpPr>
          <p:cNvPr id="1722" name="Reference marker 11-2">
            <a:extLst xmlns:a="http://schemas.openxmlformats.org/drawingml/2006/main">
              <a:ext uri="{FF2B5EF4-FFF2-40B4-BE49-F238E27FC236}">
                <a16:creationId xmlns:a16="http://schemas.microsoft.com/office/drawing/2014/main" id="{B70F9720-5EB1-4668-B658-DF7DD830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3" name="Reference text 11-2">
            <a:extLst xmlns:a="http://schemas.openxmlformats.org/drawingml/2006/main">
              <a:ext uri="{FF2B5EF4-FFF2-40B4-BE49-F238E27FC236}">
                <a16:creationId xmlns:a16="http://schemas.microsoft.com/office/drawing/2014/main" id="{F752552D-05A2-45D3-BFC3-5DB5E48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[R6] Pony.ai, inDrive and Pony.ai Announce Collaboration to Explore Autonomous Mobility in Kazakhstan Built on NVIDIA Hyperion, 2026-10-23: https://blog.pony.ai/indrive-and-pony-ai-announce-collaboration-to-explore-autonomous-mobility-in-kazakhstan-built-on-nvidia-hyperion/</a:t>
            </a:r>
            <a:endParaRPr sz="1050"/>
          </a:p>
        </p:txBody>
      </p:sp>
      <p:sp>
        <p:nvSpPr>
          <p:cNvPr id="1724" name="Reference marker 11-3">
            <a:extLst xmlns:a="http://schemas.openxmlformats.org/drawingml/2006/main">
              <a:ext uri="{FF2B5EF4-FFF2-40B4-BE49-F238E27FC236}">
                <a16:creationId xmlns:a16="http://schemas.microsoft.com/office/drawing/2014/main" id="{D0E21534-DDD5-4606-9FBB-708AF5EB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5" name="Reference text 11-3">
            <a:extLst xmlns:a="http://schemas.openxmlformats.org/drawingml/2006/main">
              <a:ext uri="{FF2B5EF4-FFF2-40B4-BE49-F238E27FC236}">
                <a16:creationId xmlns:a16="http://schemas.microsoft.com/office/drawing/2014/main" id="{15D8A9E8-0095-415D-9DC3-17B699B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[R7] Uber, Autonomous Articles, 2026-10-26 확인: https://www.uber.com/us/en/newsroom/autonomous/</a:t>
            </a:r>
            <a:endParaRPr sz="1050"/>
          </a:p>
        </p:txBody>
      </p:sp>
      <p:sp>
        <p:nvSpPr>
          <p:cNvPr id="1726" name="Reference marker 11-4">
            <a:extLst xmlns:a="http://schemas.openxmlformats.org/drawingml/2006/main">
              <a:ext uri="{FF2B5EF4-FFF2-40B4-BE49-F238E27FC236}">
                <a16:creationId xmlns:a16="http://schemas.microsoft.com/office/drawing/2014/main" id="{80609077-CFFD-4E5A-8E95-32985C9B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27" name="Reference text 11-4">
            <a:extLst xmlns:a="http://schemas.openxmlformats.org/drawingml/2006/main">
              <a:ext uri="{FF2B5EF4-FFF2-40B4-BE49-F238E27FC236}">
                <a16:creationId xmlns:a16="http://schemas.microsoft.com/office/drawing/2014/main" id="{DB88362F-7BE5-4DCA-A7EF-12D19FE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[R8] Avride, 공식 홈페이지, 2026-10-26 확인: https://www.avride.ai/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254370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" name="Reference title 12">
            <a:extLst xmlns:a="http://schemas.openxmlformats.org/drawingml/2006/main">
              <a:ext uri="{FF2B5EF4-FFF2-40B4-BE49-F238E27FC236}">
                <a16:creationId xmlns:a16="http://schemas.microsoft.com/office/drawing/2014/main" id="{8DDE6B02-F37B-49E4-B7E1-3FD5E5A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41" name="Reference subtitle 12">
            <a:extLst xmlns:a="http://schemas.openxmlformats.org/drawingml/2006/main">
              <a:ext uri="{FF2B5EF4-FFF2-40B4-BE49-F238E27FC236}">
                <a16:creationId xmlns:a16="http://schemas.microsoft.com/office/drawing/2014/main" id="{68469EC8-2088-45AF-9104-0649BF5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9–12</a:t>
            </a:r>
            <a:endParaRPr sz="1500"/>
          </a:p>
        </p:txBody>
      </p:sp>
      <p:sp>
        <p:nvSpPr>
          <p:cNvPr id="1740" name="Reference marker 12-1">
            <a:extLst xmlns:a="http://schemas.openxmlformats.org/drawingml/2006/main">
              <a:ext uri="{FF2B5EF4-FFF2-40B4-BE49-F238E27FC236}">
                <a16:creationId xmlns:a16="http://schemas.microsoft.com/office/drawing/2014/main" id="{1BD22C31-FF70-4246-B88C-2C09D87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1" name="Reference text 12-1">
            <a:extLst xmlns:a="http://schemas.openxmlformats.org/drawingml/2006/main">
              <a:ext uri="{FF2B5EF4-FFF2-40B4-BE49-F238E27FC236}">
                <a16:creationId xmlns:a16="http://schemas.microsoft.com/office/drawing/2014/main" id="{24564A60-E3D4-4483-BBFF-982BF322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[R9] Mobileye, News Releases, 2026-10-26 확인: https://ir.mobileye.com/news-events/news-releases</a:t>
            </a:r>
            <a:endParaRPr sz="1050"/>
          </a:p>
        </p:txBody>
      </p:sp>
      <p:sp>
        <p:nvSpPr>
          <p:cNvPr id="1742" name="Reference marker 12-2">
            <a:extLst xmlns:a="http://schemas.openxmlformats.org/drawingml/2006/main">
              <a:ext uri="{FF2B5EF4-FFF2-40B4-BE49-F238E27FC236}">
                <a16:creationId xmlns:a16="http://schemas.microsoft.com/office/drawing/2014/main" id="{BF70F848-5BB8-4ABB-998E-846BE0E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3" name="Reference text 12-2">
            <a:extLst xmlns:a="http://schemas.openxmlformats.org/drawingml/2006/main">
              <a:ext uri="{FF2B5EF4-FFF2-40B4-BE49-F238E27FC236}">
                <a16:creationId xmlns:a16="http://schemas.microsoft.com/office/drawing/2014/main" id="{11EB1FFE-6BC6-4224-844D-B4A84AF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[R10] 카카오모빌리티, 뉴스룸, 2026-10-26 확인: https://www.kakaomobility.com/newsroom/news</a:t>
            </a:r>
            <a:endParaRPr sz="1050"/>
          </a:p>
        </p:txBody>
      </p:sp>
      <p:sp>
        <p:nvSpPr>
          <p:cNvPr id="1744" name="Reference marker 12-3">
            <a:extLst xmlns:a="http://schemas.openxmlformats.org/drawingml/2006/main">
              <a:ext uri="{FF2B5EF4-FFF2-40B4-BE49-F238E27FC236}">
                <a16:creationId xmlns:a16="http://schemas.microsoft.com/office/drawing/2014/main" id="{43BADAE3-3257-4908-B89A-E76C5EC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5" name="Reference text 12-3">
            <a:extLst xmlns:a="http://schemas.openxmlformats.org/drawingml/2006/main">
              <a:ext uri="{FF2B5EF4-FFF2-40B4-BE49-F238E27FC236}">
                <a16:creationId xmlns:a16="http://schemas.microsoft.com/office/drawing/2014/main" id="{F1CCB076-48EB-4AE7-BCE5-2161D7D5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[R11] 쏘카, 공식 블로그, 2026-10-26 확인: https://www.socarcorp.kr/blog</a:t>
            </a:r>
            <a:endParaRPr sz="1050"/>
          </a:p>
        </p:txBody>
      </p:sp>
      <p:sp>
        <p:nvSpPr>
          <p:cNvPr id="1746" name="Reference marker 12-4">
            <a:extLst xmlns:a="http://schemas.openxmlformats.org/drawingml/2006/main">
              <a:ext uri="{FF2B5EF4-FFF2-40B4-BE49-F238E27FC236}">
                <a16:creationId xmlns:a16="http://schemas.microsoft.com/office/drawing/2014/main" id="{EE8D1A8F-B61F-4438-A6FF-C2545C9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47" name="Reference text 12-4">
            <a:extLst xmlns:a="http://schemas.openxmlformats.org/drawingml/2006/main">
              <a:ext uri="{FF2B5EF4-FFF2-40B4-BE49-F238E27FC236}">
                <a16:creationId xmlns:a16="http://schemas.microsoft.com/office/drawing/2014/main" id="{3618CD8F-28D9-4068-A11E-1A1D355E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[R12] May Mobility, Company News, 2026-10-26 확인: https://maymobility.com/posts/type/company-news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05506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0" name="Reference title 13">
            <a:extLst xmlns:a="http://schemas.openxmlformats.org/drawingml/2006/main">
              <a:ext uri="{FF2B5EF4-FFF2-40B4-BE49-F238E27FC236}">
                <a16:creationId xmlns:a16="http://schemas.microsoft.com/office/drawing/2014/main" id="{D8146F54-E77A-42EB-8E64-98D9DD0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61" name="Reference subtitle 13">
            <a:extLst xmlns:a="http://schemas.openxmlformats.org/drawingml/2006/main">
              <a:ext uri="{FF2B5EF4-FFF2-40B4-BE49-F238E27FC236}">
                <a16:creationId xmlns:a16="http://schemas.microsoft.com/office/drawing/2014/main" id="{DC3B56B1-FDC1-4C83-870A-BA6D076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13–16</a:t>
            </a:r>
            <a:endParaRPr sz="1500"/>
          </a:p>
        </p:txBody>
      </p:sp>
      <p:sp>
        <p:nvSpPr>
          <p:cNvPr id="1760" name="Reference marker 13-1">
            <a:extLst xmlns:a="http://schemas.openxmlformats.org/drawingml/2006/main">
              <a:ext uri="{FF2B5EF4-FFF2-40B4-BE49-F238E27FC236}">
                <a16:creationId xmlns:a16="http://schemas.microsoft.com/office/drawing/2014/main" id="{339BD6AB-C8AD-4139-A53E-9CE963B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1" name="Reference text 13-1">
            <a:extLst xmlns:a="http://schemas.openxmlformats.org/drawingml/2006/main">
              <a:ext uri="{FF2B5EF4-FFF2-40B4-BE49-F238E27FC236}">
                <a16:creationId xmlns:a16="http://schemas.microsoft.com/office/drawing/2014/main" id="{663E0D4A-EF50-4B36-8B79-08F18F7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[R13] California DMV, Autonomous Vehicle Testing Permit Holders, 2026-10-21 갱신·2026-10-26 확인: https://qr.dmv.ca.gov/portal/vehicle-industry-services/autonomous-vehicles/autonomous-vehicle-testing-permit-holders/</a:t>
            </a:r>
            <a:endParaRPr sz="1050"/>
          </a:p>
        </p:txBody>
      </p:sp>
      <p:sp>
        <p:nvSpPr>
          <p:cNvPr id="1762" name="Reference marker 13-2">
            <a:extLst xmlns:a="http://schemas.openxmlformats.org/drawingml/2006/main">
              <a:ext uri="{FF2B5EF4-FFF2-40B4-BE49-F238E27FC236}">
                <a16:creationId xmlns:a16="http://schemas.microsoft.com/office/drawing/2014/main" id="{90393B8D-AA0A-4E23-BE0A-AE6E287A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3" name="Reference text 13-2">
            <a:extLst xmlns:a="http://schemas.openxmlformats.org/drawingml/2006/main">
              <a:ext uri="{FF2B5EF4-FFF2-40B4-BE49-F238E27FC236}">
                <a16:creationId xmlns:a16="http://schemas.microsoft.com/office/drawing/2014/main" id="{5D5E008B-CBD1-4337-B488-C3BC711F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[R14] May Mobility·SEC, Business combination announcement, Exhibit 99.1, 2026-09-16: https://www.sec.gov/Archives/edgar/data/2111542/000121390026100367/ea030470201ex99-1.htm</a:t>
            </a:r>
            <a:endParaRPr sz="1050"/>
          </a:p>
        </p:txBody>
      </p:sp>
      <p:sp>
        <p:nvSpPr>
          <p:cNvPr id="1764" name="Reference marker 13-3">
            <a:extLst xmlns:a="http://schemas.openxmlformats.org/drawingml/2006/main">
              <a:ext uri="{FF2B5EF4-FFF2-40B4-BE49-F238E27FC236}">
                <a16:creationId xmlns:a16="http://schemas.microsoft.com/office/drawing/2014/main" id="{5F786F5D-D74B-410B-9084-F5CA33F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38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5" name="Reference text 13-3">
            <a:extLst xmlns:a="http://schemas.openxmlformats.org/drawingml/2006/main">
              <a:ext uri="{FF2B5EF4-FFF2-40B4-BE49-F238E27FC236}">
                <a16:creationId xmlns:a16="http://schemas.microsoft.com/office/drawing/2014/main" id="{F29A1040-9A01-40B6-B932-4140201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38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[R15] NTT Mobility, 나고야 자율주행·온디맨드 실증 개시, 2026-08-12: https://www.ntt-mobility.com/news/20260812/newsrelease-260812/</a:t>
            </a:r>
            <a:endParaRPr sz="1050"/>
          </a:p>
        </p:txBody>
      </p:sp>
      <p:sp>
        <p:nvSpPr>
          <p:cNvPr id="1766" name="Reference marker 13-4">
            <a:extLst xmlns:a="http://schemas.openxmlformats.org/drawingml/2006/main">
              <a:ext uri="{FF2B5EF4-FFF2-40B4-BE49-F238E27FC236}">
                <a16:creationId xmlns:a16="http://schemas.microsoft.com/office/drawing/2014/main" id="{E1D678A0-3F74-4C48-821C-AC8D1FF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294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67" name="Reference text 13-4">
            <a:extLst xmlns:a="http://schemas.openxmlformats.org/drawingml/2006/main">
              <a:ext uri="{FF2B5EF4-FFF2-40B4-BE49-F238E27FC236}">
                <a16:creationId xmlns:a16="http://schemas.microsoft.com/office/drawing/2014/main" id="{3508F99E-C4EB-4FBC-AC8C-495852A0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294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[R16] May Mobility, First Responder Interaction Protocol: Atlanta, 게시일 미표기·2026-10-26 확인: https://maymobility.com/first-responders/frip-atlanta-georgia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9231294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0" name="Reference title 14">
            <a:extLst xmlns:a="http://schemas.openxmlformats.org/drawingml/2006/main">
              <a:ext uri="{FF2B5EF4-FFF2-40B4-BE49-F238E27FC236}">
                <a16:creationId xmlns:a16="http://schemas.microsoft.com/office/drawing/2014/main" id="{7B9F562B-4F0D-43A4-8164-A3746454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" y="285750"/>
            <a:ext cx="180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250" b="0">
                <a:solidFill>
                  <a:srgbClr val="102B4C"/>
                </a:solidFill>
                <a:latin typeface="Noto Sans KR"/>
                <a:ea typeface="Noto Sans KR"/>
                <a:cs typeface="Noto Sans KR"/>
              </a:rPr>
              <a:t>Reference</a:t>
            </a:r>
            <a:endParaRPr sz="2250"/>
          </a:p>
        </p:txBody>
      </p:sp>
      <p:sp>
        <p:nvSpPr>
          <p:cNvPr id="1681" name="Reference subtitle 14">
            <a:extLst xmlns:a="http://schemas.openxmlformats.org/drawingml/2006/main">
              <a:ext uri="{FF2B5EF4-FFF2-40B4-BE49-F238E27FC236}">
                <a16:creationId xmlns:a16="http://schemas.microsoft.com/office/drawing/2014/main" id="{4A2C87AE-1D02-4EF6-B463-85B7F639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3913"/>
            <a:ext cx="150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0">
                <a:solidFill>
                  <a:srgbClr val="376583"/>
                </a:solidFill>
                <a:latin typeface="Noto Sans KR"/>
                <a:ea typeface="Noto Sans KR"/>
                <a:cs typeface="Noto Sans KR"/>
              </a:rPr>
              <a:t>출처 17–20</a:t>
            </a:r>
            <a:endParaRPr sz="1500"/>
          </a:p>
        </p:txBody>
      </p:sp>
      <p:sp>
        <p:nvSpPr>
          <p:cNvPr id="1780" name="Reference marker 14-1">
            <a:extLst xmlns:a="http://schemas.openxmlformats.org/drawingml/2006/main">
              <a:ext uri="{FF2B5EF4-FFF2-40B4-BE49-F238E27FC236}">
                <a16:creationId xmlns:a16="http://schemas.microsoft.com/office/drawing/2014/main" id="{D2867F3B-1B2A-464E-9547-26E8028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26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1" name="Reference text 14-1">
            <a:extLst xmlns:a="http://schemas.openxmlformats.org/drawingml/2006/main">
              <a:ext uri="{FF2B5EF4-FFF2-40B4-BE49-F238E27FC236}">
                <a16:creationId xmlns:a16="http://schemas.microsoft.com/office/drawing/2014/main" id="{94805AF6-5F5F-4B51-9F75-3873B2FF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26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[R17] May Mobility, May Mobility launches New AV Architecture, 2026-05-20: https://maymobility.com/posts/may-mobility-launches-new-av-architecture/</a:t>
            </a:r>
            <a:endParaRPr sz="1050"/>
          </a:p>
        </p:txBody>
      </p:sp>
      <p:sp>
        <p:nvSpPr>
          <p:cNvPr id="1782" name="Reference marker 14-2">
            <a:extLst xmlns:a="http://schemas.openxmlformats.org/drawingml/2006/main">
              <a:ext uri="{FF2B5EF4-FFF2-40B4-BE49-F238E27FC236}">
                <a16:creationId xmlns:a16="http://schemas.microsoft.com/office/drawing/2014/main" id="{833A2EE4-6BBB-425D-BBA5-8890A1DA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6" y="1822063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  <a:endParaRPr sz="1050"/>
          </a:p>
        </p:txBody>
      </p:sp>
      <p:sp>
        <p:nvSpPr>
          <p:cNvPr id="1783" name="Reference text 14-2">
            <a:extLst xmlns:a="http://schemas.openxmlformats.org/drawingml/2006/main">
              <a:ext uri="{FF2B5EF4-FFF2-40B4-BE49-F238E27FC236}">
                <a16:creationId xmlns:a16="http://schemas.microsoft.com/office/drawing/2014/main" id="{587D0E97-91E2-4668-AFA9-C73FCA9F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86" y="1822063"/>
            <a:ext cx="8304014" cy="43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22"/>
              </a:lnSpc>
              <a:buNone/>
            </a:pPr>
            <a:r>
              <a:rPr sz="1050" b="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[R18] May Mobility·SEC, Investor presentation, Exhibit 99.2, 2026-09-16: https://www.sec.gov/Archives/edgar/data/2111542/000121390026100367/ea030470201ex99-2.htm</a:t>
            </a:r>
            <a:endParaRPr sz="1050"/>
          </a:p>
        </p:txBody>
      </p:sp>
      <p:sp>
        <p:nvSpPr>
          <p:cNvPr id="1784" name="Reference marker 14-3">
            <a:extLst xmlns:a="http://schemas.openxmlformats.org/drawingml/2006/main">
              <a:ext uri="{FF2B5EF4-FFF2-40B4-BE49-F238E27FC236}">
                <a16:creationId xmlns:a16="http://schemas.microsoft.com/office/drawing/2014/main" id="{236A52D4-6BEC-4855-AC03-DBCAA55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382012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5" name="Reference text 14-3">
            <a:extLst xmlns:a="http://schemas.openxmlformats.org/drawingml/2006/main">
              <a:ext uri="{FF2B5EF4-FFF2-40B4-BE49-F238E27FC236}">
                <a16:creationId xmlns:a16="http://schemas.microsoft.com/office/drawing/2014/main" id="{51E30782-B8EF-4DBA-B674-643FDD78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382012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[R19] May Mobility, May Mobility and NTT Mobility to Launch First Public Rides on Autonomous e-Palette, 2026-09-03: https://maymobility.com/posts/may-mobility-and-ntt-mobility-to-launch-first-public-rides-on-autonomous-e-palette/</a:t>
            </a:r>
          </a:p>
        </p:txBody>
      </p:sp>
      <p:sp>
        <p:nvSpPr>
          <p:cNvPr id="1786" name="Reference marker 14-4">
            <a:extLst xmlns:a="http://schemas.openxmlformats.org/drawingml/2006/main">
              <a:ext uri="{FF2B5EF4-FFF2-40B4-BE49-F238E27FC236}">
                <a16:creationId xmlns:a16="http://schemas.microsoft.com/office/drawing/2014/main" id="{45388335-3957-4941-8BF5-4ED05E3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20" y="2941987"/>
            <a:ext cx="27432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▪ </a:t>
            </a:r>
          </a:p>
        </p:txBody>
      </p:sp>
      <p:sp>
        <p:nvSpPr>
          <p:cNvPr id="1787" name="Reference text 14-4">
            <a:extLst xmlns:a="http://schemas.openxmlformats.org/drawingml/2006/main">
              <a:ext uri="{FF2B5EF4-FFF2-40B4-BE49-F238E27FC236}">
                <a16:creationId xmlns:a16="http://schemas.microsoft.com/office/drawing/2014/main" id="{79206FBD-278B-4686-9548-8677086E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10" y="2941987"/>
            <a:ext cx="8303990" cy="4299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>
            <a:defPPr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defPPr>
            <a:lvl1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1pPr>
            <a:lvl2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2pPr>
            <a:lvl3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3pPr>
            <a:lvl4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4pPr>
            <a:lvl5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5pPr>
            <a:lvl6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6pPr>
            <a:lvl7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7pPr>
            <a:lvl8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8pPr>
            <a:lvl9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lvl9pPr>
          </a:lstStyle>
          <a:p xmlns:a="http://schemas.openxmlformats.org/drawingml/2006/main">
            <a:pPr>
              <a:buNone/>
              <a:def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defRPr>
            </a:pPr>
            <a:r>
              <a:rPr sz="1050">
                <a:solidFill>
                  <a:srgbClr val="203047"/>
                </a:solidFill>
                <a:latin typeface="Noto Sans KR"/>
                <a:ea typeface="Noto Sans KR"/>
                <a:cs typeface="Noto Sans KR"/>
              </a:rPr>
              <a:t>[R20] Bolt, Press Releases, 2026-10-26 확인: https://bolt.eu/en/blog/category/press-releases/</a:t>
            </a:r>
          </a:p>
        </p:txBody>
      </p:sp>
    </p:spTree>
    <p:extLst>
      <p:ext uri="{BB962C8B-B14F-4D97-AF65-F5344CB8AC3E}">
        <p14:creationId xmlns:p14="http://schemas.microsoft.com/office/powerpoint/2010/main" val="7955727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2026-10-25T22:36:42.7530000Z</dcterms:created>
  <dcterms:modified xsi:type="dcterms:W3CDTF">2026-10-25T22:36:42.7530000Z</dcterms:modified>
</coreProperties>
</file>